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10691813" cy="7812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CA1"/>
    <a:srgbClr val="B1CBE9"/>
    <a:srgbClr val="D3CBE3"/>
    <a:srgbClr val="CBE3EF"/>
    <a:srgbClr val="EAE9E7"/>
    <a:srgbClr val="E8E8E8"/>
    <a:srgbClr val="EAEAE8"/>
    <a:srgbClr val="DBE9D1"/>
    <a:srgbClr val="BCD5B1"/>
    <a:srgbClr val="ECE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2" autoAdjust="0"/>
    <p:restoredTop sz="94710"/>
  </p:normalViewPr>
  <p:slideViewPr>
    <p:cSldViewPr snapToGrid="0">
      <p:cViewPr>
        <p:scale>
          <a:sx n="137" d="100"/>
          <a:sy n="137" d="100"/>
        </p:scale>
        <p:origin x="1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CBFBF-6831-45E4-974C-383B3003BCE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143000"/>
            <a:ext cx="4222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C75C5-066B-40EA-B418-5C6EBFA098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24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17625" y="1143000"/>
            <a:ext cx="422275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C75C5-066B-40EA-B418-5C6EBFA0988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580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78507"/>
            <a:ext cx="9088041" cy="2719764"/>
          </a:xfrm>
        </p:spPr>
        <p:txBody>
          <a:bodyPr anchor="b"/>
          <a:lstStyle>
            <a:lvl1pPr algn="ctr">
              <a:defRPr sz="6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4103155"/>
            <a:ext cx="8018860" cy="1886112"/>
          </a:xfrm>
        </p:spPr>
        <p:txBody>
          <a:bodyPr/>
          <a:lstStyle>
            <a:lvl1pPr marL="0" indent="0" algn="ctr">
              <a:buNone/>
              <a:defRPr sz="2734"/>
            </a:lvl1pPr>
            <a:lvl2pPr marL="520797" indent="0" algn="ctr">
              <a:buNone/>
              <a:defRPr sz="2278"/>
            </a:lvl2pPr>
            <a:lvl3pPr marL="1041593" indent="0" algn="ctr">
              <a:buNone/>
              <a:defRPr sz="2050"/>
            </a:lvl3pPr>
            <a:lvl4pPr marL="1562390" indent="0" algn="ctr">
              <a:buNone/>
              <a:defRPr sz="1823"/>
            </a:lvl4pPr>
            <a:lvl5pPr marL="2083186" indent="0" algn="ctr">
              <a:buNone/>
              <a:defRPr sz="1823"/>
            </a:lvl5pPr>
            <a:lvl6pPr marL="2603983" indent="0" algn="ctr">
              <a:buNone/>
              <a:defRPr sz="1823"/>
            </a:lvl6pPr>
            <a:lvl7pPr marL="3124779" indent="0" algn="ctr">
              <a:buNone/>
              <a:defRPr sz="1823"/>
            </a:lvl7pPr>
            <a:lvl8pPr marL="3645576" indent="0" algn="ctr">
              <a:buNone/>
              <a:defRPr sz="1823"/>
            </a:lvl8pPr>
            <a:lvl9pPr marL="4166372" indent="0" algn="ctr">
              <a:buNone/>
              <a:defRPr sz="182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35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6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947599"/>
            <a:ext cx="9221689" cy="3249611"/>
          </a:xfrm>
        </p:spPr>
        <p:txBody>
          <a:bodyPr anchor="b"/>
          <a:lstStyle>
            <a:lvl1pPr>
              <a:defRPr sz="6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227953"/>
            <a:ext cx="9221689" cy="1708894"/>
          </a:xfrm>
        </p:spPr>
        <p:txBody>
          <a:bodyPr/>
          <a:lstStyle>
            <a:lvl1pPr marL="0" indent="0">
              <a:buNone/>
              <a:defRPr sz="2734">
                <a:solidFill>
                  <a:schemeClr val="tx1">
                    <a:tint val="82000"/>
                  </a:schemeClr>
                </a:solidFill>
              </a:defRPr>
            </a:lvl1pPr>
            <a:lvl2pPr marL="520797" indent="0">
              <a:buNone/>
              <a:defRPr sz="2278">
                <a:solidFill>
                  <a:schemeClr val="tx1">
                    <a:tint val="82000"/>
                  </a:schemeClr>
                </a:solidFill>
              </a:defRPr>
            </a:lvl2pPr>
            <a:lvl3pPr marL="1041593" indent="0">
              <a:buNone/>
              <a:defRPr sz="2050">
                <a:solidFill>
                  <a:schemeClr val="tx1">
                    <a:tint val="82000"/>
                  </a:schemeClr>
                </a:solidFill>
              </a:defRPr>
            </a:lvl3pPr>
            <a:lvl4pPr marL="1562390" indent="0">
              <a:buNone/>
              <a:defRPr sz="1823">
                <a:solidFill>
                  <a:schemeClr val="tx1">
                    <a:tint val="82000"/>
                  </a:schemeClr>
                </a:solidFill>
              </a:defRPr>
            </a:lvl4pPr>
            <a:lvl5pPr marL="2083186" indent="0">
              <a:buNone/>
              <a:defRPr sz="1823">
                <a:solidFill>
                  <a:schemeClr val="tx1">
                    <a:tint val="82000"/>
                  </a:schemeClr>
                </a:solidFill>
              </a:defRPr>
            </a:lvl5pPr>
            <a:lvl6pPr marL="2603983" indent="0">
              <a:buNone/>
              <a:defRPr sz="1823">
                <a:solidFill>
                  <a:schemeClr val="tx1">
                    <a:tint val="82000"/>
                  </a:schemeClr>
                </a:solidFill>
              </a:defRPr>
            </a:lvl6pPr>
            <a:lvl7pPr marL="3124779" indent="0">
              <a:buNone/>
              <a:defRPr sz="1823">
                <a:solidFill>
                  <a:schemeClr val="tx1">
                    <a:tint val="82000"/>
                  </a:schemeClr>
                </a:solidFill>
              </a:defRPr>
            </a:lvl7pPr>
            <a:lvl8pPr marL="3645576" indent="0">
              <a:buNone/>
              <a:defRPr sz="1823">
                <a:solidFill>
                  <a:schemeClr val="tx1">
                    <a:tint val="82000"/>
                  </a:schemeClr>
                </a:solidFill>
              </a:defRPr>
            </a:lvl8pPr>
            <a:lvl9pPr marL="4166372" indent="0">
              <a:buNone/>
              <a:defRPr sz="18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46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79607"/>
            <a:ext cx="4544021" cy="49566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79607"/>
            <a:ext cx="4544021" cy="49566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02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15923"/>
            <a:ext cx="9221689" cy="15099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915047"/>
            <a:ext cx="4523137" cy="938535"/>
          </a:xfrm>
        </p:spPr>
        <p:txBody>
          <a:bodyPr anchor="b"/>
          <a:lstStyle>
            <a:lvl1pPr marL="0" indent="0">
              <a:buNone/>
              <a:defRPr sz="2734" b="1"/>
            </a:lvl1pPr>
            <a:lvl2pPr marL="520797" indent="0">
              <a:buNone/>
              <a:defRPr sz="2278" b="1"/>
            </a:lvl2pPr>
            <a:lvl3pPr marL="1041593" indent="0">
              <a:buNone/>
              <a:defRPr sz="2050" b="1"/>
            </a:lvl3pPr>
            <a:lvl4pPr marL="1562390" indent="0">
              <a:buNone/>
              <a:defRPr sz="1823" b="1"/>
            </a:lvl4pPr>
            <a:lvl5pPr marL="2083186" indent="0">
              <a:buNone/>
              <a:defRPr sz="1823" b="1"/>
            </a:lvl5pPr>
            <a:lvl6pPr marL="2603983" indent="0">
              <a:buNone/>
              <a:defRPr sz="1823" b="1"/>
            </a:lvl6pPr>
            <a:lvl7pPr marL="3124779" indent="0">
              <a:buNone/>
              <a:defRPr sz="1823" b="1"/>
            </a:lvl7pPr>
            <a:lvl8pPr marL="3645576" indent="0">
              <a:buNone/>
              <a:defRPr sz="1823" b="1"/>
            </a:lvl8pPr>
            <a:lvl9pPr marL="4166372" indent="0">
              <a:buNone/>
              <a:defRPr sz="18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853582"/>
            <a:ext cx="4523137" cy="41971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915047"/>
            <a:ext cx="4545413" cy="938535"/>
          </a:xfrm>
        </p:spPr>
        <p:txBody>
          <a:bodyPr anchor="b"/>
          <a:lstStyle>
            <a:lvl1pPr marL="0" indent="0">
              <a:buNone/>
              <a:defRPr sz="2734" b="1"/>
            </a:lvl1pPr>
            <a:lvl2pPr marL="520797" indent="0">
              <a:buNone/>
              <a:defRPr sz="2278" b="1"/>
            </a:lvl2pPr>
            <a:lvl3pPr marL="1041593" indent="0">
              <a:buNone/>
              <a:defRPr sz="2050" b="1"/>
            </a:lvl3pPr>
            <a:lvl4pPr marL="1562390" indent="0">
              <a:buNone/>
              <a:defRPr sz="1823" b="1"/>
            </a:lvl4pPr>
            <a:lvl5pPr marL="2083186" indent="0">
              <a:buNone/>
              <a:defRPr sz="1823" b="1"/>
            </a:lvl5pPr>
            <a:lvl6pPr marL="2603983" indent="0">
              <a:buNone/>
              <a:defRPr sz="1823" b="1"/>
            </a:lvl6pPr>
            <a:lvl7pPr marL="3124779" indent="0">
              <a:buNone/>
              <a:defRPr sz="1823" b="1"/>
            </a:lvl7pPr>
            <a:lvl8pPr marL="3645576" indent="0">
              <a:buNone/>
              <a:defRPr sz="1823" b="1"/>
            </a:lvl8pPr>
            <a:lvl9pPr marL="4166372" indent="0">
              <a:buNone/>
              <a:defRPr sz="18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853582"/>
            <a:ext cx="4545413" cy="41971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8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4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03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20806"/>
            <a:ext cx="3448388" cy="1822821"/>
          </a:xfrm>
        </p:spPr>
        <p:txBody>
          <a:bodyPr anchor="b"/>
          <a:lstStyle>
            <a:lvl1pPr>
              <a:defRPr sz="36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124798"/>
            <a:ext cx="5412730" cy="5551646"/>
          </a:xfrm>
        </p:spPr>
        <p:txBody>
          <a:bodyPr/>
          <a:lstStyle>
            <a:lvl1pPr>
              <a:defRPr sz="3645"/>
            </a:lvl1pPr>
            <a:lvl2pPr>
              <a:defRPr sz="3189"/>
            </a:lvl2pPr>
            <a:lvl3pPr>
              <a:defRPr sz="2734"/>
            </a:lvl3pPr>
            <a:lvl4pPr>
              <a:defRPr sz="2278"/>
            </a:lvl4pPr>
            <a:lvl5pPr>
              <a:defRPr sz="2278"/>
            </a:lvl5pPr>
            <a:lvl6pPr>
              <a:defRPr sz="2278"/>
            </a:lvl6pPr>
            <a:lvl7pPr>
              <a:defRPr sz="2278"/>
            </a:lvl7pPr>
            <a:lvl8pPr>
              <a:defRPr sz="2278"/>
            </a:lvl8pPr>
            <a:lvl9pPr>
              <a:defRPr sz="227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343626"/>
            <a:ext cx="3448388" cy="4341858"/>
          </a:xfrm>
        </p:spPr>
        <p:txBody>
          <a:bodyPr/>
          <a:lstStyle>
            <a:lvl1pPr marL="0" indent="0">
              <a:buNone/>
              <a:defRPr sz="1823"/>
            </a:lvl1pPr>
            <a:lvl2pPr marL="520797" indent="0">
              <a:buNone/>
              <a:defRPr sz="1595"/>
            </a:lvl2pPr>
            <a:lvl3pPr marL="1041593" indent="0">
              <a:buNone/>
              <a:defRPr sz="1367"/>
            </a:lvl3pPr>
            <a:lvl4pPr marL="1562390" indent="0">
              <a:buNone/>
              <a:defRPr sz="1139"/>
            </a:lvl4pPr>
            <a:lvl5pPr marL="2083186" indent="0">
              <a:buNone/>
              <a:defRPr sz="1139"/>
            </a:lvl5pPr>
            <a:lvl6pPr marL="2603983" indent="0">
              <a:buNone/>
              <a:defRPr sz="1139"/>
            </a:lvl6pPr>
            <a:lvl7pPr marL="3124779" indent="0">
              <a:buNone/>
              <a:defRPr sz="1139"/>
            </a:lvl7pPr>
            <a:lvl8pPr marL="3645576" indent="0">
              <a:buNone/>
              <a:defRPr sz="1139"/>
            </a:lvl8pPr>
            <a:lvl9pPr marL="4166372" indent="0">
              <a:buNone/>
              <a:defRPr sz="113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41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20806"/>
            <a:ext cx="3448388" cy="1822821"/>
          </a:xfrm>
        </p:spPr>
        <p:txBody>
          <a:bodyPr anchor="b"/>
          <a:lstStyle>
            <a:lvl1pPr>
              <a:defRPr sz="36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124798"/>
            <a:ext cx="5412730" cy="5551646"/>
          </a:xfrm>
        </p:spPr>
        <p:txBody>
          <a:bodyPr anchor="t"/>
          <a:lstStyle>
            <a:lvl1pPr marL="0" indent="0">
              <a:buNone/>
              <a:defRPr sz="3645"/>
            </a:lvl1pPr>
            <a:lvl2pPr marL="520797" indent="0">
              <a:buNone/>
              <a:defRPr sz="3189"/>
            </a:lvl2pPr>
            <a:lvl3pPr marL="1041593" indent="0">
              <a:buNone/>
              <a:defRPr sz="2734"/>
            </a:lvl3pPr>
            <a:lvl4pPr marL="1562390" indent="0">
              <a:buNone/>
              <a:defRPr sz="2278"/>
            </a:lvl4pPr>
            <a:lvl5pPr marL="2083186" indent="0">
              <a:buNone/>
              <a:defRPr sz="2278"/>
            </a:lvl5pPr>
            <a:lvl6pPr marL="2603983" indent="0">
              <a:buNone/>
              <a:defRPr sz="2278"/>
            </a:lvl6pPr>
            <a:lvl7pPr marL="3124779" indent="0">
              <a:buNone/>
              <a:defRPr sz="2278"/>
            </a:lvl7pPr>
            <a:lvl8pPr marL="3645576" indent="0">
              <a:buNone/>
              <a:defRPr sz="2278"/>
            </a:lvl8pPr>
            <a:lvl9pPr marL="4166372" indent="0">
              <a:buNone/>
              <a:defRPr sz="227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343626"/>
            <a:ext cx="3448388" cy="4341858"/>
          </a:xfrm>
        </p:spPr>
        <p:txBody>
          <a:bodyPr/>
          <a:lstStyle>
            <a:lvl1pPr marL="0" indent="0">
              <a:buNone/>
              <a:defRPr sz="1823"/>
            </a:lvl1pPr>
            <a:lvl2pPr marL="520797" indent="0">
              <a:buNone/>
              <a:defRPr sz="1595"/>
            </a:lvl2pPr>
            <a:lvl3pPr marL="1041593" indent="0">
              <a:buNone/>
              <a:defRPr sz="1367"/>
            </a:lvl3pPr>
            <a:lvl4pPr marL="1562390" indent="0">
              <a:buNone/>
              <a:defRPr sz="1139"/>
            </a:lvl4pPr>
            <a:lvl5pPr marL="2083186" indent="0">
              <a:buNone/>
              <a:defRPr sz="1139"/>
            </a:lvl5pPr>
            <a:lvl6pPr marL="2603983" indent="0">
              <a:buNone/>
              <a:defRPr sz="1139"/>
            </a:lvl6pPr>
            <a:lvl7pPr marL="3124779" indent="0">
              <a:buNone/>
              <a:defRPr sz="1139"/>
            </a:lvl7pPr>
            <a:lvl8pPr marL="3645576" indent="0">
              <a:buNone/>
              <a:defRPr sz="1139"/>
            </a:lvl8pPr>
            <a:lvl9pPr marL="4166372" indent="0">
              <a:buNone/>
              <a:defRPr sz="113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80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16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15922"/>
            <a:ext cx="2305422" cy="662038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15922"/>
            <a:ext cx="6782619" cy="662038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84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15923"/>
            <a:ext cx="9221689" cy="1509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79607"/>
            <a:ext cx="9221689" cy="4956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240650"/>
            <a:ext cx="2405658" cy="415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134FD-B258-4724-98F3-8C66A0C7767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240650"/>
            <a:ext cx="3608487" cy="415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240650"/>
            <a:ext cx="2405658" cy="415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6A741-58B3-4F00-9CE5-4E0C52803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23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41593" rtl="0" eaLnBrk="1" latinLnBrk="0" hangingPunct="1">
        <a:lnSpc>
          <a:spcPct val="90000"/>
        </a:lnSpc>
        <a:spcBef>
          <a:spcPct val="0"/>
        </a:spcBef>
        <a:buNone/>
        <a:defRPr sz="50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398" indent="-260398" algn="l" defTabSz="1041593" rtl="0" eaLnBrk="1" latinLnBrk="0" hangingPunct="1">
        <a:lnSpc>
          <a:spcPct val="90000"/>
        </a:lnSpc>
        <a:spcBef>
          <a:spcPts val="1139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781195" indent="-260398" algn="l" defTabSz="1041593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2pPr>
      <a:lvl3pPr marL="1301991" indent="-260398" algn="l" defTabSz="1041593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3pPr>
      <a:lvl4pPr marL="1822788" indent="-260398" algn="l" defTabSz="1041593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0" kern="1200">
          <a:solidFill>
            <a:schemeClr val="tx1"/>
          </a:solidFill>
          <a:latin typeface="+mn-lt"/>
          <a:ea typeface="+mn-ea"/>
          <a:cs typeface="+mn-cs"/>
        </a:defRPr>
      </a:lvl4pPr>
      <a:lvl5pPr marL="2343584" indent="-260398" algn="l" defTabSz="1041593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0" kern="1200">
          <a:solidFill>
            <a:schemeClr val="tx1"/>
          </a:solidFill>
          <a:latin typeface="+mn-lt"/>
          <a:ea typeface="+mn-ea"/>
          <a:cs typeface="+mn-cs"/>
        </a:defRPr>
      </a:lvl5pPr>
      <a:lvl6pPr marL="2864381" indent="-260398" algn="l" defTabSz="1041593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0" kern="1200">
          <a:solidFill>
            <a:schemeClr val="tx1"/>
          </a:solidFill>
          <a:latin typeface="+mn-lt"/>
          <a:ea typeface="+mn-ea"/>
          <a:cs typeface="+mn-cs"/>
        </a:defRPr>
      </a:lvl6pPr>
      <a:lvl7pPr marL="3385177" indent="-260398" algn="l" defTabSz="1041593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0" kern="1200">
          <a:solidFill>
            <a:schemeClr val="tx1"/>
          </a:solidFill>
          <a:latin typeface="+mn-lt"/>
          <a:ea typeface="+mn-ea"/>
          <a:cs typeface="+mn-cs"/>
        </a:defRPr>
      </a:lvl7pPr>
      <a:lvl8pPr marL="3905974" indent="-260398" algn="l" defTabSz="1041593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0" kern="1200">
          <a:solidFill>
            <a:schemeClr val="tx1"/>
          </a:solidFill>
          <a:latin typeface="+mn-lt"/>
          <a:ea typeface="+mn-ea"/>
          <a:cs typeface="+mn-cs"/>
        </a:defRPr>
      </a:lvl8pPr>
      <a:lvl9pPr marL="4426770" indent="-260398" algn="l" defTabSz="1041593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1593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1pPr>
      <a:lvl2pPr marL="520797" algn="l" defTabSz="1041593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2pPr>
      <a:lvl3pPr marL="1041593" algn="l" defTabSz="1041593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3pPr>
      <a:lvl4pPr marL="1562390" algn="l" defTabSz="1041593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4pPr>
      <a:lvl5pPr marL="2083186" algn="l" defTabSz="1041593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5pPr>
      <a:lvl6pPr marL="2603983" algn="l" defTabSz="1041593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6pPr>
      <a:lvl7pPr marL="3124779" algn="l" defTabSz="1041593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7pPr>
      <a:lvl8pPr marL="3645576" algn="l" defTabSz="1041593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8pPr>
      <a:lvl9pPr marL="4166372" algn="l" defTabSz="1041593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899127-6069-2FC1-F545-9F8AFEB976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8569" y="160240"/>
            <a:ext cx="10239037" cy="2666779"/>
          </a:xfrm>
          <a:prstGeom prst="rect">
            <a:avLst/>
          </a:prstGeom>
          <a:gradFill flip="none" rotWithShape="1">
            <a:gsLst>
              <a:gs pos="0">
                <a:srgbClr val="F3CCA1">
                  <a:tint val="66000"/>
                  <a:satMod val="160000"/>
                </a:srgbClr>
              </a:gs>
              <a:gs pos="50000">
                <a:srgbClr val="F3CCA1">
                  <a:tint val="44500"/>
                  <a:satMod val="160000"/>
                </a:srgbClr>
              </a:gs>
              <a:gs pos="100000">
                <a:srgbClr val="F3CCA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2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27060D-5246-3582-84C5-CEE09D4D5BE0}"/>
              </a:ext>
            </a:extLst>
          </p:cNvPr>
          <p:cNvSpPr/>
          <p:nvPr/>
        </p:nvSpPr>
        <p:spPr>
          <a:xfrm>
            <a:off x="1760438" y="575202"/>
            <a:ext cx="4469642" cy="2199166"/>
          </a:xfrm>
          <a:prstGeom prst="rect">
            <a:avLst/>
          </a:prstGeom>
          <a:solidFill>
            <a:srgbClr val="F3CCA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2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0F8BD5B-2ED9-3CFC-8A53-8AD77C5E11AD}"/>
              </a:ext>
            </a:extLst>
          </p:cNvPr>
          <p:cNvSpPr/>
          <p:nvPr/>
        </p:nvSpPr>
        <p:spPr>
          <a:xfrm>
            <a:off x="6354387" y="567235"/>
            <a:ext cx="4014823" cy="2196941"/>
          </a:xfrm>
          <a:prstGeom prst="rect">
            <a:avLst/>
          </a:prstGeom>
          <a:solidFill>
            <a:srgbClr val="F3CCA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2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FFF533-8C15-CB1A-4DB9-0CCA302DAA0F}"/>
              </a:ext>
            </a:extLst>
          </p:cNvPr>
          <p:cNvSpPr/>
          <p:nvPr/>
        </p:nvSpPr>
        <p:spPr>
          <a:xfrm>
            <a:off x="6501377" y="610530"/>
            <a:ext cx="1581022" cy="2082661"/>
          </a:xfrm>
          <a:prstGeom prst="rect">
            <a:avLst/>
          </a:prstGeom>
          <a:solidFill>
            <a:srgbClr val="F3CCA1"/>
          </a:solidFill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2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41F079-27FE-0665-ED8D-5102FF186656}"/>
              </a:ext>
            </a:extLst>
          </p:cNvPr>
          <p:cNvSpPr/>
          <p:nvPr/>
        </p:nvSpPr>
        <p:spPr>
          <a:xfrm>
            <a:off x="8485608" y="610530"/>
            <a:ext cx="1616811" cy="2067153"/>
          </a:xfrm>
          <a:prstGeom prst="rect">
            <a:avLst/>
          </a:prstGeom>
          <a:solidFill>
            <a:srgbClr val="F3CCA1"/>
          </a:solidFill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2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D3C392D-DB2F-7162-1795-734D27EA57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08017" y="224714"/>
            <a:ext cx="2103345" cy="312453"/>
          </a:xfrm>
          <a:prstGeom prst="roundRect">
            <a:avLst>
              <a:gd name="adj" fmla="val 41901"/>
            </a:avLst>
          </a:prstGeom>
          <a:solidFill>
            <a:srgbClr val="F3CCA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第一步：隐空间对齐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28CB1E59-63FF-E791-A0CA-8575DD513F0D}"/>
              </a:ext>
            </a:extLst>
          </p:cNvPr>
          <p:cNvSpPr/>
          <p:nvPr/>
        </p:nvSpPr>
        <p:spPr>
          <a:xfrm>
            <a:off x="7429156" y="230592"/>
            <a:ext cx="2103345" cy="309084"/>
          </a:xfrm>
          <a:prstGeom prst="roundRect">
            <a:avLst>
              <a:gd name="adj" fmla="val 41901"/>
            </a:avLst>
          </a:prstGeom>
          <a:solidFill>
            <a:srgbClr val="F3CCA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第二步：条件扩散生成</a:t>
            </a:r>
          </a:p>
        </p:txBody>
      </p:sp>
      <p:sp>
        <p:nvSpPr>
          <p:cNvPr id="139" name="流程图: 磁盘 138">
            <a:extLst>
              <a:ext uri="{FF2B5EF4-FFF2-40B4-BE49-F238E27FC236}">
                <a16:creationId xmlns:a16="http://schemas.microsoft.com/office/drawing/2014/main" id="{25A21CFC-5285-5E1C-853B-215FE1D86120}"/>
              </a:ext>
            </a:extLst>
          </p:cNvPr>
          <p:cNvSpPr/>
          <p:nvPr/>
        </p:nvSpPr>
        <p:spPr>
          <a:xfrm>
            <a:off x="8653331" y="2134478"/>
            <a:ext cx="1321150" cy="495589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2" dirty="0">
                <a:latin typeface="KaiTi" panose="02010609060101010101" pitchFamily="49" charset="-122"/>
                <a:ea typeface="KaiTi" panose="02010609060101010101" pitchFamily="49" charset="-122"/>
              </a:rPr>
              <a:t>人口空间画像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29331B9B-26CB-0CAA-8195-E0CEC60BB31C}"/>
              </a:ext>
            </a:extLst>
          </p:cNvPr>
          <p:cNvSpPr>
            <a:spLocks/>
          </p:cNvSpPr>
          <p:nvPr/>
        </p:nvSpPr>
        <p:spPr>
          <a:xfrm>
            <a:off x="285348" y="575202"/>
            <a:ext cx="1308347" cy="2158099"/>
          </a:xfrm>
          <a:prstGeom prst="rect">
            <a:avLst/>
          </a:prstGeom>
          <a:solidFill>
            <a:srgbClr val="F3CCA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研究内容</a:t>
            </a:r>
            <a:r>
              <a:rPr lang="en-US" altLang="zh-CN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：建筑物尺度静态画像</a:t>
            </a:r>
            <a:endParaRPr lang="en-US" altLang="zh-CN" sz="1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目标</a:t>
            </a:r>
            <a:r>
              <a:rPr lang="en-US" altLang="zh-CN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：生成空间人口画像数据库</a:t>
            </a:r>
          </a:p>
          <a:p>
            <a:endParaRPr lang="zh-CN" altLang="en-US" sz="1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3F848FA-31DF-7B42-E9A7-D8B3421F849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706007" y="838866"/>
            <a:ext cx="1187869" cy="1450897"/>
            <a:chOff x="4080776" y="1026347"/>
            <a:chExt cx="1187869" cy="1450897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CC7A1B2D-A371-54BD-4AF9-AA76AE0E3F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80776" y="1188093"/>
              <a:ext cx="1187869" cy="12891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52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B42174CD-3D9F-6083-7523-F4971461CB23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156173" y="1429937"/>
                  <a:ext cx="1029488" cy="84504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zh-CN" altLang="en-US" sz="1200" b="1">
                                <a:latin typeface="Cambria Math" panose="02040503050406030204" pitchFamily="18" charset="0"/>
                              </a:rPr>
                              <m:t>𝐬</m:t>
                            </m:r>
                          </m:sub>
                        </m:sSub>
                        <m:r>
                          <a:rPr lang="zh-CN" altLang="en-US" sz="120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1200">
                                          <a:latin typeface="Cambria Math" panose="02040503050406030204" pitchFamily="18" charset="0"/>
                                        </a:rPr>
                                        <m:t>poi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1200" dirty="0">
                    <a:latin typeface="KaiTi" panose="02010609060101010101" pitchFamily="49" charset="-122"/>
                    <a:ea typeface="KaiTi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B42174CD-3D9F-6083-7523-F4971461CB23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6173" y="1429937"/>
                  <a:ext cx="1029488" cy="84504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55BBB561-A776-A98F-ACCB-E94A971C28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60357" y="1026347"/>
              <a:ext cx="1017642" cy="29543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2" dirty="0">
                  <a:latin typeface="KaiTi" panose="02010609060101010101" pitchFamily="49" charset="-122"/>
                  <a:ea typeface="KaiTi" panose="02010609060101010101" pitchFamily="49" charset="-122"/>
                </a:rPr>
                <a:t>空间条件向量</a:t>
              </a:r>
            </a:p>
          </p:txBody>
        </p:sp>
      </p:grpSp>
      <p:sp>
        <p:nvSpPr>
          <p:cNvPr id="170" name="矩形 169">
            <a:extLst>
              <a:ext uri="{FF2B5EF4-FFF2-40B4-BE49-F238E27FC236}">
                <a16:creationId xmlns:a16="http://schemas.microsoft.com/office/drawing/2014/main" id="{7E3CBFCD-BFF5-C9A4-C737-B110AD1C0FAA}"/>
              </a:ext>
            </a:extLst>
          </p:cNvPr>
          <p:cNvSpPr/>
          <p:nvPr/>
        </p:nvSpPr>
        <p:spPr>
          <a:xfrm>
            <a:off x="223802" y="2920223"/>
            <a:ext cx="10268569" cy="20014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2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091F43C0-7372-73FE-DF86-4E623CA58422}"/>
              </a:ext>
            </a:extLst>
          </p:cNvPr>
          <p:cNvSpPr/>
          <p:nvPr/>
        </p:nvSpPr>
        <p:spPr>
          <a:xfrm>
            <a:off x="2119544" y="2966447"/>
            <a:ext cx="1950474" cy="312453"/>
          </a:xfrm>
          <a:prstGeom prst="roundRect">
            <a:avLst>
              <a:gd name="adj" fmla="val 41901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第一步：分时特征提取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D8863DD2-8980-BE4F-6FB2-8DD885216770}"/>
              </a:ext>
            </a:extLst>
          </p:cNvPr>
          <p:cNvSpPr/>
          <p:nvPr/>
        </p:nvSpPr>
        <p:spPr>
          <a:xfrm>
            <a:off x="294208" y="2982159"/>
            <a:ext cx="1299487" cy="188165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研究内容</a:t>
            </a:r>
            <a:r>
              <a:rPr lang="en-US" altLang="zh-CN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分时段时空动态画像</a:t>
            </a:r>
            <a:endParaRPr lang="en-US" altLang="zh-CN" sz="1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目标</a:t>
            </a:r>
            <a:r>
              <a:rPr lang="en-US" altLang="zh-CN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2:</a:t>
            </a:r>
            <a:r>
              <a:rPr lang="zh-CN" altLang="en-US" sz="1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人口画像时空化拓展</a:t>
            </a:r>
          </a:p>
          <a:p>
            <a:endParaRPr lang="zh-CN" altLang="en-US" sz="1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39F6EAC2-FDBE-CC82-E34F-1674464BED0F}"/>
              </a:ext>
            </a:extLst>
          </p:cNvPr>
          <p:cNvSpPr/>
          <p:nvPr/>
        </p:nvSpPr>
        <p:spPr>
          <a:xfrm>
            <a:off x="218082" y="5024140"/>
            <a:ext cx="10259524" cy="2315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2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9936B9A8-7872-650C-4955-BD31DECBC35D}"/>
              </a:ext>
            </a:extLst>
          </p:cNvPr>
          <p:cNvSpPr/>
          <p:nvPr/>
        </p:nvSpPr>
        <p:spPr>
          <a:xfrm>
            <a:off x="2713279" y="5682995"/>
            <a:ext cx="1818658" cy="15479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以美国城市为测试场景，用公开微观数据验证全流程</a:t>
            </a:r>
          </a:p>
        </p:txBody>
      </p:sp>
      <p:sp>
        <p:nvSpPr>
          <p:cNvPr id="166" name="圆角矩形 165">
            <a:extLst>
              <a:ext uri="{FF2B5EF4-FFF2-40B4-BE49-F238E27FC236}">
                <a16:creationId xmlns:a16="http://schemas.microsoft.com/office/drawing/2014/main" id="{AE1EADD4-3740-C056-BFF3-3CDDDD8F6B3C}"/>
              </a:ext>
            </a:extLst>
          </p:cNvPr>
          <p:cNvSpPr/>
          <p:nvPr/>
        </p:nvSpPr>
        <p:spPr>
          <a:xfrm>
            <a:off x="1690708" y="5185656"/>
            <a:ext cx="1818658" cy="40407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第一步：有效性验证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1970B91-B252-9912-3882-BFBF1D1D7340}"/>
              </a:ext>
            </a:extLst>
          </p:cNvPr>
          <p:cNvSpPr/>
          <p:nvPr/>
        </p:nvSpPr>
        <p:spPr>
          <a:xfrm>
            <a:off x="3800528" y="5185656"/>
            <a:ext cx="1818659" cy="40407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第二步：套件降级实验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2F22D6C-5802-F2FE-8D20-ADE752510BF1}"/>
              </a:ext>
            </a:extLst>
          </p:cNvPr>
          <p:cNvSpPr/>
          <p:nvPr/>
        </p:nvSpPr>
        <p:spPr>
          <a:xfrm>
            <a:off x="6073801" y="5185295"/>
            <a:ext cx="1818658" cy="40407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第三步：迁移能力评估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8F13EC-CA95-6007-C833-722C53242B1B}"/>
              </a:ext>
            </a:extLst>
          </p:cNvPr>
          <p:cNvSpPr/>
          <p:nvPr/>
        </p:nvSpPr>
        <p:spPr>
          <a:xfrm>
            <a:off x="323395" y="5192098"/>
            <a:ext cx="1262000" cy="20388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研究内容</a:t>
            </a:r>
            <a:r>
              <a:rPr lang="en-US" altLang="zh-CN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：验证方法的适应性与可行性</a:t>
            </a:r>
            <a:endParaRPr lang="en-US" altLang="zh-CN" sz="1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目标</a:t>
            </a:r>
            <a:r>
              <a:rPr lang="en-US" altLang="zh-CN" sz="14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3:</a:t>
            </a:r>
            <a:r>
              <a:rPr lang="zh-CN" altLang="en-US" sz="1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实现模型的跨城市与国家场景验证</a:t>
            </a:r>
            <a:endParaRPr lang="en-US" altLang="zh-CN" sz="1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2AF8D6F-C290-08DB-7B96-D113515C3C42}"/>
              </a:ext>
            </a:extLst>
          </p:cNvPr>
          <p:cNvSpPr/>
          <p:nvPr/>
        </p:nvSpPr>
        <p:spPr>
          <a:xfrm>
            <a:off x="4611740" y="3299955"/>
            <a:ext cx="5757470" cy="156385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2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459E25E-ED47-76EC-2C25-0B6FB60C31B7}"/>
                  </a:ext>
                </a:extLst>
              </p:cNvPr>
              <p:cNvSpPr/>
              <p:nvPr/>
            </p:nvSpPr>
            <p:spPr>
              <a:xfrm>
                <a:off x="4799509" y="3628865"/>
                <a:ext cx="1011383" cy="98054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52" dirty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时空条件向量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052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052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1052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endParaRPr lang="zh-CN" altLang="en-US" sz="1052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459E25E-ED47-76EC-2C25-0B6FB60C31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509" y="3628865"/>
                <a:ext cx="1011383" cy="9805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流程图: 磁盘 111">
            <a:extLst>
              <a:ext uri="{FF2B5EF4-FFF2-40B4-BE49-F238E27FC236}">
                <a16:creationId xmlns:a16="http://schemas.microsoft.com/office/drawing/2014/main" id="{0343E795-5E8E-E4B7-1DD6-4631659F2F35}"/>
              </a:ext>
            </a:extLst>
          </p:cNvPr>
          <p:cNvSpPr/>
          <p:nvPr/>
        </p:nvSpPr>
        <p:spPr>
          <a:xfrm>
            <a:off x="9358182" y="3516003"/>
            <a:ext cx="920323" cy="1161193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2" dirty="0">
                <a:latin typeface="KaiTi" panose="02010609060101010101" pitchFamily="49" charset="-122"/>
                <a:ea typeface="KaiTi" panose="02010609060101010101" pitchFamily="49" charset="-122"/>
              </a:rPr>
              <a:t>时空化人口空间画像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6B1E02C-B4CA-B05E-D40E-B93B4B456DFD}"/>
              </a:ext>
            </a:extLst>
          </p:cNvPr>
          <p:cNvSpPr/>
          <p:nvPr/>
        </p:nvSpPr>
        <p:spPr>
          <a:xfrm>
            <a:off x="7493391" y="2945035"/>
            <a:ext cx="1865063" cy="312453"/>
          </a:xfrm>
          <a:prstGeom prst="roundRect">
            <a:avLst>
              <a:gd name="adj" fmla="val 41901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第二步：时间条件注入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2543E84-23B8-0681-64F9-B236529C5970}"/>
              </a:ext>
            </a:extLst>
          </p:cNvPr>
          <p:cNvSpPr/>
          <p:nvPr/>
        </p:nvSpPr>
        <p:spPr>
          <a:xfrm>
            <a:off x="4849918" y="5645652"/>
            <a:ext cx="1818658" cy="15852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逐项移除数据源量化各条件对精度的贡献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069DBB3-A7B5-D254-1B0A-31076ABB6E2B}"/>
              </a:ext>
            </a:extLst>
          </p:cNvPr>
          <p:cNvSpPr/>
          <p:nvPr/>
        </p:nvSpPr>
        <p:spPr>
          <a:xfrm>
            <a:off x="7259820" y="5653202"/>
            <a:ext cx="1818658" cy="15777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逐项移除数据源量化各条件对精度的贡献</a:t>
            </a:r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199117A3-B35C-3694-3CF4-9FE88A1B513D}"/>
              </a:ext>
            </a:extLst>
          </p:cNvPr>
          <p:cNvSpPr/>
          <p:nvPr/>
        </p:nvSpPr>
        <p:spPr>
          <a:xfrm>
            <a:off x="8347071" y="5185294"/>
            <a:ext cx="1818658" cy="40407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第四步：部署指南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30BAC3E-CFEC-0A64-EDCE-3ED322B214FC}"/>
              </a:ext>
            </a:extLst>
          </p:cNvPr>
          <p:cNvGrpSpPr/>
          <p:nvPr/>
        </p:nvGrpSpPr>
        <p:grpSpPr>
          <a:xfrm>
            <a:off x="1863517" y="672338"/>
            <a:ext cx="1089905" cy="1859221"/>
            <a:chOff x="1863517" y="546226"/>
            <a:chExt cx="1089905" cy="1859221"/>
          </a:xfrm>
        </p:grpSpPr>
        <p:sp>
          <p:nvSpPr>
            <p:cNvPr id="11" name="圆柱体 10">
              <a:extLst>
                <a:ext uri="{FF2B5EF4-FFF2-40B4-BE49-F238E27FC236}">
                  <a16:creationId xmlns:a16="http://schemas.microsoft.com/office/drawing/2014/main" id="{C4AAB608-E827-1AB7-0EE4-59D931834402}"/>
                </a:ext>
              </a:extLst>
            </p:cNvPr>
            <p:cNvSpPr/>
            <p:nvPr/>
          </p:nvSpPr>
          <p:spPr>
            <a:xfrm>
              <a:off x="1863517" y="546226"/>
              <a:ext cx="1089905" cy="185922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6B4A04A-363B-C0DF-9C7F-A8CC879EC57D}"/>
                </a:ext>
              </a:extLst>
            </p:cNvPr>
            <p:cNvSpPr/>
            <p:nvPr/>
          </p:nvSpPr>
          <p:spPr>
            <a:xfrm>
              <a:off x="1976213" y="865461"/>
              <a:ext cx="864511" cy="31245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2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人口普查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A43F07E-8ED1-E3DB-A1EA-6AFDB9EDEB66}"/>
                </a:ext>
              </a:extLst>
            </p:cNvPr>
            <p:cNvSpPr/>
            <p:nvPr/>
          </p:nvSpPr>
          <p:spPr>
            <a:xfrm>
              <a:off x="1982726" y="1228287"/>
              <a:ext cx="851384" cy="31245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2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建筑物特征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9398FF70-6366-1CDE-CED9-DBAD85D6034F}"/>
                </a:ext>
              </a:extLst>
            </p:cNvPr>
            <p:cNvSpPr/>
            <p:nvPr/>
          </p:nvSpPr>
          <p:spPr>
            <a:xfrm>
              <a:off x="1987394" y="1584764"/>
              <a:ext cx="846715" cy="31245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2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POI</a:t>
              </a:r>
              <a:r>
                <a:rPr lang="zh-CN" altLang="en-US" sz="1052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信息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668E0A8D-EA84-D278-99AD-012548097CD6}"/>
                </a:ext>
              </a:extLst>
            </p:cNvPr>
            <p:cNvSpPr/>
            <p:nvPr/>
          </p:nvSpPr>
          <p:spPr>
            <a:xfrm>
              <a:off x="1982725" y="1971363"/>
              <a:ext cx="846715" cy="31245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2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移动信令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7B5B3A15-9019-FAD3-6A8F-378923425C7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75155" y="660091"/>
            <a:ext cx="1261030" cy="1957479"/>
            <a:chOff x="3175155" y="660091"/>
            <a:chExt cx="1261030" cy="195747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849DF57-5DB0-A610-3AF6-F00D15358F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75155" y="660091"/>
              <a:ext cx="1261030" cy="1957479"/>
            </a:xfrm>
            <a:prstGeom prst="rect">
              <a:avLst/>
            </a:prstGeom>
            <a:solidFill>
              <a:srgbClr val="F3CCA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52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47" name="流程图: 多文档 46">
              <a:extLst>
                <a:ext uri="{FF2B5EF4-FFF2-40B4-BE49-F238E27FC236}">
                  <a16:creationId xmlns:a16="http://schemas.microsoft.com/office/drawing/2014/main" id="{D549FEDA-5E9E-658F-235B-C871D2B109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47614" y="692032"/>
              <a:ext cx="697295" cy="702080"/>
            </a:xfrm>
            <a:prstGeom prst="flowChartMultidocumen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2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编码器</a:t>
              </a:r>
            </a:p>
          </p:txBody>
        </p:sp>
        <p:sp>
          <p:nvSpPr>
            <p:cNvPr id="49" name="立方体 48">
              <a:extLst>
                <a:ext uri="{FF2B5EF4-FFF2-40B4-BE49-F238E27FC236}">
                  <a16:creationId xmlns:a16="http://schemas.microsoft.com/office/drawing/2014/main" id="{5D886213-260A-976C-A4A8-C1C87851A0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81072" y="2059042"/>
              <a:ext cx="1016814" cy="408888"/>
            </a:xfrm>
            <a:prstGeom prst="cub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2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低维隐空间</a:t>
              </a:r>
            </a:p>
          </p:txBody>
        </p:sp>
        <p:cxnSp>
          <p:nvCxnSpPr>
            <p:cNvPr id="37" name="直线箭头连接符 36">
              <a:extLst>
                <a:ext uri="{FF2B5EF4-FFF2-40B4-BE49-F238E27FC236}">
                  <a16:creationId xmlns:a16="http://schemas.microsoft.com/office/drawing/2014/main" id="{17CA1A5D-B6DC-EC62-C71F-04DC41482A2A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47" idx="2"/>
              <a:endCxn id="49" idx="1"/>
            </p:cNvCxnSpPr>
            <p:nvPr/>
          </p:nvCxnSpPr>
          <p:spPr>
            <a:xfrm flipH="1">
              <a:off x="3738368" y="1367524"/>
              <a:ext cx="9406" cy="7937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DF8AFFC3-5853-C100-E8ED-87909A17DC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02873" y="1592438"/>
              <a:ext cx="1016814" cy="24610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2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对比学习</a:t>
              </a:r>
            </a:p>
          </p:txBody>
        </p:sp>
      </p:grpSp>
      <p:sp>
        <p:nvSpPr>
          <p:cNvPr id="80" name="任意形状 79">
            <a:extLst>
              <a:ext uri="{FF2B5EF4-FFF2-40B4-BE49-F238E27FC236}">
                <a16:creationId xmlns:a16="http://schemas.microsoft.com/office/drawing/2014/main" id="{A1002188-AC9F-7854-9F2C-DC8C49C9BE67}"/>
              </a:ext>
            </a:extLst>
          </p:cNvPr>
          <p:cNvSpPr/>
          <p:nvPr/>
        </p:nvSpPr>
        <p:spPr>
          <a:xfrm rot="16200000">
            <a:off x="7009496" y="383033"/>
            <a:ext cx="537630" cy="1136778"/>
          </a:xfrm>
          <a:custGeom>
            <a:avLst/>
            <a:gdLst>
              <a:gd name="csX0" fmla="*/ 718086 w 718086"/>
              <a:gd name="csY0" fmla="*/ 0 h 935124"/>
              <a:gd name="csX1" fmla="*/ 574469 w 718086"/>
              <a:gd name="csY1" fmla="*/ 467562 h 935124"/>
              <a:gd name="csX2" fmla="*/ 718086 w 718086"/>
              <a:gd name="csY2" fmla="*/ 935124 h 935124"/>
              <a:gd name="csX3" fmla="*/ 0 w 718086"/>
              <a:gd name="csY3" fmla="*/ 935124 h 935124"/>
              <a:gd name="csX4" fmla="*/ 143617 w 718086"/>
              <a:gd name="csY4" fmla="*/ 467562 h 935124"/>
              <a:gd name="csX5" fmla="*/ 0 w 718086"/>
              <a:gd name="csY5" fmla="*/ 0 h 9351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18086" h="935124">
                <a:moveTo>
                  <a:pt x="718086" y="0"/>
                </a:moveTo>
                <a:lnTo>
                  <a:pt x="574469" y="467562"/>
                </a:lnTo>
                <a:lnTo>
                  <a:pt x="718086" y="935124"/>
                </a:lnTo>
                <a:lnTo>
                  <a:pt x="0" y="935124"/>
                </a:lnTo>
                <a:lnTo>
                  <a:pt x="143617" y="4675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square" rtlCol="0" anchor="ctr">
            <a:noAutofit/>
          </a:bodyPr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扩散模型</a:t>
            </a:r>
          </a:p>
        </p:txBody>
      </p: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E408D17C-3FD7-CC38-B3C0-91AD4B7B289C}"/>
              </a:ext>
            </a:extLst>
          </p:cNvPr>
          <p:cNvCxnSpPr>
            <a:cxnSpLocks/>
            <a:stCxn id="85" idx="3"/>
            <a:endCxn id="80" idx="5"/>
          </p:cNvCxnSpPr>
          <p:nvPr/>
        </p:nvCxnSpPr>
        <p:spPr>
          <a:xfrm flipV="1">
            <a:off x="5893876" y="1220237"/>
            <a:ext cx="816046" cy="424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E83ABF08-0736-16E0-8FFF-71FF968E0E77}"/>
              </a:ext>
            </a:extLst>
          </p:cNvPr>
          <p:cNvCxnSpPr>
            <a:cxnSpLocks/>
          </p:cNvCxnSpPr>
          <p:nvPr/>
        </p:nvCxnSpPr>
        <p:spPr>
          <a:xfrm flipH="1">
            <a:off x="7277922" y="1113072"/>
            <a:ext cx="1310" cy="60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矩形 93">
            <a:extLst>
              <a:ext uri="{FF2B5EF4-FFF2-40B4-BE49-F238E27FC236}">
                <a16:creationId xmlns:a16="http://schemas.microsoft.com/office/drawing/2014/main" id="{7AABA891-7C54-9D21-2D7E-C466ADC96B2A}"/>
              </a:ext>
            </a:extLst>
          </p:cNvPr>
          <p:cNvSpPr/>
          <p:nvPr/>
        </p:nvSpPr>
        <p:spPr>
          <a:xfrm>
            <a:off x="7036121" y="1262206"/>
            <a:ext cx="484380" cy="246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2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去噪</a:t>
            </a:r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C9F6877E-D91A-0A18-C016-2487904B8219}"/>
              </a:ext>
            </a:extLst>
          </p:cNvPr>
          <p:cNvGrpSpPr/>
          <p:nvPr/>
        </p:nvGrpSpPr>
        <p:grpSpPr>
          <a:xfrm>
            <a:off x="6550318" y="1721040"/>
            <a:ext cx="1392878" cy="927624"/>
            <a:chOff x="6551480" y="1659340"/>
            <a:chExt cx="1392878" cy="927624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CB66A5B6-1F27-6CB7-D525-2A4BD0EF5233}"/>
                </a:ext>
              </a:extLst>
            </p:cNvPr>
            <p:cNvSpPr/>
            <p:nvPr/>
          </p:nvSpPr>
          <p:spPr>
            <a:xfrm>
              <a:off x="6551480" y="1757337"/>
              <a:ext cx="1392878" cy="829627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52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0B1C755C-E91C-EC58-56D5-A1D5428AD868}"/>
                </a:ext>
              </a:extLst>
            </p:cNvPr>
            <p:cNvGrpSpPr/>
            <p:nvPr/>
          </p:nvGrpSpPr>
          <p:grpSpPr>
            <a:xfrm>
              <a:off x="6701240" y="1863480"/>
              <a:ext cx="1062236" cy="666763"/>
              <a:chOff x="7748833" y="2530919"/>
              <a:chExt cx="935493" cy="730589"/>
            </a:xfrm>
            <a:solidFill>
              <a:srgbClr val="F3CCA1"/>
            </a:solidFill>
          </p:grpSpPr>
          <p:cxnSp>
            <p:nvCxnSpPr>
              <p:cNvPr id="118" name="直接箭头连接符 117">
                <a:extLst>
                  <a:ext uri="{FF2B5EF4-FFF2-40B4-BE49-F238E27FC236}">
                    <a16:creationId xmlns:a16="http://schemas.microsoft.com/office/drawing/2014/main" id="{08E6A9F0-CC28-86EF-47BC-5F9FFDBE90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8833" y="2530919"/>
                <a:ext cx="0" cy="730589"/>
              </a:xfrm>
              <a:prstGeom prst="straightConnector1">
                <a:avLst/>
              </a:prstGeom>
              <a:grpFill/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直接箭头连接符 120">
                <a:extLst>
                  <a:ext uri="{FF2B5EF4-FFF2-40B4-BE49-F238E27FC236}">
                    <a16:creationId xmlns:a16="http://schemas.microsoft.com/office/drawing/2014/main" id="{EAFBD87D-5F3B-DDF9-F87B-148BF56FC4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8833" y="3249935"/>
                <a:ext cx="935493" cy="11573"/>
              </a:xfrm>
              <a:prstGeom prst="straightConnector1">
                <a:avLst/>
              </a:prstGeom>
              <a:grpFill/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931CC426-3F7C-B066-48E1-2C9EEF4506D8}"/>
                  </a:ext>
                </a:extLst>
              </p:cNvPr>
              <p:cNvSpPr/>
              <p:nvPr/>
            </p:nvSpPr>
            <p:spPr>
              <a:xfrm>
                <a:off x="7824247" y="2733773"/>
                <a:ext cx="754145" cy="396024"/>
              </a:xfrm>
              <a:custGeom>
                <a:avLst/>
                <a:gdLst>
                  <a:gd name="csX0" fmla="*/ 0 w 754145"/>
                  <a:gd name="csY0" fmla="*/ 395926 h 396024"/>
                  <a:gd name="csX1" fmla="*/ 263951 w 754145"/>
                  <a:gd name="csY1" fmla="*/ 0 h 396024"/>
                  <a:gd name="csX2" fmla="*/ 490194 w 754145"/>
                  <a:gd name="csY2" fmla="*/ 395926 h 396024"/>
                  <a:gd name="csX3" fmla="*/ 754145 w 754145"/>
                  <a:gd name="csY3" fmla="*/ 37707 h 39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4145" h="396024">
                    <a:moveTo>
                      <a:pt x="0" y="395926"/>
                    </a:moveTo>
                    <a:cubicBezTo>
                      <a:pt x="91126" y="197963"/>
                      <a:pt x="182252" y="0"/>
                      <a:pt x="263951" y="0"/>
                    </a:cubicBezTo>
                    <a:cubicBezTo>
                      <a:pt x="345650" y="0"/>
                      <a:pt x="408495" y="389641"/>
                      <a:pt x="490194" y="395926"/>
                    </a:cubicBezTo>
                    <a:cubicBezTo>
                      <a:pt x="571893" y="402211"/>
                      <a:pt x="700726" y="105266"/>
                      <a:pt x="754145" y="37707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052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p:grpSp>
        <p:sp>
          <p:nvSpPr>
            <p:cNvPr id="101" name="矩形: 圆角 86">
              <a:extLst>
                <a:ext uri="{FF2B5EF4-FFF2-40B4-BE49-F238E27FC236}">
                  <a16:creationId xmlns:a16="http://schemas.microsoft.com/office/drawing/2014/main" id="{0DE15069-801F-41AE-935C-D7DF44841C0F}"/>
                </a:ext>
              </a:extLst>
            </p:cNvPr>
            <p:cNvSpPr/>
            <p:nvPr/>
          </p:nvSpPr>
          <p:spPr>
            <a:xfrm>
              <a:off x="6770263" y="1659340"/>
              <a:ext cx="1017642" cy="20213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2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区域联合分布</a:t>
              </a:r>
            </a:p>
          </p:txBody>
        </p:sp>
      </p:grpSp>
      <p:sp>
        <p:nvSpPr>
          <p:cNvPr id="43" name="箭头: 下 55">
            <a:extLst>
              <a:ext uri="{FF2B5EF4-FFF2-40B4-BE49-F238E27FC236}">
                <a16:creationId xmlns:a16="http://schemas.microsoft.com/office/drawing/2014/main" id="{5FA89EA1-9CDD-9C60-A803-745DDED7D7AA}"/>
              </a:ext>
            </a:extLst>
          </p:cNvPr>
          <p:cNvSpPr/>
          <p:nvPr/>
        </p:nvSpPr>
        <p:spPr>
          <a:xfrm rot="16200000">
            <a:off x="3087801" y="849743"/>
            <a:ext cx="239737" cy="479892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2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124" name="直线箭头连接符 123">
            <a:extLst>
              <a:ext uri="{FF2B5EF4-FFF2-40B4-BE49-F238E27FC236}">
                <a16:creationId xmlns:a16="http://schemas.microsoft.com/office/drawing/2014/main" id="{FD7D36A1-3383-0C38-E177-C2D4D50BC4A6}"/>
              </a:ext>
            </a:extLst>
          </p:cNvPr>
          <p:cNvCxnSpPr>
            <a:cxnSpLocks/>
            <a:stCxn id="127" idx="2"/>
            <a:endCxn id="139" idx="1"/>
          </p:cNvCxnSpPr>
          <p:nvPr/>
        </p:nvCxnSpPr>
        <p:spPr>
          <a:xfrm>
            <a:off x="9313906" y="1690330"/>
            <a:ext cx="0" cy="444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" name="矩形 122">
            <a:extLst>
              <a:ext uri="{FF2B5EF4-FFF2-40B4-BE49-F238E27FC236}">
                <a16:creationId xmlns:a16="http://schemas.microsoft.com/office/drawing/2014/main" id="{A42B9B6B-F5DB-FBDC-61E0-7E3F38F60898}"/>
              </a:ext>
            </a:extLst>
          </p:cNvPr>
          <p:cNvSpPr/>
          <p:nvPr/>
        </p:nvSpPr>
        <p:spPr>
          <a:xfrm>
            <a:off x="9018264" y="1762160"/>
            <a:ext cx="680381" cy="246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2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软配对</a:t>
            </a:r>
          </a:p>
        </p:txBody>
      </p:sp>
      <p:sp>
        <p:nvSpPr>
          <p:cNvPr id="127" name="矩形: 圆角 86">
            <a:extLst>
              <a:ext uri="{FF2B5EF4-FFF2-40B4-BE49-F238E27FC236}">
                <a16:creationId xmlns:a16="http://schemas.microsoft.com/office/drawing/2014/main" id="{6ACFC9A5-ACFE-7319-E7B0-277CC2F80F08}"/>
              </a:ext>
            </a:extLst>
          </p:cNvPr>
          <p:cNvSpPr/>
          <p:nvPr/>
        </p:nvSpPr>
        <p:spPr>
          <a:xfrm>
            <a:off x="8805085" y="1488191"/>
            <a:ext cx="1017642" cy="2021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2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个体属性组合</a:t>
            </a:r>
          </a:p>
        </p:txBody>
      </p:sp>
      <p:sp>
        <p:nvSpPr>
          <p:cNvPr id="136" name="矩形: 圆角 86">
            <a:extLst>
              <a:ext uri="{FF2B5EF4-FFF2-40B4-BE49-F238E27FC236}">
                <a16:creationId xmlns:a16="http://schemas.microsoft.com/office/drawing/2014/main" id="{F021EB53-2F8F-FDFC-3121-58DCD3E6437F}"/>
              </a:ext>
            </a:extLst>
          </p:cNvPr>
          <p:cNvSpPr/>
          <p:nvPr/>
        </p:nvSpPr>
        <p:spPr>
          <a:xfrm>
            <a:off x="8805085" y="643615"/>
            <a:ext cx="1017642" cy="3738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2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区域联合分布概率表</a:t>
            </a:r>
          </a:p>
        </p:txBody>
      </p: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0681B74C-AF8E-8017-5731-B22B33D6EAFF}"/>
              </a:ext>
            </a:extLst>
          </p:cNvPr>
          <p:cNvCxnSpPr>
            <a:stCxn id="136" idx="2"/>
            <a:endCxn id="127" idx="0"/>
          </p:cNvCxnSpPr>
          <p:nvPr/>
        </p:nvCxnSpPr>
        <p:spPr>
          <a:xfrm>
            <a:off x="9313906" y="1017458"/>
            <a:ext cx="0" cy="470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2" name="矩形 141">
            <a:extLst>
              <a:ext uri="{FF2B5EF4-FFF2-40B4-BE49-F238E27FC236}">
                <a16:creationId xmlns:a16="http://schemas.microsoft.com/office/drawing/2014/main" id="{7DE3497D-70BE-F6BC-99FF-C5D087355599}"/>
              </a:ext>
            </a:extLst>
          </p:cNvPr>
          <p:cNvSpPr/>
          <p:nvPr/>
        </p:nvSpPr>
        <p:spPr>
          <a:xfrm>
            <a:off x="9065221" y="1121678"/>
            <a:ext cx="497370" cy="2040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2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抽样</a:t>
            </a:r>
          </a:p>
        </p:txBody>
      </p:sp>
      <p:cxnSp>
        <p:nvCxnSpPr>
          <p:cNvPr id="154" name="肘形连接符 153">
            <a:extLst>
              <a:ext uri="{FF2B5EF4-FFF2-40B4-BE49-F238E27FC236}">
                <a16:creationId xmlns:a16="http://schemas.microsoft.com/office/drawing/2014/main" id="{9E758165-018C-1394-B1B7-D52BB5049329}"/>
              </a:ext>
            </a:extLst>
          </p:cNvPr>
          <p:cNvCxnSpPr>
            <a:stCxn id="116" idx="3"/>
            <a:endCxn id="136" idx="1"/>
          </p:cNvCxnSpPr>
          <p:nvPr/>
        </p:nvCxnSpPr>
        <p:spPr>
          <a:xfrm flipV="1">
            <a:off x="7943196" y="830537"/>
            <a:ext cx="861889" cy="1403314"/>
          </a:xfrm>
          <a:prstGeom prst="bentConnector3">
            <a:avLst>
              <a:gd name="adj1" fmla="val 4357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E577DBAF-500F-EACD-7682-3135CF588499}"/>
              </a:ext>
            </a:extLst>
          </p:cNvPr>
          <p:cNvGrpSpPr/>
          <p:nvPr/>
        </p:nvGrpSpPr>
        <p:grpSpPr>
          <a:xfrm>
            <a:off x="1773840" y="3316936"/>
            <a:ext cx="2603149" cy="1546877"/>
            <a:chOff x="1685795" y="3316935"/>
            <a:chExt cx="2603149" cy="1546877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7FCC4653-5E10-2C8D-345D-F3808D6E23E5}"/>
                </a:ext>
              </a:extLst>
            </p:cNvPr>
            <p:cNvSpPr/>
            <p:nvPr/>
          </p:nvSpPr>
          <p:spPr>
            <a:xfrm>
              <a:off x="1685795" y="3316935"/>
              <a:ext cx="2603149" cy="154687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52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60" name="圆柱体 159">
              <a:extLst>
                <a:ext uri="{FF2B5EF4-FFF2-40B4-BE49-F238E27FC236}">
                  <a16:creationId xmlns:a16="http://schemas.microsoft.com/office/drawing/2014/main" id="{9BB6D4FC-9D53-341D-BD57-E00A53B67233}"/>
                </a:ext>
              </a:extLst>
            </p:cNvPr>
            <p:cNvSpPr/>
            <p:nvPr/>
          </p:nvSpPr>
          <p:spPr>
            <a:xfrm>
              <a:off x="1766401" y="3376671"/>
              <a:ext cx="1041367" cy="1389369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DE590272-70F5-E341-EFCE-22585148B9D3}"/>
                </a:ext>
              </a:extLst>
            </p:cNvPr>
            <p:cNvSpPr/>
            <p:nvPr/>
          </p:nvSpPr>
          <p:spPr>
            <a:xfrm>
              <a:off x="1884091" y="3685271"/>
              <a:ext cx="805986" cy="4040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2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移动信令</a:t>
              </a:r>
            </a:p>
          </p:txBody>
        </p:sp>
        <p:sp>
          <p:nvSpPr>
            <p:cNvPr id="161" name="箭头: 下 55">
              <a:extLst>
                <a:ext uri="{FF2B5EF4-FFF2-40B4-BE49-F238E27FC236}">
                  <a16:creationId xmlns:a16="http://schemas.microsoft.com/office/drawing/2014/main" id="{41446BEA-B823-C1FD-6782-D71D54816F5D}"/>
                </a:ext>
              </a:extLst>
            </p:cNvPr>
            <p:cNvSpPr/>
            <p:nvPr/>
          </p:nvSpPr>
          <p:spPr>
            <a:xfrm rot="16200000">
              <a:off x="2886868" y="3933942"/>
              <a:ext cx="239737" cy="332025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52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65DD4F48-AD7A-76F4-82B1-B8EE512B91F8}"/>
                </a:ext>
              </a:extLst>
            </p:cNvPr>
            <p:cNvSpPr/>
            <p:nvPr/>
          </p:nvSpPr>
          <p:spPr>
            <a:xfrm>
              <a:off x="1884091" y="4158934"/>
              <a:ext cx="805986" cy="4040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2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夜间灯光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3" name="矩形: 圆角 86">
                  <a:extLst>
                    <a:ext uri="{FF2B5EF4-FFF2-40B4-BE49-F238E27FC236}">
                      <a16:creationId xmlns:a16="http://schemas.microsoft.com/office/drawing/2014/main" id="{6DFD574C-E04F-2F7E-BB22-85CF02F8507C}"/>
                    </a:ext>
                  </a:extLst>
                </p:cNvPr>
                <p:cNvSpPr/>
                <p:nvPr/>
              </p:nvSpPr>
              <p:spPr>
                <a:xfrm>
                  <a:off x="3199626" y="3786148"/>
                  <a:ext cx="1017642" cy="683377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52" dirty="0">
                      <a:solidFill>
                        <a:schemeClr val="tx1"/>
                      </a:solidFill>
                      <a:latin typeface="KaiTi" panose="02010609060101010101" pitchFamily="49" charset="-122"/>
                      <a:ea typeface="KaiTi" panose="02010609060101010101" pitchFamily="49" charset="-122"/>
                    </a:rPr>
                    <a:t>分时特征向量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05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105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zh-CN" altLang="en-US" sz="1050" dirty="0">
                    <a:latin typeface="KaiTi" panose="02010609060101010101" pitchFamily="49" charset="-122"/>
                    <a:ea typeface="KaiTi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173" name="矩形: 圆角 86">
                  <a:extLst>
                    <a:ext uri="{FF2B5EF4-FFF2-40B4-BE49-F238E27FC236}">
                      <a16:creationId xmlns:a16="http://schemas.microsoft.com/office/drawing/2014/main" id="{6DFD574C-E04F-2F7E-BB22-85CF02F850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9626" y="3786148"/>
                  <a:ext cx="1017642" cy="683377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6" name="直线箭头连接符 175">
            <a:extLst>
              <a:ext uri="{FF2B5EF4-FFF2-40B4-BE49-F238E27FC236}">
                <a16:creationId xmlns:a16="http://schemas.microsoft.com/office/drawing/2014/main" id="{41798616-DC50-AFAA-7F8E-E6B5CD548B4D}"/>
              </a:ext>
            </a:extLst>
          </p:cNvPr>
          <p:cNvCxnSpPr>
            <a:cxnSpLocks/>
            <a:stCxn id="173" idx="3"/>
            <a:endCxn id="16" idx="1"/>
          </p:cNvCxnSpPr>
          <p:nvPr/>
        </p:nvCxnSpPr>
        <p:spPr>
          <a:xfrm flipV="1">
            <a:off x="4305313" y="4119136"/>
            <a:ext cx="494196" cy="8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直线箭头连接符 181">
            <a:extLst>
              <a:ext uri="{FF2B5EF4-FFF2-40B4-BE49-F238E27FC236}">
                <a16:creationId xmlns:a16="http://schemas.microsoft.com/office/drawing/2014/main" id="{EEA0271C-23BE-A3A7-6979-544C5190D224}"/>
              </a:ext>
            </a:extLst>
          </p:cNvPr>
          <p:cNvCxnSpPr>
            <a:cxnSpLocks/>
            <a:stCxn id="85" idx="2"/>
            <a:endCxn id="16" idx="0"/>
          </p:cNvCxnSpPr>
          <p:nvPr/>
        </p:nvCxnSpPr>
        <p:spPr>
          <a:xfrm>
            <a:off x="5299942" y="2289763"/>
            <a:ext cx="5259" cy="1339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5" name="矩形 194">
            <a:extLst>
              <a:ext uri="{FF2B5EF4-FFF2-40B4-BE49-F238E27FC236}">
                <a16:creationId xmlns:a16="http://schemas.microsoft.com/office/drawing/2014/main" id="{BDECD7A1-B09E-8D14-DA97-E6C7BCE8384F}"/>
              </a:ext>
            </a:extLst>
          </p:cNvPr>
          <p:cNvSpPr/>
          <p:nvPr/>
        </p:nvSpPr>
        <p:spPr>
          <a:xfrm>
            <a:off x="8202447" y="3468080"/>
            <a:ext cx="484380" cy="246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2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去噪</a:t>
            </a: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5A179763-7383-6DF3-5B76-33F2E9E41416}"/>
              </a:ext>
            </a:extLst>
          </p:cNvPr>
          <p:cNvSpPr/>
          <p:nvPr/>
        </p:nvSpPr>
        <p:spPr>
          <a:xfrm>
            <a:off x="5985877" y="3392678"/>
            <a:ext cx="3009798" cy="141152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2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3" name="任意形状 192">
            <a:extLst>
              <a:ext uri="{FF2B5EF4-FFF2-40B4-BE49-F238E27FC236}">
                <a16:creationId xmlns:a16="http://schemas.microsoft.com/office/drawing/2014/main" id="{4F2F3187-E36C-6C44-54EB-CF96FAEB8179}"/>
              </a:ext>
            </a:extLst>
          </p:cNvPr>
          <p:cNvSpPr/>
          <p:nvPr/>
        </p:nvSpPr>
        <p:spPr>
          <a:xfrm rot="16200000">
            <a:off x="5849379" y="3785152"/>
            <a:ext cx="1143834" cy="504675"/>
          </a:xfrm>
          <a:custGeom>
            <a:avLst/>
            <a:gdLst>
              <a:gd name="csX0" fmla="*/ 718086 w 718086"/>
              <a:gd name="csY0" fmla="*/ 0 h 935124"/>
              <a:gd name="csX1" fmla="*/ 574469 w 718086"/>
              <a:gd name="csY1" fmla="*/ 467562 h 935124"/>
              <a:gd name="csX2" fmla="*/ 718086 w 718086"/>
              <a:gd name="csY2" fmla="*/ 935124 h 935124"/>
              <a:gd name="csX3" fmla="*/ 0 w 718086"/>
              <a:gd name="csY3" fmla="*/ 935124 h 935124"/>
              <a:gd name="csX4" fmla="*/ 143617 w 718086"/>
              <a:gd name="csY4" fmla="*/ 467562 h 935124"/>
              <a:gd name="csX5" fmla="*/ 0 w 718086"/>
              <a:gd name="csY5" fmla="*/ 0 h 9351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18086" h="935124">
                <a:moveTo>
                  <a:pt x="718086" y="0"/>
                </a:moveTo>
                <a:lnTo>
                  <a:pt x="574469" y="467562"/>
                </a:lnTo>
                <a:lnTo>
                  <a:pt x="718086" y="935124"/>
                </a:lnTo>
                <a:lnTo>
                  <a:pt x="0" y="935124"/>
                </a:lnTo>
                <a:lnTo>
                  <a:pt x="143617" y="4675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square" rtlCol="0" anchor="ctr">
            <a:noAutofit/>
          </a:bodyPr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扩散模型</a:t>
            </a:r>
          </a:p>
        </p:txBody>
      </p: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3E340C8D-7E28-3987-5AA1-079B04C90409}"/>
              </a:ext>
            </a:extLst>
          </p:cNvPr>
          <p:cNvGrpSpPr/>
          <p:nvPr/>
        </p:nvGrpSpPr>
        <p:grpSpPr>
          <a:xfrm>
            <a:off x="7506008" y="3438821"/>
            <a:ext cx="1392878" cy="1235370"/>
            <a:chOff x="6551480" y="1659339"/>
            <a:chExt cx="1392878" cy="927625"/>
          </a:xfrm>
        </p:grpSpPr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9F52B429-3D21-3BD2-6C83-4A4ADB64F534}"/>
                </a:ext>
              </a:extLst>
            </p:cNvPr>
            <p:cNvSpPr/>
            <p:nvPr/>
          </p:nvSpPr>
          <p:spPr>
            <a:xfrm>
              <a:off x="6551480" y="1757337"/>
              <a:ext cx="1392878" cy="8296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52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AD22B737-3EAF-028B-6109-15AF456C2D74}"/>
                </a:ext>
              </a:extLst>
            </p:cNvPr>
            <p:cNvGrpSpPr/>
            <p:nvPr/>
          </p:nvGrpSpPr>
          <p:grpSpPr>
            <a:xfrm>
              <a:off x="6701240" y="1863480"/>
              <a:ext cx="1062236" cy="666763"/>
              <a:chOff x="7748833" y="2530919"/>
              <a:chExt cx="935493" cy="730589"/>
            </a:xfrm>
            <a:solidFill>
              <a:srgbClr val="F3CCA1"/>
            </a:solidFill>
          </p:grpSpPr>
          <p:cxnSp>
            <p:nvCxnSpPr>
              <p:cNvPr id="201" name="直接箭头连接符 117">
                <a:extLst>
                  <a:ext uri="{FF2B5EF4-FFF2-40B4-BE49-F238E27FC236}">
                    <a16:creationId xmlns:a16="http://schemas.microsoft.com/office/drawing/2014/main" id="{DAA2C194-E5DD-2E7B-3E07-63B5F2597B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8833" y="2530919"/>
                <a:ext cx="0" cy="730589"/>
              </a:xfrm>
              <a:prstGeom prst="straightConnector1">
                <a:avLst/>
              </a:prstGeom>
              <a:grpFill/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2" name="直接箭头连接符 120">
                <a:extLst>
                  <a:ext uri="{FF2B5EF4-FFF2-40B4-BE49-F238E27FC236}">
                    <a16:creationId xmlns:a16="http://schemas.microsoft.com/office/drawing/2014/main" id="{F6BF9955-FF54-240C-F918-F0AACB7914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8833" y="3249935"/>
                <a:ext cx="935493" cy="11573"/>
              </a:xfrm>
              <a:prstGeom prst="straightConnector1">
                <a:avLst/>
              </a:prstGeom>
              <a:grpFill/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3" name="任意多边形: 形状 124">
                <a:extLst>
                  <a:ext uri="{FF2B5EF4-FFF2-40B4-BE49-F238E27FC236}">
                    <a16:creationId xmlns:a16="http://schemas.microsoft.com/office/drawing/2014/main" id="{0AEDABB1-D153-107F-9403-BA9B46BFE591}"/>
                  </a:ext>
                </a:extLst>
              </p:cNvPr>
              <p:cNvSpPr/>
              <p:nvPr/>
            </p:nvSpPr>
            <p:spPr>
              <a:xfrm>
                <a:off x="7824247" y="2733773"/>
                <a:ext cx="754145" cy="396024"/>
              </a:xfrm>
              <a:custGeom>
                <a:avLst/>
                <a:gdLst>
                  <a:gd name="csX0" fmla="*/ 0 w 754145"/>
                  <a:gd name="csY0" fmla="*/ 395926 h 396024"/>
                  <a:gd name="csX1" fmla="*/ 263951 w 754145"/>
                  <a:gd name="csY1" fmla="*/ 0 h 396024"/>
                  <a:gd name="csX2" fmla="*/ 490194 w 754145"/>
                  <a:gd name="csY2" fmla="*/ 395926 h 396024"/>
                  <a:gd name="csX3" fmla="*/ 754145 w 754145"/>
                  <a:gd name="csY3" fmla="*/ 37707 h 39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4145" h="396024">
                    <a:moveTo>
                      <a:pt x="0" y="395926"/>
                    </a:moveTo>
                    <a:cubicBezTo>
                      <a:pt x="91126" y="197963"/>
                      <a:pt x="182252" y="0"/>
                      <a:pt x="263951" y="0"/>
                    </a:cubicBezTo>
                    <a:cubicBezTo>
                      <a:pt x="345650" y="0"/>
                      <a:pt x="408495" y="389641"/>
                      <a:pt x="490194" y="395926"/>
                    </a:cubicBezTo>
                    <a:cubicBezTo>
                      <a:pt x="571893" y="402211"/>
                      <a:pt x="700726" y="105266"/>
                      <a:pt x="754145" y="37707"/>
                    </a:cubicBezTo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052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p:grpSp>
        <p:sp>
          <p:nvSpPr>
            <p:cNvPr id="200" name="矩形: 圆角 86">
              <a:extLst>
                <a:ext uri="{FF2B5EF4-FFF2-40B4-BE49-F238E27FC236}">
                  <a16:creationId xmlns:a16="http://schemas.microsoft.com/office/drawing/2014/main" id="{13EDF9BA-BC27-B2F0-3253-C471E209D44F}"/>
                </a:ext>
              </a:extLst>
            </p:cNvPr>
            <p:cNvSpPr/>
            <p:nvPr/>
          </p:nvSpPr>
          <p:spPr>
            <a:xfrm>
              <a:off x="6770263" y="1659339"/>
              <a:ext cx="1017642" cy="26247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2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有时间属性的区域联合分布</a:t>
              </a:r>
            </a:p>
          </p:txBody>
        </p:sp>
      </p:grpSp>
      <p:cxnSp>
        <p:nvCxnSpPr>
          <p:cNvPr id="214" name="直线箭头连接符 213">
            <a:extLst>
              <a:ext uri="{FF2B5EF4-FFF2-40B4-BE49-F238E27FC236}">
                <a16:creationId xmlns:a16="http://schemas.microsoft.com/office/drawing/2014/main" id="{1400145B-5300-0ECA-52F3-392E5C9E5F45}"/>
              </a:ext>
            </a:extLst>
          </p:cNvPr>
          <p:cNvCxnSpPr>
            <a:cxnSpLocks/>
          </p:cNvCxnSpPr>
          <p:nvPr/>
        </p:nvCxnSpPr>
        <p:spPr>
          <a:xfrm>
            <a:off x="5810892" y="4089343"/>
            <a:ext cx="3774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直线箭头连接符 217">
            <a:extLst>
              <a:ext uri="{FF2B5EF4-FFF2-40B4-BE49-F238E27FC236}">
                <a16:creationId xmlns:a16="http://schemas.microsoft.com/office/drawing/2014/main" id="{E0D244E1-39C1-F887-D9B8-EF159FF276CD}"/>
              </a:ext>
            </a:extLst>
          </p:cNvPr>
          <p:cNvCxnSpPr>
            <a:cxnSpLocks/>
          </p:cNvCxnSpPr>
          <p:nvPr/>
        </p:nvCxnSpPr>
        <p:spPr>
          <a:xfrm>
            <a:off x="6673634" y="4089343"/>
            <a:ext cx="819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肘形连接符 219">
            <a:extLst>
              <a:ext uri="{FF2B5EF4-FFF2-40B4-BE49-F238E27FC236}">
                <a16:creationId xmlns:a16="http://schemas.microsoft.com/office/drawing/2014/main" id="{3A2302F0-5A19-CF16-ECBB-29A9869A71AD}"/>
              </a:ext>
            </a:extLst>
          </p:cNvPr>
          <p:cNvCxnSpPr>
            <a:stCxn id="7" idx="2"/>
            <a:endCxn id="193" idx="1"/>
          </p:cNvCxnSpPr>
          <p:nvPr/>
        </p:nvCxnSpPr>
        <p:spPr>
          <a:xfrm rot="5400000">
            <a:off x="6356019" y="2758470"/>
            <a:ext cx="1001148" cy="870591"/>
          </a:xfrm>
          <a:prstGeom prst="bentConnector3">
            <a:avLst>
              <a:gd name="adj1" fmla="val 3875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6" name="矩形 215">
            <a:extLst>
              <a:ext uri="{FF2B5EF4-FFF2-40B4-BE49-F238E27FC236}">
                <a16:creationId xmlns:a16="http://schemas.microsoft.com/office/drawing/2014/main" id="{35D5EAE1-BAFA-4FAB-F9C7-8422D360E74F}"/>
              </a:ext>
            </a:extLst>
          </p:cNvPr>
          <p:cNvSpPr/>
          <p:nvPr/>
        </p:nvSpPr>
        <p:spPr>
          <a:xfrm>
            <a:off x="6835793" y="3973546"/>
            <a:ext cx="484380" cy="246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2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去噪</a:t>
            </a:r>
          </a:p>
        </p:txBody>
      </p:sp>
      <p:sp>
        <p:nvSpPr>
          <p:cNvPr id="225" name="任意形状 224">
            <a:extLst>
              <a:ext uri="{FF2B5EF4-FFF2-40B4-BE49-F238E27FC236}">
                <a16:creationId xmlns:a16="http://schemas.microsoft.com/office/drawing/2014/main" id="{194A03C5-9CD1-51AF-CB1A-1E3263448808}"/>
              </a:ext>
            </a:extLst>
          </p:cNvPr>
          <p:cNvSpPr/>
          <p:nvPr/>
        </p:nvSpPr>
        <p:spPr>
          <a:xfrm>
            <a:off x="7923299" y="3932355"/>
            <a:ext cx="851337" cy="491819"/>
          </a:xfrm>
          <a:custGeom>
            <a:avLst/>
            <a:gdLst>
              <a:gd name="csX0" fmla="*/ 0 w 851337"/>
              <a:gd name="csY0" fmla="*/ 477485 h 491819"/>
              <a:gd name="csX1" fmla="*/ 301797 w 851337"/>
              <a:gd name="csY1" fmla="*/ 15 h 491819"/>
              <a:gd name="csX2" fmla="*/ 585576 w 851337"/>
              <a:gd name="csY2" fmla="*/ 490999 h 491819"/>
              <a:gd name="csX3" fmla="*/ 851337 w 851337"/>
              <a:gd name="csY3" fmla="*/ 112626 h 4918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1337" h="491819">
                <a:moveTo>
                  <a:pt x="0" y="477485"/>
                </a:moveTo>
                <a:cubicBezTo>
                  <a:pt x="102100" y="237624"/>
                  <a:pt x="204201" y="-2237"/>
                  <a:pt x="301797" y="15"/>
                </a:cubicBezTo>
                <a:cubicBezTo>
                  <a:pt x="399393" y="2267"/>
                  <a:pt x="493986" y="472230"/>
                  <a:pt x="585576" y="490999"/>
                </a:cubicBezTo>
                <a:cubicBezTo>
                  <a:pt x="677166" y="509768"/>
                  <a:pt x="817554" y="201213"/>
                  <a:pt x="851337" y="11262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7" name="直线箭头连接符 226">
            <a:extLst>
              <a:ext uri="{FF2B5EF4-FFF2-40B4-BE49-F238E27FC236}">
                <a16:creationId xmlns:a16="http://schemas.microsoft.com/office/drawing/2014/main" id="{70B43197-A818-B3AE-D37F-E3FEDEF33B74}"/>
              </a:ext>
            </a:extLst>
          </p:cNvPr>
          <p:cNvCxnSpPr>
            <a:cxnSpLocks/>
            <a:stCxn id="206" idx="3"/>
            <a:endCxn id="112" idx="2"/>
          </p:cNvCxnSpPr>
          <p:nvPr/>
        </p:nvCxnSpPr>
        <p:spPr>
          <a:xfrm flipV="1">
            <a:off x="8995675" y="4096600"/>
            <a:ext cx="362507" cy="1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直线箭头连接符 247">
            <a:extLst>
              <a:ext uri="{FF2B5EF4-FFF2-40B4-BE49-F238E27FC236}">
                <a16:creationId xmlns:a16="http://schemas.microsoft.com/office/drawing/2014/main" id="{B377D4FB-0CD1-438F-36CC-4599A3FA09E1}"/>
              </a:ext>
            </a:extLst>
          </p:cNvPr>
          <p:cNvCxnSpPr>
            <a:cxnSpLocks/>
            <a:stCxn id="166" idx="3"/>
            <a:endCxn id="9" idx="1"/>
          </p:cNvCxnSpPr>
          <p:nvPr/>
        </p:nvCxnSpPr>
        <p:spPr>
          <a:xfrm>
            <a:off x="3509366" y="5387692"/>
            <a:ext cx="2911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0" name="直线箭头连接符 249">
            <a:extLst>
              <a:ext uri="{FF2B5EF4-FFF2-40B4-BE49-F238E27FC236}">
                <a16:creationId xmlns:a16="http://schemas.microsoft.com/office/drawing/2014/main" id="{583590E7-328B-F2E5-8D50-91B974CD615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5619187" y="5387331"/>
            <a:ext cx="454614" cy="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2" name="直线箭头连接符 251">
            <a:extLst>
              <a:ext uri="{FF2B5EF4-FFF2-40B4-BE49-F238E27FC236}">
                <a16:creationId xmlns:a16="http://schemas.microsoft.com/office/drawing/2014/main" id="{6D4B8692-B88C-752B-E725-B5AC18C48540}"/>
              </a:ext>
            </a:extLst>
          </p:cNvPr>
          <p:cNvCxnSpPr>
            <a:cxnSpLocks/>
            <a:stCxn id="10" idx="3"/>
            <a:endCxn id="68" idx="1"/>
          </p:cNvCxnSpPr>
          <p:nvPr/>
        </p:nvCxnSpPr>
        <p:spPr>
          <a:xfrm flipV="1">
            <a:off x="7892459" y="5387330"/>
            <a:ext cx="45461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1" name="肘形连接符 260">
            <a:extLst>
              <a:ext uri="{FF2B5EF4-FFF2-40B4-BE49-F238E27FC236}">
                <a16:creationId xmlns:a16="http://schemas.microsoft.com/office/drawing/2014/main" id="{6CF3531C-21D9-3E4E-36D1-C620319F6CF7}"/>
              </a:ext>
            </a:extLst>
          </p:cNvPr>
          <p:cNvCxnSpPr>
            <a:cxnSpLocks/>
            <a:stCxn id="166" idx="2"/>
            <a:endCxn id="165" idx="1"/>
          </p:cNvCxnSpPr>
          <p:nvPr/>
        </p:nvCxnSpPr>
        <p:spPr>
          <a:xfrm rot="16200000" flipH="1">
            <a:off x="2223045" y="5966719"/>
            <a:ext cx="867226" cy="11324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肘形连接符 263">
            <a:extLst>
              <a:ext uri="{FF2B5EF4-FFF2-40B4-BE49-F238E27FC236}">
                <a16:creationId xmlns:a16="http://schemas.microsoft.com/office/drawing/2014/main" id="{1852EABD-E6F4-72C2-FC90-5813F036FF73}"/>
              </a:ext>
            </a:extLst>
          </p:cNvPr>
          <p:cNvCxnSpPr>
            <a:cxnSpLocks/>
            <a:stCxn id="9" idx="2"/>
            <a:endCxn id="66" idx="1"/>
          </p:cNvCxnSpPr>
          <p:nvPr/>
        </p:nvCxnSpPr>
        <p:spPr>
          <a:xfrm rot="16200000" flipH="1">
            <a:off x="4355611" y="5943974"/>
            <a:ext cx="848554" cy="140060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6" name="肘形连接符 265">
            <a:extLst>
              <a:ext uri="{FF2B5EF4-FFF2-40B4-BE49-F238E27FC236}">
                <a16:creationId xmlns:a16="http://schemas.microsoft.com/office/drawing/2014/main" id="{B999898D-0F94-FAD4-B247-AF7C60AC7C03}"/>
              </a:ext>
            </a:extLst>
          </p:cNvPr>
          <p:cNvCxnSpPr>
            <a:cxnSpLocks/>
            <a:stCxn id="10" idx="2"/>
            <a:endCxn id="67" idx="1"/>
          </p:cNvCxnSpPr>
          <p:nvPr/>
        </p:nvCxnSpPr>
        <p:spPr>
          <a:xfrm rot="16200000" flipH="1">
            <a:off x="6695130" y="5877366"/>
            <a:ext cx="852690" cy="276690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8" name="肘形连接符 287">
            <a:extLst>
              <a:ext uri="{FF2B5EF4-FFF2-40B4-BE49-F238E27FC236}">
                <a16:creationId xmlns:a16="http://schemas.microsoft.com/office/drawing/2014/main" id="{0B1A1B4D-43F3-160C-55A6-75A57EDA553D}"/>
              </a:ext>
            </a:extLst>
          </p:cNvPr>
          <p:cNvCxnSpPr>
            <a:cxnSpLocks/>
            <a:stCxn id="49" idx="5"/>
            <a:endCxn id="85" idx="1"/>
          </p:cNvCxnSpPr>
          <p:nvPr/>
        </p:nvCxnSpPr>
        <p:spPr>
          <a:xfrm flipV="1">
            <a:off x="4297886" y="1645188"/>
            <a:ext cx="408121" cy="567187"/>
          </a:xfrm>
          <a:prstGeom prst="bentConnector3">
            <a:avLst>
              <a:gd name="adj1" fmla="val 614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053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491AE-3F9D-0029-0077-8310F81F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65056F-7B5D-6038-DE13-2F98F0C04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E5E11D19-A4CD-A35B-E46F-88B226BE5E4B}"/>
              </a:ext>
            </a:extLst>
          </p:cNvPr>
          <p:cNvSpPr/>
          <p:nvPr/>
        </p:nvSpPr>
        <p:spPr>
          <a:xfrm rot="16200000">
            <a:off x="2588832" y="649195"/>
            <a:ext cx="537630" cy="790802"/>
          </a:xfrm>
          <a:custGeom>
            <a:avLst/>
            <a:gdLst>
              <a:gd name="csX0" fmla="*/ 718086 w 718086"/>
              <a:gd name="csY0" fmla="*/ 0 h 935124"/>
              <a:gd name="csX1" fmla="*/ 574469 w 718086"/>
              <a:gd name="csY1" fmla="*/ 467562 h 935124"/>
              <a:gd name="csX2" fmla="*/ 718086 w 718086"/>
              <a:gd name="csY2" fmla="*/ 935124 h 935124"/>
              <a:gd name="csX3" fmla="*/ 0 w 718086"/>
              <a:gd name="csY3" fmla="*/ 935124 h 935124"/>
              <a:gd name="csX4" fmla="*/ 143617 w 718086"/>
              <a:gd name="csY4" fmla="*/ 467562 h 935124"/>
              <a:gd name="csX5" fmla="*/ 0 w 718086"/>
              <a:gd name="csY5" fmla="*/ 0 h 9351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18086" h="935124">
                <a:moveTo>
                  <a:pt x="718086" y="0"/>
                </a:moveTo>
                <a:lnTo>
                  <a:pt x="574469" y="467562"/>
                </a:lnTo>
                <a:lnTo>
                  <a:pt x="718086" y="935124"/>
                </a:lnTo>
                <a:lnTo>
                  <a:pt x="0" y="935124"/>
                </a:lnTo>
                <a:lnTo>
                  <a:pt x="143617" y="4675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eaVert" wrap="square" rtlCol="0" anchor="ctr">
            <a:noAutofit/>
          </a:bodyPr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扩散模型</a:t>
            </a:r>
          </a:p>
        </p:txBody>
      </p:sp>
    </p:spTree>
    <p:extLst>
      <p:ext uri="{BB962C8B-B14F-4D97-AF65-F5344CB8AC3E}">
        <p14:creationId xmlns:p14="http://schemas.microsoft.com/office/powerpoint/2010/main" val="2721893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893</TotalTime>
  <Words>215</Words>
  <Application>Microsoft Macintosh PowerPoint</Application>
  <PresentationFormat>自定义</PresentationFormat>
  <Paragraphs>49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KaiTi</vt:lpstr>
      <vt:lpstr>Aptos</vt:lpstr>
      <vt:lpstr>Aptos Display</vt:lpstr>
      <vt:lpstr>Arial</vt:lpstr>
      <vt:lpstr>Cambria Math</vt:lpstr>
      <vt:lpstr>Office 主题​​</vt:lpstr>
      <vt:lpstr>PowerPoint 演示文稿</vt:lpstr>
      <vt:lpstr>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Jinlin WU</dc:creator>
  <cp:lastModifiedBy>Jinlin WU</cp:lastModifiedBy>
  <cp:revision>8</cp:revision>
  <dcterms:created xsi:type="dcterms:W3CDTF">2026-01-16T07:20:27Z</dcterms:created>
  <dcterms:modified xsi:type="dcterms:W3CDTF">2026-03-07T09:18:33Z</dcterms:modified>
</cp:coreProperties>
</file>