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61" r:id="rId4"/>
    <p:sldId id="260" r:id="rId5"/>
    <p:sldId id="262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D8CE"/>
    <a:srgbClr val="9AC4B7"/>
    <a:srgbClr val="D9D8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50" autoAdjust="0"/>
    <p:restoredTop sz="94710"/>
  </p:normalViewPr>
  <p:slideViewPr>
    <p:cSldViewPr snapToGrid="0">
      <p:cViewPr varScale="1">
        <p:scale>
          <a:sx n="150" d="100"/>
          <a:sy n="150" d="100"/>
        </p:scale>
        <p:origin x="168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EE7868-C0F7-4461-8E6E-CF562DE301A2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C48908-7400-4AF8-9393-3C73B4A6F6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1559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C48908-7400-4AF8-9393-3C73B4A6F6E5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48197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ABDDE-06E0-0CF3-20D6-B46196DD8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860F200-FD0D-BCCA-0B42-918EC8746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6B25224-5354-D0D0-2341-2CADB9D39F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4924F11-FC3E-DF80-149D-7A6DF6A42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C48908-7400-4AF8-9393-3C73B4A6F6E5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53133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C48908-7400-4AF8-9393-3C73B4A6F6E5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09048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0BB7F2-FC23-2DA7-1422-676B0B53BE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5369CAA-845D-176D-F230-551244C1A3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540C318-A235-D530-FB23-98122B7B3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03FC5-1B79-4811-BD4C-43F1FB98339C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94B98B8-1202-7300-CA06-40BA9A781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E1C4E70-4F06-CC59-1862-ECE29B149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FA309-6F23-4F3E-A604-1FC3428EEB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11018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922F0B-E44C-DFF7-DAD2-157F5E145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5070FA3-750D-EA2F-4A26-AF23F25C98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104CE7-8DED-86E5-5127-A3324721D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03FC5-1B79-4811-BD4C-43F1FB98339C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45517D3-15E4-2B71-101D-34D0C3830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54FED76-DE20-89C6-FF0C-93AF9EBE5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FA309-6F23-4F3E-A604-1FC3428EEB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104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A1F59AF-3A2A-9FB1-94B1-51A4333D87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3F922A0-AF25-49A1-208B-8CD5CBD3DC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18B1F8-AE53-C9D5-8D8B-7BD22DAE7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03FC5-1B79-4811-BD4C-43F1FB98339C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0E616D-7A18-0B73-51D9-8B88F9B8EB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220399E-1199-86C6-504E-6099728A0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FA309-6F23-4F3E-A604-1FC3428EEB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92485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68BA48-3EB3-458F-2108-9D85689C7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789D74-F052-2EE2-C185-DEDE284A09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E6930F2-81C3-CAA7-71F0-9985C695CD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55580CE-12B6-5A8A-388E-A7B14A57A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03FC5-1B79-4811-BD4C-43F1FB98339C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5C1D0A4-C6E7-6DDA-CDED-475EA3849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DF77085-0662-61A9-EA92-32A6C80E3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FA309-6F23-4F3E-A604-1FC3428EEB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16662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4DFFC2-487C-982B-0867-D57A32AD7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EE44B18-2190-3463-E4EE-6216BC9D2B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0929681-22B9-5087-49C8-A5D6A586A8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055EEF6-9F43-D862-C44B-1A26E8850B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3E35892-1D73-E7CC-85AE-4BA022E43F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6034B86-25F8-F152-2312-71E12604D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03FC5-1B79-4811-BD4C-43F1FB98339C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553707A-5CEA-FCE6-4888-0BE14B40E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1EB343E-939E-0962-DA1F-52E7FE287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FA309-6F23-4F3E-A604-1FC3428EEB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21922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22CE0B-61A8-11E8-AFAF-3A5CC9524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0274DF4-E158-21EA-4538-F27FA4454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03FC5-1B79-4811-BD4C-43F1FB98339C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CF560AF-4290-C222-525F-2AC48AA58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F263C84-8CD0-7AA9-BB31-9C01EDD59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FA309-6F23-4F3E-A604-1FC3428EEB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0757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D4538EB-DAD1-0EA8-1F0F-0B12D7CF3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03FC5-1B79-4811-BD4C-43F1FB98339C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6D68ADE-C80A-A075-1447-094F71B7E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E96C823-828C-C038-B269-99D0E343B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FA309-6F23-4F3E-A604-1FC3428EEB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6254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DDEC65-BE99-8680-9545-1D943FF5A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4321D3-3C34-1901-F592-E737678EF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554FAC4-2E6A-7365-929E-571E771343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EDF7AB0-B934-8BC4-989B-1C812E4A7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03FC5-1B79-4811-BD4C-43F1FB98339C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937A586-F42E-34A8-2A90-7B22DDC6E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7B0CD02-1D5B-8AFB-5370-D9379B188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FA309-6F23-4F3E-A604-1FC3428EEB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89845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01BEFB-89DF-C063-3BEA-3925ED3CA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41380B5-13DA-596B-D35B-0231575E63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A0DF8D2-D544-FBE3-B369-54027D3B39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CF9A360-E2DD-32A0-50F6-109E63976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03FC5-1B79-4811-BD4C-43F1FB98339C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3AA03CF-3A08-A2A9-8998-4792E8656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68B528A-5A62-9C0C-C858-1D1365F4D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FA309-6F23-4F3E-A604-1FC3428EEB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4266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7F3988-6C15-816E-B799-C42EC3786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D24BC9B-9BA0-CF97-1555-FA1D135D1B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C9360C-2FEA-ECB8-D014-953BCBD70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03FC5-1B79-4811-BD4C-43F1FB98339C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615418-CEE7-B9BE-00C4-13C48DE0E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866DD8A-6CF7-F6A6-1BCB-AB43760A3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FA309-6F23-4F3E-A604-1FC3428EEB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07440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474120F-FE99-99B1-1256-A9DA166CBB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F0D653B-720A-B7FC-E7CE-2BCC2434EC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4AD103E-EB3E-C7F6-B948-728E2A599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03FC5-1B79-4811-BD4C-43F1FB98339C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2B8CE1D-2929-28D7-F71D-E851218AF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FEAB65F-6BCA-DF05-614A-48D27B715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FA309-6F23-4F3E-A604-1FC3428EEB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58010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AD69971-E56A-03BE-191E-214919C48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30190FC-B5E6-8194-E58F-327AE2BFC3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4469571-A486-F9C7-D71B-E33A58B7C4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003FC5-1B79-4811-BD4C-43F1FB98339C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789905-DA71-395F-62C8-D5F5EAC505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0CB3295-FFE2-2971-4B4A-62A9D22E55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AFA309-6F23-4F3E-A604-1FC3428EEB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6055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4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18.svg"/><Relationship Id="rId18" Type="http://schemas.openxmlformats.org/officeDocument/2006/relationships/image" Target="../media/image23.png"/><Relationship Id="rId3" Type="http://schemas.openxmlformats.org/officeDocument/2006/relationships/image" Target="../media/image9.svg"/><Relationship Id="rId21" Type="http://schemas.openxmlformats.org/officeDocument/2006/relationships/image" Target="../media/image26.sv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17" Type="http://schemas.openxmlformats.org/officeDocument/2006/relationships/image" Target="../media/image22.svg"/><Relationship Id="rId2" Type="http://schemas.openxmlformats.org/officeDocument/2006/relationships/image" Target="../media/image8.png"/><Relationship Id="rId16" Type="http://schemas.openxmlformats.org/officeDocument/2006/relationships/image" Target="../media/image21.png"/><Relationship Id="rId20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11" Type="http://schemas.openxmlformats.org/officeDocument/2006/relationships/image" Target="../media/image16.svg"/><Relationship Id="rId24" Type="http://schemas.openxmlformats.org/officeDocument/2006/relationships/image" Target="../media/image29.png"/><Relationship Id="rId5" Type="http://schemas.openxmlformats.org/officeDocument/2006/relationships/image" Target="../media/image11.svg"/><Relationship Id="rId15" Type="http://schemas.openxmlformats.org/officeDocument/2006/relationships/image" Target="../media/image20.svg"/><Relationship Id="rId23" Type="http://schemas.openxmlformats.org/officeDocument/2006/relationships/image" Target="../media/image28.svg"/><Relationship Id="rId10" Type="http://schemas.openxmlformats.org/officeDocument/2006/relationships/image" Target="../media/image15.png"/><Relationship Id="rId19" Type="http://schemas.openxmlformats.org/officeDocument/2006/relationships/image" Target="../media/image24.svg"/><Relationship Id="rId4" Type="http://schemas.openxmlformats.org/officeDocument/2006/relationships/image" Target="../media/image10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Relationship Id="rId22" Type="http://schemas.openxmlformats.org/officeDocument/2006/relationships/image" Target="../media/image2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18" Type="http://schemas.openxmlformats.org/officeDocument/2006/relationships/image" Target="../media/image24.svg"/><Relationship Id="rId3" Type="http://schemas.openxmlformats.org/officeDocument/2006/relationships/image" Target="../media/image9.svg"/><Relationship Id="rId21" Type="http://schemas.openxmlformats.org/officeDocument/2006/relationships/image" Target="../media/image27.png"/><Relationship Id="rId7" Type="http://schemas.openxmlformats.org/officeDocument/2006/relationships/image" Target="../media/image13.svg"/><Relationship Id="rId12" Type="http://schemas.openxmlformats.org/officeDocument/2006/relationships/image" Target="../media/image18.svg"/><Relationship Id="rId17" Type="http://schemas.openxmlformats.org/officeDocument/2006/relationships/image" Target="../media/image23.png"/><Relationship Id="rId2" Type="http://schemas.openxmlformats.org/officeDocument/2006/relationships/image" Target="../media/image8.png"/><Relationship Id="rId16" Type="http://schemas.openxmlformats.org/officeDocument/2006/relationships/image" Target="../media/image22.svg"/><Relationship Id="rId20" Type="http://schemas.openxmlformats.org/officeDocument/2006/relationships/image" Target="../media/image2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svg"/><Relationship Id="rId15" Type="http://schemas.openxmlformats.org/officeDocument/2006/relationships/image" Target="../media/image21.png"/><Relationship Id="rId23" Type="http://schemas.openxmlformats.org/officeDocument/2006/relationships/image" Target="../media/image29.png"/><Relationship Id="rId10" Type="http://schemas.openxmlformats.org/officeDocument/2006/relationships/image" Target="../media/image16.svg"/><Relationship Id="rId19" Type="http://schemas.openxmlformats.org/officeDocument/2006/relationships/image" Target="../media/image25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Relationship Id="rId14" Type="http://schemas.openxmlformats.org/officeDocument/2006/relationships/image" Target="../media/image20.svg"/><Relationship Id="rId22" Type="http://schemas.openxmlformats.org/officeDocument/2006/relationships/image" Target="../media/image2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8.svg"/><Relationship Id="rId18" Type="http://schemas.openxmlformats.org/officeDocument/2006/relationships/image" Target="../media/image16.svg"/><Relationship Id="rId3" Type="http://schemas.openxmlformats.org/officeDocument/2006/relationships/image" Target="../media/image10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9.png"/><Relationship Id="rId20" Type="http://schemas.openxmlformats.org/officeDocument/2006/relationships/image" Target="../media/image2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11" Type="http://schemas.openxmlformats.org/officeDocument/2006/relationships/image" Target="../media/image36.svg"/><Relationship Id="rId5" Type="http://schemas.openxmlformats.org/officeDocument/2006/relationships/image" Target="../media/image30.png"/><Relationship Id="rId15" Type="http://schemas.openxmlformats.org/officeDocument/2006/relationships/image" Target="../media/image41.svg"/><Relationship Id="rId10" Type="http://schemas.openxmlformats.org/officeDocument/2006/relationships/image" Target="../media/image35.png"/><Relationship Id="rId19" Type="http://schemas.openxmlformats.org/officeDocument/2006/relationships/image" Target="../media/image23.png"/><Relationship Id="rId4" Type="http://schemas.openxmlformats.org/officeDocument/2006/relationships/image" Target="../media/image11.svg"/><Relationship Id="rId9" Type="http://schemas.openxmlformats.org/officeDocument/2006/relationships/image" Target="../media/image34.png"/><Relationship Id="rId1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: 剪去单角 9">
            <a:extLst>
              <a:ext uri="{FF2B5EF4-FFF2-40B4-BE49-F238E27FC236}">
                <a16:creationId xmlns:a16="http://schemas.microsoft.com/office/drawing/2014/main" id="{4FD604AF-7D95-FF82-BFC0-D435CBF09302}"/>
              </a:ext>
            </a:extLst>
          </p:cNvPr>
          <p:cNvSpPr/>
          <p:nvPr/>
        </p:nvSpPr>
        <p:spPr>
          <a:xfrm flipH="1">
            <a:off x="7075055" y="667786"/>
            <a:ext cx="1126836" cy="600574"/>
          </a:xfrm>
          <a:prstGeom prst="snip1Rect">
            <a:avLst>
              <a:gd name="adj" fmla="val 28699"/>
            </a:avLst>
          </a:prstGeom>
          <a:solidFill>
            <a:schemeClr val="accent6">
              <a:lumMod val="20000"/>
              <a:lumOff val="80000"/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: 剪去单角 5">
            <a:extLst>
              <a:ext uri="{FF2B5EF4-FFF2-40B4-BE49-F238E27FC236}">
                <a16:creationId xmlns:a16="http://schemas.microsoft.com/office/drawing/2014/main" id="{A2FDBA43-EADA-B3FF-D65E-67C20C011673}"/>
              </a:ext>
            </a:extLst>
          </p:cNvPr>
          <p:cNvSpPr/>
          <p:nvPr/>
        </p:nvSpPr>
        <p:spPr>
          <a:xfrm flipH="1">
            <a:off x="2327564" y="4637606"/>
            <a:ext cx="4461162" cy="1486663"/>
          </a:xfrm>
          <a:prstGeom prst="snip1Rect">
            <a:avLst>
              <a:gd name="adj" fmla="val 28699"/>
            </a:avLst>
          </a:prstGeom>
          <a:solidFill>
            <a:schemeClr val="accent6">
              <a:lumMod val="20000"/>
              <a:lumOff val="80000"/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9" name="图形 8">
            <a:extLst>
              <a:ext uri="{FF2B5EF4-FFF2-40B4-BE49-F238E27FC236}">
                <a16:creationId xmlns:a16="http://schemas.microsoft.com/office/drawing/2014/main" id="{4500C027-4830-296D-1134-EACDE27932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129309" y="465439"/>
            <a:ext cx="12192000" cy="6029011"/>
          </a:xfrm>
          <a:prstGeom prst="rect">
            <a:avLst/>
          </a:prstGeom>
        </p:spPr>
      </p:pic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DB2AA61B-F183-A778-70AF-ECCD73523864}"/>
              </a:ext>
            </a:extLst>
          </p:cNvPr>
          <p:cNvSpPr/>
          <p:nvPr/>
        </p:nvSpPr>
        <p:spPr>
          <a:xfrm rot="5400000">
            <a:off x="4985328" y="3176294"/>
            <a:ext cx="720436" cy="831272"/>
          </a:xfrm>
          <a:custGeom>
            <a:avLst/>
            <a:gdLst>
              <a:gd name="csX0" fmla="*/ 0 w 720436"/>
              <a:gd name="csY0" fmla="*/ 831272 h 831272"/>
              <a:gd name="csX1" fmla="*/ 144087 w 720436"/>
              <a:gd name="csY1" fmla="*/ 415636 h 831272"/>
              <a:gd name="csX2" fmla="*/ 0 w 720436"/>
              <a:gd name="csY2" fmla="*/ 0 h 831272"/>
              <a:gd name="csX3" fmla="*/ 720436 w 720436"/>
              <a:gd name="csY3" fmla="*/ 0 h 831272"/>
              <a:gd name="csX4" fmla="*/ 576349 w 720436"/>
              <a:gd name="csY4" fmla="*/ 415636 h 831272"/>
              <a:gd name="csX5" fmla="*/ 720436 w 720436"/>
              <a:gd name="csY5" fmla="*/ 831272 h 8312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720436" h="831272">
                <a:moveTo>
                  <a:pt x="0" y="831272"/>
                </a:moveTo>
                <a:lnTo>
                  <a:pt x="144087" y="415636"/>
                </a:lnTo>
                <a:lnTo>
                  <a:pt x="0" y="0"/>
                </a:lnTo>
                <a:lnTo>
                  <a:pt x="720436" y="0"/>
                </a:lnTo>
                <a:lnTo>
                  <a:pt x="576349" y="415636"/>
                </a:lnTo>
                <a:lnTo>
                  <a:pt x="720436" y="831272"/>
                </a:lnTo>
                <a:close/>
              </a:path>
            </a:pathLst>
          </a:custGeom>
          <a:solidFill>
            <a:srgbClr val="D9D8C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F83C4211-ED22-1B5C-D315-991BDB661EC5}"/>
              </a:ext>
            </a:extLst>
          </p:cNvPr>
          <p:cNvSpPr/>
          <p:nvPr/>
        </p:nvSpPr>
        <p:spPr>
          <a:xfrm rot="5400000">
            <a:off x="7393202" y="1414111"/>
            <a:ext cx="441469" cy="679450"/>
          </a:xfrm>
          <a:custGeom>
            <a:avLst/>
            <a:gdLst>
              <a:gd name="csX0" fmla="*/ 0 w 720436"/>
              <a:gd name="csY0" fmla="*/ 831272 h 831272"/>
              <a:gd name="csX1" fmla="*/ 144087 w 720436"/>
              <a:gd name="csY1" fmla="*/ 415636 h 831272"/>
              <a:gd name="csX2" fmla="*/ 0 w 720436"/>
              <a:gd name="csY2" fmla="*/ 0 h 831272"/>
              <a:gd name="csX3" fmla="*/ 720436 w 720436"/>
              <a:gd name="csY3" fmla="*/ 0 h 831272"/>
              <a:gd name="csX4" fmla="*/ 576349 w 720436"/>
              <a:gd name="csY4" fmla="*/ 415636 h 831272"/>
              <a:gd name="csX5" fmla="*/ 720436 w 720436"/>
              <a:gd name="csY5" fmla="*/ 831272 h 8312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720436" h="831272">
                <a:moveTo>
                  <a:pt x="0" y="831272"/>
                </a:moveTo>
                <a:lnTo>
                  <a:pt x="144087" y="415636"/>
                </a:lnTo>
                <a:lnTo>
                  <a:pt x="0" y="0"/>
                </a:lnTo>
                <a:lnTo>
                  <a:pt x="720436" y="0"/>
                </a:lnTo>
                <a:lnTo>
                  <a:pt x="576349" y="415636"/>
                </a:lnTo>
                <a:lnTo>
                  <a:pt x="720436" y="831272"/>
                </a:lnTo>
                <a:close/>
              </a:path>
            </a:pathLst>
          </a:custGeom>
          <a:solidFill>
            <a:srgbClr val="D9D8C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B7CC0E2-4524-690C-07A4-68552D01B6FB}"/>
              </a:ext>
            </a:extLst>
          </p:cNvPr>
          <p:cNvSpPr txBox="1"/>
          <p:nvPr/>
        </p:nvSpPr>
        <p:spPr>
          <a:xfrm>
            <a:off x="3112655" y="348449"/>
            <a:ext cx="10437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Helvetica" panose="020B0604020202020204" pitchFamily="34" charset="0"/>
                <a:cs typeface="Helvetica" panose="020B0604020202020204" pitchFamily="34" charset="0"/>
              </a:rPr>
              <a:t>Training</a:t>
            </a:r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5223CCB-CC48-6CBC-2E31-2FB132B35EC7}"/>
              </a:ext>
            </a:extLst>
          </p:cNvPr>
          <p:cNvSpPr txBox="1"/>
          <p:nvPr/>
        </p:nvSpPr>
        <p:spPr>
          <a:xfrm>
            <a:off x="8945418" y="348449"/>
            <a:ext cx="12653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Helvetica" panose="020B0604020202020204" pitchFamily="34" charset="0"/>
                <a:cs typeface="Helvetica" panose="020B0604020202020204" pitchFamily="34" charset="0"/>
              </a:rPr>
              <a:t>Inference</a:t>
            </a:r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C5DAD63-F152-3E90-AB22-D9EAD8343751}"/>
              </a:ext>
            </a:extLst>
          </p:cNvPr>
          <p:cNvSpPr txBox="1"/>
          <p:nvPr/>
        </p:nvSpPr>
        <p:spPr>
          <a:xfrm>
            <a:off x="7274212" y="1626877"/>
            <a:ext cx="79432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>
                <a:latin typeface="Helvetica" panose="020B0604020202020204" pitchFamily="34" charset="0"/>
                <a:cs typeface="Helvetica" panose="020B0604020202020204" pitchFamily="34" charset="0"/>
              </a:rPr>
              <a:t>Denoiser</a:t>
            </a:r>
            <a:endParaRPr lang="zh-CN" altLang="en-US" sz="10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F6F2B046-0AC5-A26E-950B-ACBDD8C94A6C}"/>
              </a:ext>
            </a:extLst>
          </p:cNvPr>
          <p:cNvSpPr txBox="1"/>
          <p:nvPr/>
        </p:nvSpPr>
        <p:spPr>
          <a:xfrm>
            <a:off x="4929910" y="3429000"/>
            <a:ext cx="10367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Helvetica" panose="020B0604020202020204" pitchFamily="34" charset="0"/>
                <a:cs typeface="Helvetica" panose="020B0604020202020204" pitchFamily="34" charset="0"/>
              </a:rPr>
              <a:t>Denoiser</a:t>
            </a:r>
            <a:endParaRPr lang="zh-CN" altLang="en-US" sz="14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D4D6EE5-2628-1B93-D265-8F2F59198BBA}"/>
              </a:ext>
            </a:extLst>
          </p:cNvPr>
          <p:cNvSpPr txBox="1"/>
          <p:nvPr/>
        </p:nvSpPr>
        <p:spPr>
          <a:xfrm>
            <a:off x="2401457" y="5735733"/>
            <a:ext cx="558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endParaRPr lang="zh-CN" altLang="en-US" sz="14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B18CE20-A03B-B359-3896-0AA3FA0C52DA}"/>
              </a:ext>
            </a:extLst>
          </p:cNvPr>
          <p:cNvSpPr txBox="1"/>
          <p:nvPr/>
        </p:nvSpPr>
        <p:spPr>
          <a:xfrm>
            <a:off x="2960257" y="5739678"/>
            <a:ext cx="7850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Helvetica" panose="020B0604020202020204" pitchFamily="34" charset="0"/>
                <a:cs typeface="Helvetica" panose="020B0604020202020204" pitchFamily="34" charset="0"/>
              </a:rPr>
              <a:t>Income</a:t>
            </a:r>
            <a:endParaRPr lang="zh-CN" altLang="en-US" sz="14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089EFC2-BCEC-73D7-C7EC-1CDF91FA69F2}"/>
              </a:ext>
            </a:extLst>
          </p:cNvPr>
          <p:cNvSpPr txBox="1"/>
          <p:nvPr/>
        </p:nvSpPr>
        <p:spPr>
          <a:xfrm>
            <a:off x="3699164" y="5735734"/>
            <a:ext cx="10298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Helvetica" panose="020B0604020202020204" pitchFamily="34" charset="0"/>
                <a:cs typeface="Helvetica" panose="020B0604020202020204" pitchFamily="34" charset="0"/>
              </a:rPr>
              <a:t>Education</a:t>
            </a:r>
            <a:endParaRPr lang="zh-CN" altLang="en-US" sz="14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22046245-8018-989B-4372-2721866E4846}"/>
                  </a:ext>
                </a:extLst>
              </p:cNvPr>
              <p:cNvSpPr txBox="1"/>
              <p:nvPr/>
            </p:nvSpPr>
            <p:spPr>
              <a:xfrm>
                <a:off x="4729020" y="5740274"/>
                <a:ext cx="184380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>
                    <a:latin typeface="Helvetica" panose="020B0604020202020204" pitchFamily="34" charset="0"/>
                    <a:cs typeface="Helvetica" panose="020B0604020202020204" pitchFamily="34" charset="0"/>
                  </a:rPr>
                  <a:t>Income</a:t>
                </a:r>
                <a14:m>
                  <m:oMath xmlns:m="http://schemas.openxmlformats.org/officeDocument/2006/math">
                    <m:r>
                      <a:rPr lang="en-US" altLang="zh-CN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Helvetica" panose="020B0604020202020204" pitchFamily="34" charset="0"/>
                      </a:rPr>
                      <m:t>×</m:t>
                    </m:r>
                  </m:oMath>
                </a14:m>
                <a:r>
                  <a:rPr lang="en-US" altLang="zh-CN" sz="1400">
                    <a:latin typeface="Helvetica" panose="020B0604020202020204" pitchFamily="34" charset="0"/>
                    <a:cs typeface="Helvetica" panose="020B0604020202020204" pitchFamily="34" charset="0"/>
                  </a:rPr>
                  <a:t>Education</a:t>
                </a:r>
                <a:endParaRPr lang="zh-CN" altLang="en-US" sz="1400">
                  <a:latin typeface="Helvetica" panose="020B0604020202020204" pitchFamily="34" charset="0"/>
                  <a:cs typeface="Helvetica" panose="020B0604020202020204" pitchFamily="34" charset="0"/>
                </a:endParaRPr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22046245-8018-989B-4372-2721866E48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9020" y="5740274"/>
                <a:ext cx="1843809" cy="307777"/>
              </a:xfrm>
              <a:prstGeom prst="rect">
                <a:avLst/>
              </a:prstGeom>
              <a:blipFill>
                <a:blip r:embed="rId5"/>
                <a:stretch>
                  <a:fillRect l="-993" t="-4000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ED8F97E9-3FE5-9E85-0334-9D8B84768D80}"/>
                  </a:ext>
                </a:extLst>
              </p:cNvPr>
              <p:cNvSpPr txBox="1"/>
              <p:nvPr/>
            </p:nvSpPr>
            <p:spPr>
              <a:xfrm>
                <a:off x="4513119" y="4637606"/>
                <a:ext cx="131040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>
                    <a:latin typeface="Helvetica" panose="020B0604020202020204" pitchFamily="34" charset="0"/>
                    <a:cs typeface="Helvetica" panose="020B0604020202020204" pitchFamily="34" charset="0"/>
                  </a:rPr>
                  <a:t>Age</a:t>
                </a:r>
                <a14:m>
                  <m:oMath xmlns:m="http://schemas.openxmlformats.org/officeDocument/2006/math">
                    <m:r>
                      <a:rPr lang="en-US" altLang="zh-CN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Helvetica" panose="020B0604020202020204" pitchFamily="34" charset="0"/>
                      </a:rPr>
                      <m:t>×</m:t>
                    </m:r>
                  </m:oMath>
                </a14:m>
                <a:r>
                  <a:rPr lang="en-US" altLang="zh-CN" sz="1400">
                    <a:latin typeface="Helvetica" panose="020B0604020202020204" pitchFamily="34" charset="0"/>
                    <a:cs typeface="Helvetica" panose="020B0604020202020204" pitchFamily="34" charset="0"/>
                  </a:rPr>
                  <a:t>Income</a:t>
                </a:r>
                <a:endParaRPr lang="zh-CN" altLang="en-US" sz="1400">
                  <a:latin typeface="Helvetica" panose="020B0604020202020204" pitchFamily="34" charset="0"/>
                  <a:cs typeface="Helvetica" panose="020B0604020202020204" pitchFamily="34" charset="0"/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ED8F97E9-3FE5-9E85-0334-9D8B84768D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3119" y="4637606"/>
                <a:ext cx="1310409" cy="307777"/>
              </a:xfrm>
              <a:prstGeom prst="rect">
                <a:avLst/>
              </a:prstGeom>
              <a:blipFill>
                <a:blip r:embed="rId6"/>
                <a:stretch>
                  <a:fillRect l="-1395" t="-4000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FD098590-B46C-8C0E-F3CA-3C8CCA71DDB5}"/>
                  </a:ext>
                </a:extLst>
              </p:cNvPr>
              <p:cNvSpPr txBox="1"/>
              <p:nvPr/>
            </p:nvSpPr>
            <p:spPr>
              <a:xfrm>
                <a:off x="8068540" y="2839884"/>
                <a:ext cx="24032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14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altLang="zh-CN" sz="1400" b="0" i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CN" altLang="en-US" sz="1400">
                  <a:latin typeface="Helvetica" panose="020B0604020202020204" pitchFamily="34" charset="0"/>
                  <a:cs typeface="Helvetica" panose="020B0604020202020204" pitchFamily="34" charset="0"/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FD098590-B46C-8C0E-F3CA-3C8CCA71DD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8540" y="2839884"/>
                <a:ext cx="240322" cy="215444"/>
              </a:xfrm>
              <a:prstGeom prst="rect">
                <a:avLst/>
              </a:prstGeom>
              <a:blipFill>
                <a:blip r:embed="rId7"/>
                <a:stretch>
                  <a:fillRect l="-15385" r="-5128" b="-1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30744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C1CA6-89F6-C650-B2AE-FD8F7D873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形 6">
            <a:extLst>
              <a:ext uri="{FF2B5EF4-FFF2-40B4-BE49-F238E27FC236}">
                <a16:creationId xmlns:a16="http://schemas.microsoft.com/office/drawing/2014/main" id="{B4620BD0-7CC0-45D3-0AF0-4A110CE71E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8219" y="772817"/>
            <a:ext cx="9966036" cy="4865967"/>
          </a:xfrm>
          <a:prstGeom prst="rect">
            <a:avLst/>
          </a:prstGeom>
        </p:spPr>
      </p:pic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FE09F45F-410F-D315-D79D-2384519AC1DE}"/>
              </a:ext>
            </a:extLst>
          </p:cNvPr>
          <p:cNvSpPr/>
          <p:nvPr/>
        </p:nvSpPr>
        <p:spPr>
          <a:xfrm rot="5400000">
            <a:off x="4761346" y="2945257"/>
            <a:ext cx="720436" cy="831272"/>
          </a:xfrm>
          <a:custGeom>
            <a:avLst/>
            <a:gdLst>
              <a:gd name="csX0" fmla="*/ 0 w 720436"/>
              <a:gd name="csY0" fmla="*/ 831272 h 831272"/>
              <a:gd name="csX1" fmla="*/ 144087 w 720436"/>
              <a:gd name="csY1" fmla="*/ 415636 h 831272"/>
              <a:gd name="csX2" fmla="*/ 0 w 720436"/>
              <a:gd name="csY2" fmla="*/ 0 h 831272"/>
              <a:gd name="csX3" fmla="*/ 720436 w 720436"/>
              <a:gd name="csY3" fmla="*/ 0 h 831272"/>
              <a:gd name="csX4" fmla="*/ 576349 w 720436"/>
              <a:gd name="csY4" fmla="*/ 415636 h 831272"/>
              <a:gd name="csX5" fmla="*/ 720436 w 720436"/>
              <a:gd name="csY5" fmla="*/ 831272 h 8312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720436" h="831272">
                <a:moveTo>
                  <a:pt x="0" y="831272"/>
                </a:moveTo>
                <a:lnTo>
                  <a:pt x="144087" y="415636"/>
                </a:lnTo>
                <a:lnTo>
                  <a:pt x="0" y="0"/>
                </a:lnTo>
                <a:lnTo>
                  <a:pt x="720436" y="0"/>
                </a:lnTo>
                <a:lnTo>
                  <a:pt x="576349" y="415636"/>
                </a:lnTo>
                <a:lnTo>
                  <a:pt x="720436" y="831272"/>
                </a:lnTo>
                <a:close/>
              </a:path>
            </a:pathLst>
          </a:custGeom>
          <a:solidFill>
            <a:srgbClr val="D9D8C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16A4850B-82F2-A375-4032-CE2E5987575B}"/>
              </a:ext>
            </a:extLst>
          </p:cNvPr>
          <p:cNvSpPr/>
          <p:nvPr/>
        </p:nvSpPr>
        <p:spPr>
          <a:xfrm rot="5400000">
            <a:off x="6994237" y="2945257"/>
            <a:ext cx="720436" cy="831272"/>
          </a:xfrm>
          <a:custGeom>
            <a:avLst/>
            <a:gdLst>
              <a:gd name="csX0" fmla="*/ 0 w 720436"/>
              <a:gd name="csY0" fmla="*/ 831272 h 831272"/>
              <a:gd name="csX1" fmla="*/ 144087 w 720436"/>
              <a:gd name="csY1" fmla="*/ 415636 h 831272"/>
              <a:gd name="csX2" fmla="*/ 0 w 720436"/>
              <a:gd name="csY2" fmla="*/ 0 h 831272"/>
              <a:gd name="csX3" fmla="*/ 720436 w 720436"/>
              <a:gd name="csY3" fmla="*/ 0 h 831272"/>
              <a:gd name="csX4" fmla="*/ 576349 w 720436"/>
              <a:gd name="csY4" fmla="*/ 415636 h 831272"/>
              <a:gd name="csX5" fmla="*/ 720436 w 720436"/>
              <a:gd name="csY5" fmla="*/ 831272 h 8312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720436" h="831272">
                <a:moveTo>
                  <a:pt x="0" y="831272"/>
                </a:moveTo>
                <a:lnTo>
                  <a:pt x="144087" y="415636"/>
                </a:lnTo>
                <a:lnTo>
                  <a:pt x="0" y="0"/>
                </a:lnTo>
                <a:lnTo>
                  <a:pt x="720436" y="0"/>
                </a:lnTo>
                <a:lnTo>
                  <a:pt x="576349" y="415636"/>
                </a:lnTo>
                <a:lnTo>
                  <a:pt x="720436" y="831272"/>
                </a:lnTo>
                <a:close/>
              </a:path>
            </a:pathLst>
          </a:custGeom>
          <a:solidFill>
            <a:srgbClr val="D9D8C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FED8D6D-42DF-66BD-2F8A-CAC9ACC38C5F}"/>
              </a:ext>
            </a:extLst>
          </p:cNvPr>
          <p:cNvSpPr txBox="1"/>
          <p:nvPr/>
        </p:nvSpPr>
        <p:spPr>
          <a:xfrm>
            <a:off x="3020291" y="603647"/>
            <a:ext cx="785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Helvetica" panose="020B0604020202020204" pitchFamily="34" charset="0"/>
                <a:cs typeface="Helvetica" panose="020B0604020202020204" pitchFamily="34" charset="0"/>
              </a:rPr>
              <a:t>训练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141B883-9BAE-4CBF-3185-DF78D079EC27}"/>
              </a:ext>
            </a:extLst>
          </p:cNvPr>
          <p:cNvSpPr txBox="1"/>
          <p:nvPr/>
        </p:nvSpPr>
        <p:spPr>
          <a:xfrm>
            <a:off x="8451273" y="671327"/>
            <a:ext cx="720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Helvetica" panose="020B0604020202020204" pitchFamily="34" charset="0"/>
                <a:cs typeface="Helvetica" panose="020B0604020202020204" pitchFamily="34" charset="0"/>
              </a:rPr>
              <a:t>推理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2C260CE9-1066-FB57-2CEA-DE455CCC91E2}"/>
              </a:ext>
            </a:extLst>
          </p:cNvPr>
          <p:cNvSpPr txBox="1"/>
          <p:nvPr/>
        </p:nvSpPr>
        <p:spPr>
          <a:xfrm>
            <a:off x="7003474" y="3198126"/>
            <a:ext cx="10367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latin typeface="Helvetica" panose="020B0604020202020204" pitchFamily="34" charset="0"/>
                <a:cs typeface="Helvetica" panose="020B0604020202020204" pitchFamily="34" charset="0"/>
              </a:rPr>
              <a:t>去噪器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3A6383A-1E69-38FC-218A-ACBBA751C36E}"/>
              </a:ext>
            </a:extLst>
          </p:cNvPr>
          <p:cNvSpPr txBox="1"/>
          <p:nvPr/>
        </p:nvSpPr>
        <p:spPr>
          <a:xfrm>
            <a:off x="4734791" y="3198127"/>
            <a:ext cx="10367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latin typeface="Helvetica" panose="020B0604020202020204" pitchFamily="34" charset="0"/>
                <a:cs typeface="Helvetica" panose="020B0604020202020204" pitchFamily="34" charset="0"/>
              </a:rPr>
              <a:t>去噪器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3745F81-1B20-B873-F574-333909D5F4D9}"/>
              </a:ext>
            </a:extLst>
          </p:cNvPr>
          <p:cNvSpPr txBox="1"/>
          <p:nvPr/>
        </p:nvSpPr>
        <p:spPr>
          <a:xfrm>
            <a:off x="2411848" y="5415694"/>
            <a:ext cx="558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latin typeface="Helvetica" panose="020B0604020202020204" pitchFamily="34" charset="0"/>
                <a:cs typeface="Helvetica" panose="020B0604020202020204" pitchFamily="34" charset="0"/>
              </a:rPr>
              <a:t>年龄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C5CEEA7-FF47-81EE-A4DA-847850BD5B6D}"/>
              </a:ext>
            </a:extLst>
          </p:cNvPr>
          <p:cNvSpPr txBox="1"/>
          <p:nvPr/>
        </p:nvSpPr>
        <p:spPr>
          <a:xfrm>
            <a:off x="3020291" y="5432497"/>
            <a:ext cx="7850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latin typeface="Helvetica" panose="020B0604020202020204" pitchFamily="34" charset="0"/>
                <a:cs typeface="Helvetica" panose="020B0604020202020204" pitchFamily="34" charset="0"/>
              </a:rPr>
              <a:t>收入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80846C4-0A5E-AEDB-AC1C-3871240E15C2}"/>
              </a:ext>
            </a:extLst>
          </p:cNvPr>
          <p:cNvSpPr txBox="1"/>
          <p:nvPr/>
        </p:nvSpPr>
        <p:spPr>
          <a:xfrm>
            <a:off x="3678378" y="5427956"/>
            <a:ext cx="558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latin typeface="Helvetica" panose="020B0604020202020204" pitchFamily="34" charset="0"/>
                <a:cs typeface="Helvetica" panose="020B0604020202020204" pitchFamily="34" charset="0"/>
              </a:rPr>
              <a:t>教育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1AF17085-748B-3F9A-F128-4D784AF4CF9F}"/>
                  </a:ext>
                </a:extLst>
              </p:cNvPr>
              <p:cNvSpPr txBox="1"/>
              <p:nvPr/>
            </p:nvSpPr>
            <p:spPr>
              <a:xfrm>
                <a:off x="4636656" y="5432497"/>
                <a:ext cx="184380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400">
                    <a:latin typeface="Helvetica" panose="020B0604020202020204" pitchFamily="34" charset="0"/>
                    <a:cs typeface="Helvetica" panose="020B0604020202020204" pitchFamily="34" charset="0"/>
                  </a:rPr>
                  <a:t>收入</a:t>
                </a:r>
                <a14:m>
                  <m:oMath xmlns:m="http://schemas.openxmlformats.org/officeDocument/2006/math">
                    <m:r>
                      <a:rPr lang="en-US" altLang="zh-CN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Helvetica" panose="020B0604020202020204" pitchFamily="34" charset="0"/>
                      </a:rPr>
                      <m:t>×</m:t>
                    </m:r>
                  </m:oMath>
                </a14:m>
                <a:r>
                  <a:rPr lang="zh-CN" altLang="en-US" sz="1400">
                    <a:latin typeface="Helvetica" panose="020B0604020202020204" pitchFamily="34" charset="0"/>
                    <a:cs typeface="Helvetica" panose="020B0604020202020204" pitchFamily="34" charset="0"/>
                  </a:rPr>
                  <a:t>教育</a:t>
                </a:r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1AF17085-748B-3F9A-F128-4D784AF4CF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656" y="5432497"/>
                <a:ext cx="1843809" cy="307777"/>
              </a:xfrm>
              <a:prstGeom prst="rect">
                <a:avLst/>
              </a:prstGeom>
              <a:blipFill>
                <a:blip r:embed="rId5"/>
                <a:stretch>
                  <a:fillRect l="-993" t="-3922" b="-196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E7D73148-C104-0D00-7182-188CC1C0B17C}"/>
                  </a:ext>
                </a:extLst>
              </p:cNvPr>
              <p:cNvSpPr txBox="1"/>
              <p:nvPr/>
            </p:nvSpPr>
            <p:spPr>
              <a:xfrm>
                <a:off x="4409210" y="4377966"/>
                <a:ext cx="131040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400">
                    <a:latin typeface="Helvetica" panose="020B0604020202020204" pitchFamily="34" charset="0"/>
                    <a:cs typeface="Helvetica" panose="020B0604020202020204" pitchFamily="34" charset="0"/>
                  </a:rPr>
                  <a:t>年龄</a:t>
                </a:r>
                <a14:m>
                  <m:oMath xmlns:m="http://schemas.openxmlformats.org/officeDocument/2006/math">
                    <m:r>
                      <a:rPr lang="en-US" altLang="zh-CN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Helvetica" panose="020B0604020202020204" pitchFamily="34" charset="0"/>
                      </a:rPr>
                      <m:t>×</m:t>
                    </m:r>
                  </m:oMath>
                </a14:m>
                <a:r>
                  <a:rPr lang="zh-CN" altLang="en-US" sz="1400">
                    <a:latin typeface="Helvetica" panose="020B0604020202020204" pitchFamily="34" charset="0"/>
                    <a:cs typeface="Helvetica" panose="020B0604020202020204" pitchFamily="34" charset="0"/>
                  </a:rPr>
                  <a:t>收入</a:t>
                </a: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E7D73148-C104-0D00-7182-188CC1C0B1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9210" y="4377966"/>
                <a:ext cx="1310409" cy="307777"/>
              </a:xfrm>
              <a:prstGeom prst="rect">
                <a:avLst/>
              </a:prstGeom>
              <a:blipFill>
                <a:blip r:embed="rId6"/>
                <a:stretch>
                  <a:fillRect l="-1395" t="-3922" b="-196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82655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84577-6E02-3789-18D3-CB2AEC66F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: 圆角 12">
            <a:extLst>
              <a:ext uri="{FF2B5EF4-FFF2-40B4-BE49-F238E27FC236}">
                <a16:creationId xmlns:a16="http://schemas.microsoft.com/office/drawing/2014/main" id="{3BAB71D6-0992-6811-B3FF-CEC0C82F2CDD}"/>
              </a:ext>
            </a:extLst>
          </p:cNvPr>
          <p:cNvSpPr/>
          <p:nvPr/>
        </p:nvSpPr>
        <p:spPr>
          <a:xfrm>
            <a:off x="1797269" y="63974"/>
            <a:ext cx="8355478" cy="2006564"/>
          </a:xfrm>
          <a:prstGeom prst="roundRect">
            <a:avLst>
              <a:gd name="adj" fmla="val 5916"/>
            </a:avLst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pic>
        <p:nvPicPr>
          <p:cNvPr id="3" name="图形 2">
            <a:extLst>
              <a:ext uri="{FF2B5EF4-FFF2-40B4-BE49-F238E27FC236}">
                <a16:creationId xmlns:a16="http://schemas.microsoft.com/office/drawing/2014/main" id="{EFC74F17-9676-AB2E-683F-88084890ED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76365" y="950616"/>
            <a:ext cx="1089617" cy="875563"/>
          </a:xfrm>
          <a:prstGeom prst="rect">
            <a:avLst/>
          </a:prstGeom>
        </p:spPr>
      </p:pic>
      <p:pic>
        <p:nvPicPr>
          <p:cNvPr id="5" name="图形 4">
            <a:extLst>
              <a:ext uri="{FF2B5EF4-FFF2-40B4-BE49-F238E27FC236}">
                <a16:creationId xmlns:a16="http://schemas.microsoft.com/office/drawing/2014/main" id="{E4406C36-B6AE-131D-1707-4B319F17DA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06877" y="950618"/>
            <a:ext cx="875562" cy="875562"/>
          </a:xfrm>
          <a:prstGeom prst="rect">
            <a:avLst/>
          </a:prstGeom>
        </p:spPr>
      </p:pic>
      <p:sp>
        <p:nvSpPr>
          <p:cNvPr id="7" name="矩形: 圆角 144">
            <a:extLst>
              <a:ext uri="{FF2B5EF4-FFF2-40B4-BE49-F238E27FC236}">
                <a16:creationId xmlns:a16="http://schemas.microsoft.com/office/drawing/2014/main" id="{7E32E209-1664-370C-7722-868EF9EDCF3C}"/>
              </a:ext>
            </a:extLst>
          </p:cNvPr>
          <p:cNvSpPr/>
          <p:nvPr/>
        </p:nvSpPr>
        <p:spPr>
          <a:xfrm>
            <a:off x="5071277" y="132760"/>
            <a:ext cx="2307363" cy="410241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400" b="1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Helvetica" panose="020B0604020202020204" pitchFamily="34" charset="0"/>
              </a:rPr>
              <a:t>步骤</a:t>
            </a:r>
            <a:r>
              <a:rPr lang="en-US" altLang="zh-CN" sz="1400" b="1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Helvetica" panose="020B0604020202020204" pitchFamily="34" charset="0"/>
              </a:rPr>
              <a:t>1</a:t>
            </a:r>
            <a:r>
              <a:rPr lang="zh-CN" altLang="en-US" sz="1400" b="1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Helvetica" panose="020B0604020202020204" pitchFamily="34" charset="0"/>
              </a:rPr>
              <a:t>：人口属性特征提取</a:t>
            </a:r>
            <a:endParaRPr lang="zh-CN" altLang="en-US" sz="1400" b="1" dirty="0">
              <a:solidFill>
                <a:schemeClr val="tx1"/>
              </a:solidFill>
              <a:latin typeface="楷体" panose="02010609060101010101" pitchFamily="49" charset="-122"/>
              <a:ea typeface="楷体" panose="02010609060101010101" pitchFamily="49" charset="-122"/>
              <a:cs typeface="Helvetica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A5028EC-8553-459E-1E17-547DFFDE06D6}"/>
              </a:ext>
            </a:extLst>
          </p:cNvPr>
          <p:cNvSpPr txBox="1"/>
          <p:nvPr/>
        </p:nvSpPr>
        <p:spPr>
          <a:xfrm>
            <a:off x="2039253" y="513595"/>
            <a:ext cx="11384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PUMS </a:t>
            </a:r>
            <a:r>
              <a:rPr kumimoji="1" lang="zh-CN" altLang="en-US" sz="1400" b="1">
                <a:latin typeface="楷体" panose="02010609060101010101" pitchFamily="49" charset="-122"/>
                <a:ea typeface="楷体" panose="02010609060101010101" pitchFamily="49" charset="-122"/>
              </a:rPr>
              <a:t>数据</a:t>
            </a:r>
            <a:endParaRPr kumimoji="1" lang="zh-CN" altLang="en-US" sz="14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415B671C-0C3D-FA7D-FA6B-F9A30F5DC759}"/>
                  </a:ext>
                </a:extLst>
              </p:cNvPr>
              <p:cNvSpPr/>
              <p:nvPr/>
            </p:nvSpPr>
            <p:spPr>
              <a:xfrm>
                <a:off x="5196138" y="1120136"/>
                <a:ext cx="936510" cy="22802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n-US" altLang="zh-CN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altLang="zh-CN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CN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altLang="zh-CN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200" dirty="0">
                  <a:solidFill>
                    <a:schemeClr val="tx1"/>
                  </a:solidFill>
                  <a:latin typeface="楷体" panose="02010609060101010101" pitchFamily="49" charset="-122"/>
                  <a:ea typeface="楷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415B671C-0C3D-FA7D-FA6B-F9A30F5DC7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6138" y="1120136"/>
                <a:ext cx="936510" cy="228020"/>
              </a:xfrm>
              <a:prstGeom prst="rect">
                <a:avLst/>
              </a:prstGeom>
              <a:blipFill>
                <a:blip r:embed="rId6"/>
                <a:stretch>
                  <a:fillRect l="-1299" b="-2702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线箭头连接符 9">
            <a:extLst>
              <a:ext uri="{FF2B5EF4-FFF2-40B4-BE49-F238E27FC236}">
                <a16:creationId xmlns:a16="http://schemas.microsoft.com/office/drawing/2014/main" id="{CCE27AAA-EB4E-5D00-3EE0-EA5A1E8F4963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5082439" y="1388398"/>
            <a:ext cx="1193926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C33F20BE-6FB3-381C-1642-84D78720A088}"/>
              </a:ext>
            </a:extLst>
          </p:cNvPr>
          <p:cNvCxnSpPr>
            <a:cxnSpLocks/>
          </p:cNvCxnSpPr>
          <p:nvPr/>
        </p:nvCxnSpPr>
        <p:spPr>
          <a:xfrm flipV="1">
            <a:off x="7378640" y="1348156"/>
            <a:ext cx="1338437" cy="154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2F08A5F3-4F31-3B87-CCE3-B230C503AEDB}"/>
              </a:ext>
            </a:extLst>
          </p:cNvPr>
          <p:cNvSpPr/>
          <p:nvPr/>
        </p:nvSpPr>
        <p:spPr>
          <a:xfrm>
            <a:off x="7554603" y="870611"/>
            <a:ext cx="1138406" cy="461225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楷体" panose="02010609060101010101" pitchFamily="49" charset="-122"/>
                <a:ea typeface="楷体" panose="02010609060101010101" pitchFamily="49" charset="-122"/>
                <a:cs typeface="Helvetica" panose="020B0604020202020204" pitchFamily="34" charset="0"/>
              </a:rPr>
              <a:t>Z-score</a:t>
            </a:r>
            <a:endParaRPr lang="en-US" altLang="zh-CN" sz="1200" dirty="0">
              <a:latin typeface="楷体" panose="02010609060101010101" pitchFamily="49" charset="-122"/>
              <a:ea typeface="楷体" panose="02010609060101010101" pitchFamily="49" charset="-122"/>
              <a:cs typeface="Helvetica" panose="020B0604020202020204" pitchFamily="34" charset="0"/>
            </a:endParaRPr>
          </a:p>
          <a:p>
            <a:pPr algn="ctr"/>
            <a:r>
              <a: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Helvetica" panose="020B0604020202020204" pitchFamily="34" charset="0"/>
              </a:rPr>
              <a:t>标准化</a:t>
            </a:r>
            <a:endParaRPr lang="zh-CN" altLang="en-US" sz="1200" dirty="0">
              <a:latin typeface="楷体" panose="02010609060101010101" pitchFamily="49" charset="-122"/>
              <a:ea typeface="楷体" panose="02010609060101010101" pitchFamily="49" charset="-122"/>
              <a:cs typeface="Helvetica" panose="020B0604020202020204" pitchFamily="34" charset="0"/>
            </a:endParaRPr>
          </a:p>
        </p:txBody>
      </p:sp>
      <p:cxnSp>
        <p:nvCxnSpPr>
          <p:cNvPr id="13" name="直线箭头连接符 12">
            <a:extLst>
              <a:ext uri="{FF2B5EF4-FFF2-40B4-BE49-F238E27FC236}">
                <a16:creationId xmlns:a16="http://schemas.microsoft.com/office/drawing/2014/main" id="{54E5E9E7-7B5B-4943-3BEA-7E3C52A5DA55}"/>
              </a:ext>
            </a:extLst>
          </p:cNvPr>
          <p:cNvCxnSpPr>
            <a:cxnSpLocks/>
          </p:cNvCxnSpPr>
          <p:nvPr/>
        </p:nvCxnSpPr>
        <p:spPr>
          <a:xfrm flipV="1">
            <a:off x="2980759" y="1391338"/>
            <a:ext cx="1193926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图形 14">
            <a:extLst>
              <a:ext uri="{FF2B5EF4-FFF2-40B4-BE49-F238E27FC236}">
                <a16:creationId xmlns:a16="http://schemas.microsoft.com/office/drawing/2014/main" id="{20B88813-A492-43AD-155E-64A1ECAE9A8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57393" y="910375"/>
            <a:ext cx="1089617" cy="875562"/>
          </a:xfrm>
          <a:prstGeom prst="rect">
            <a:avLst/>
          </a:prstGeom>
        </p:spPr>
      </p:pic>
      <p:sp>
        <p:nvSpPr>
          <p:cNvPr id="16" name="任意多边形: 形状 61">
            <a:extLst>
              <a:ext uri="{FF2B5EF4-FFF2-40B4-BE49-F238E27FC236}">
                <a16:creationId xmlns:a16="http://schemas.microsoft.com/office/drawing/2014/main" id="{4F7156CB-53D7-350E-9F76-C7C711DEF3F3}"/>
              </a:ext>
            </a:extLst>
          </p:cNvPr>
          <p:cNvSpPr/>
          <p:nvPr/>
        </p:nvSpPr>
        <p:spPr>
          <a:xfrm rot="5400000">
            <a:off x="5392398" y="3888705"/>
            <a:ext cx="993240" cy="1062922"/>
          </a:xfrm>
          <a:custGeom>
            <a:avLst/>
            <a:gdLst>
              <a:gd name="csX0" fmla="*/ 0 w 720436"/>
              <a:gd name="csY0" fmla="*/ 831272 h 831272"/>
              <a:gd name="csX1" fmla="*/ 144087 w 720436"/>
              <a:gd name="csY1" fmla="*/ 415636 h 831272"/>
              <a:gd name="csX2" fmla="*/ 0 w 720436"/>
              <a:gd name="csY2" fmla="*/ 0 h 831272"/>
              <a:gd name="csX3" fmla="*/ 720436 w 720436"/>
              <a:gd name="csY3" fmla="*/ 0 h 831272"/>
              <a:gd name="csX4" fmla="*/ 576349 w 720436"/>
              <a:gd name="csY4" fmla="*/ 415636 h 831272"/>
              <a:gd name="csX5" fmla="*/ 720436 w 720436"/>
              <a:gd name="csY5" fmla="*/ 831272 h 8312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720436" h="831272">
                <a:moveTo>
                  <a:pt x="0" y="831272"/>
                </a:moveTo>
                <a:lnTo>
                  <a:pt x="144087" y="415636"/>
                </a:lnTo>
                <a:lnTo>
                  <a:pt x="0" y="0"/>
                </a:lnTo>
                <a:lnTo>
                  <a:pt x="720436" y="0"/>
                </a:lnTo>
                <a:lnTo>
                  <a:pt x="576349" y="415636"/>
                </a:lnTo>
                <a:lnTo>
                  <a:pt x="720436" y="831272"/>
                </a:lnTo>
                <a:close/>
              </a:path>
            </a:pathLst>
          </a:custGeom>
          <a:solidFill>
            <a:srgbClr val="D9D8C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wrap="square" rtlCol="0" anchor="ctr">
            <a:noAutofit/>
          </a:bodyPr>
          <a:lstStyle/>
          <a:p>
            <a:pPr algn="ctr"/>
            <a:r>
              <a:rPr lang="zh-CN" altLang="en-US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Helvetica" panose="020B0604020202020204" pitchFamily="34" charset="0"/>
              </a:rPr>
              <a:t>噪声预测网络</a:t>
            </a:r>
          </a:p>
        </p:txBody>
      </p:sp>
      <p:sp>
        <p:nvSpPr>
          <p:cNvPr id="17" name="矩形: 圆角 24">
            <a:extLst>
              <a:ext uri="{FF2B5EF4-FFF2-40B4-BE49-F238E27FC236}">
                <a16:creationId xmlns:a16="http://schemas.microsoft.com/office/drawing/2014/main" id="{42C0517A-F60D-760A-B3EE-493304790F2A}"/>
              </a:ext>
            </a:extLst>
          </p:cNvPr>
          <p:cNvSpPr/>
          <p:nvPr/>
        </p:nvSpPr>
        <p:spPr>
          <a:xfrm>
            <a:off x="1860331" y="2263960"/>
            <a:ext cx="3222108" cy="4151569"/>
          </a:xfrm>
          <a:prstGeom prst="roundRect">
            <a:avLst>
              <a:gd name="adj" fmla="val 6634"/>
            </a:avLst>
          </a:prstGeom>
          <a:solidFill>
            <a:schemeClr val="accent2">
              <a:lumMod val="20000"/>
              <a:lumOff val="80000"/>
            </a:schemeClr>
          </a:solidFill>
          <a:ln w="2857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082D06DE-82C9-EB8A-FCD6-4185C9D3F51D}"/>
              </a:ext>
            </a:extLst>
          </p:cNvPr>
          <p:cNvSpPr/>
          <p:nvPr/>
        </p:nvSpPr>
        <p:spPr>
          <a:xfrm>
            <a:off x="6758639" y="2263960"/>
            <a:ext cx="3403834" cy="4151569"/>
          </a:xfrm>
          <a:prstGeom prst="roundRect">
            <a:avLst>
              <a:gd name="adj" fmla="val 4018"/>
            </a:avLst>
          </a:prstGeom>
          <a:solidFill>
            <a:schemeClr val="tx2">
              <a:lumMod val="10000"/>
              <a:lumOff val="90000"/>
            </a:schemeClr>
          </a:solidFill>
          <a:ln w="2857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E8CE313F-B31C-3408-3EAF-805B934B2D5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4826" y="796365"/>
            <a:ext cx="875562" cy="875562"/>
          </a:xfrm>
          <a:prstGeom prst="rect">
            <a:avLst/>
          </a:prstGeom>
        </p:spPr>
      </p:pic>
      <p:sp>
        <p:nvSpPr>
          <p:cNvPr id="21" name="矩形 20">
            <a:extLst>
              <a:ext uri="{FF2B5EF4-FFF2-40B4-BE49-F238E27FC236}">
                <a16:creationId xmlns:a16="http://schemas.microsoft.com/office/drawing/2014/main" id="{FBFA2C38-FA3C-985F-672F-5733214D0490}"/>
              </a:ext>
            </a:extLst>
          </p:cNvPr>
          <p:cNvSpPr/>
          <p:nvPr/>
        </p:nvSpPr>
        <p:spPr>
          <a:xfrm>
            <a:off x="3132174" y="1070291"/>
            <a:ext cx="774726" cy="307777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zh-CN" altLang="en-US" sz="1400">
                <a:latin typeface="楷体" panose="02010609060101010101" pitchFamily="49" charset="-122"/>
                <a:ea typeface="楷体" panose="02010609060101010101" pitchFamily="49" charset="-122"/>
                <a:cs typeface="Helvetica" panose="020B0604020202020204" pitchFamily="34" charset="0"/>
              </a:rPr>
              <a:t>离散化</a:t>
            </a:r>
            <a:endParaRPr lang="en-US" altLang="zh-CN" sz="1400" b="1">
              <a:latin typeface="楷体" panose="02010609060101010101" pitchFamily="49" charset="-122"/>
              <a:ea typeface="楷体" panose="02010609060101010101" pitchFamily="49" charset="-122"/>
              <a:cs typeface="Helvetica" panose="020B0604020202020204" pitchFamily="34" charset="0"/>
            </a:endParaRPr>
          </a:p>
        </p:txBody>
      </p:sp>
      <p:pic>
        <p:nvPicPr>
          <p:cNvPr id="23" name="图形 22">
            <a:extLst>
              <a:ext uri="{FF2B5EF4-FFF2-40B4-BE49-F238E27FC236}">
                <a16:creationId xmlns:a16="http://schemas.microsoft.com/office/drawing/2014/main" id="{F95EBA6A-984E-A264-54BE-5F1BF3B07B2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791607" y="2949186"/>
            <a:ext cx="960069" cy="953540"/>
          </a:xfrm>
          <a:prstGeom prst="rect">
            <a:avLst/>
          </a:prstGeom>
        </p:spPr>
      </p:pic>
      <p:pic>
        <p:nvPicPr>
          <p:cNvPr id="24" name="图形 23">
            <a:extLst>
              <a:ext uri="{FF2B5EF4-FFF2-40B4-BE49-F238E27FC236}">
                <a16:creationId xmlns:a16="http://schemas.microsoft.com/office/drawing/2014/main" id="{6D09B916-9151-3018-D3BB-F5CB44E4C95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963174" y="2990395"/>
            <a:ext cx="920500" cy="928279"/>
          </a:xfrm>
          <a:prstGeom prst="rect">
            <a:avLst/>
          </a:prstGeom>
        </p:spPr>
      </p:pic>
      <p:pic>
        <p:nvPicPr>
          <p:cNvPr id="27" name="图形 26">
            <a:extLst>
              <a:ext uri="{FF2B5EF4-FFF2-40B4-BE49-F238E27FC236}">
                <a16:creationId xmlns:a16="http://schemas.microsoft.com/office/drawing/2014/main" id="{3D1CF5DE-EC6A-9F53-9155-C523A5BDF84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 flipH="1">
            <a:off x="7225562" y="4363731"/>
            <a:ext cx="2625749" cy="1390196"/>
          </a:xfrm>
          <a:prstGeom prst="rect">
            <a:avLst/>
          </a:prstGeom>
        </p:spPr>
      </p:pic>
      <p:sp>
        <p:nvSpPr>
          <p:cNvPr id="32" name="椭圆 31">
            <a:extLst>
              <a:ext uri="{FF2B5EF4-FFF2-40B4-BE49-F238E27FC236}">
                <a16:creationId xmlns:a16="http://schemas.microsoft.com/office/drawing/2014/main" id="{807BBB66-D166-296D-FDA8-6206DD0C8A7D}"/>
              </a:ext>
            </a:extLst>
          </p:cNvPr>
          <p:cNvSpPr/>
          <p:nvPr/>
        </p:nvSpPr>
        <p:spPr>
          <a:xfrm>
            <a:off x="7238154" y="5790527"/>
            <a:ext cx="559298" cy="550662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ysClr val="windowText" lastClr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Helvetica" panose="020B0604020202020204" pitchFamily="34" charset="0"/>
              </a:rPr>
              <a:t>t</a:t>
            </a:r>
            <a:endParaRPr lang="zh-CN" altLang="en-US" dirty="0">
              <a:solidFill>
                <a:sysClr val="windowText" lastClr="000000"/>
              </a:solidFill>
              <a:latin typeface="楷体" panose="02010609060101010101" pitchFamily="49" charset="-122"/>
              <a:ea typeface="楷体" panose="02010609060101010101" pitchFamily="49" charset="-122"/>
              <a:cs typeface="Helvetica" panose="020B0604020202020204" pitchFamily="34" charset="0"/>
            </a:endParaRPr>
          </a:p>
        </p:txBody>
      </p:sp>
      <p:cxnSp>
        <p:nvCxnSpPr>
          <p:cNvPr id="36" name="直线箭头连接符 10">
            <a:extLst>
              <a:ext uri="{FF2B5EF4-FFF2-40B4-BE49-F238E27FC236}">
                <a16:creationId xmlns:a16="http://schemas.microsoft.com/office/drawing/2014/main" id="{AF13AF4C-49D2-8104-4678-209E363F5745}"/>
              </a:ext>
            </a:extLst>
          </p:cNvPr>
          <p:cNvCxnSpPr>
            <a:cxnSpLocks/>
          </p:cNvCxnSpPr>
          <p:nvPr/>
        </p:nvCxnSpPr>
        <p:spPr>
          <a:xfrm flipH="1">
            <a:off x="7856929" y="3606401"/>
            <a:ext cx="9004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矩形 36">
            <a:extLst>
              <a:ext uri="{FF2B5EF4-FFF2-40B4-BE49-F238E27FC236}">
                <a16:creationId xmlns:a16="http://schemas.microsoft.com/office/drawing/2014/main" id="{0546A66E-676E-B555-719E-92E4C49319E0}"/>
              </a:ext>
            </a:extLst>
          </p:cNvPr>
          <p:cNvSpPr/>
          <p:nvPr/>
        </p:nvSpPr>
        <p:spPr>
          <a:xfrm>
            <a:off x="8105877" y="3238721"/>
            <a:ext cx="497306" cy="308844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Helvetica" panose="020B0604020202020204" pitchFamily="34" charset="0"/>
              </a:rPr>
              <a:t>扩散</a:t>
            </a:r>
            <a:endParaRPr lang="zh-CN" altLang="en-US" sz="1200" dirty="0">
              <a:latin typeface="楷体" panose="02010609060101010101" pitchFamily="49" charset="-122"/>
              <a:ea typeface="楷体" panose="02010609060101010101" pitchFamily="49" charset="-122"/>
              <a:cs typeface="Helvetica" panose="020B0604020202020204" pitchFamily="34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36466C1-B626-4C11-5C1D-DA55D753D7FB}"/>
              </a:ext>
            </a:extLst>
          </p:cNvPr>
          <p:cNvSpPr txBox="1"/>
          <p:nvPr/>
        </p:nvSpPr>
        <p:spPr>
          <a:xfrm>
            <a:off x="7093596" y="4010884"/>
            <a:ext cx="9342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>
                <a:latin typeface="楷体" panose="02010609060101010101" pitchFamily="49" charset="-122"/>
                <a:ea typeface="楷体" panose="02010609060101010101" pitchFamily="49" charset="-122"/>
                <a:cs typeface="Helvetica" panose="020B0604020202020204" pitchFamily="34" charset="0"/>
              </a:rPr>
              <a:t>条件信息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155B778-4183-2DCA-188F-5EB30D9365CC}"/>
              </a:ext>
            </a:extLst>
          </p:cNvPr>
          <p:cNvSpPr txBox="1"/>
          <p:nvPr/>
        </p:nvSpPr>
        <p:spPr>
          <a:xfrm>
            <a:off x="7852203" y="5952885"/>
            <a:ext cx="7725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>
                <a:latin typeface="楷体" panose="02010609060101010101" pitchFamily="49" charset="-122"/>
                <a:ea typeface="楷体" panose="02010609060101010101" pitchFamily="49" charset="-122"/>
                <a:cs typeface="Helvetica" panose="020B0604020202020204" pitchFamily="34" charset="0"/>
              </a:rPr>
              <a:t>时间步</a:t>
            </a:r>
          </a:p>
        </p:txBody>
      </p:sp>
      <p:pic>
        <p:nvPicPr>
          <p:cNvPr id="289" name="图形 288">
            <a:extLst>
              <a:ext uri="{FF2B5EF4-FFF2-40B4-BE49-F238E27FC236}">
                <a16:creationId xmlns:a16="http://schemas.microsoft.com/office/drawing/2014/main" id="{D9CE2A2D-D422-6A30-65FC-C5C3CF5F635B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164705" y="5629864"/>
            <a:ext cx="637925" cy="630798"/>
          </a:xfrm>
          <a:prstGeom prst="rect">
            <a:avLst/>
          </a:prstGeom>
        </p:spPr>
      </p:pic>
      <p:pic>
        <p:nvPicPr>
          <p:cNvPr id="291" name="图形 290">
            <a:extLst>
              <a:ext uri="{FF2B5EF4-FFF2-40B4-BE49-F238E27FC236}">
                <a16:creationId xmlns:a16="http://schemas.microsoft.com/office/drawing/2014/main" id="{44828BBF-5088-4F4E-BC5E-4358F8F3ECD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942168" y="2941514"/>
            <a:ext cx="815528" cy="809980"/>
          </a:xfrm>
          <a:prstGeom prst="rect">
            <a:avLst/>
          </a:prstGeom>
        </p:spPr>
      </p:pic>
      <p:pic>
        <p:nvPicPr>
          <p:cNvPr id="292" name="图形 291">
            <a:extLst>
              <a:ext uri="{FF2B5EF4-FFF2-40B4-BE49-F238E27FC236}">
                <a16:creationId xmlns:a16="http://schemas.microsoft.com/office/drawing/2014/main" id="{E2413065-420E-F5FD-CBE2-E87ACFA8661E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188023" y="2963783"/>
            <a:ext cx="735561" cy="733579"/>
          </a:xfrm>
          <a:prstGeom prst="rect">
            <a:avLst/>
          </a:prstGeom>
        </p:spPr>
      </p:pic>
      <p:sp>
        <p:nvSpPr>
          <p:cNvPr id="296" name="矩形 295">
            <a:extLst>
              <a:ext uri="{FF2B5EF4-FFF2-40B4-BE49-F238E27FC236}">
                <a16:creationId xmlns:a16="http://schemas.microsoft.com/office/drawing/2014/main" id="{042ED946-4221-7CAD-1B04-087036D8C53A}"/>
              </a:ext>
            </a:extLst>
          </p:cNvPr>
          <p:cNvSpPr/>
          <p:nvPr/>
        </p:nvSpPr>
        <p:spPr>
          <a:xfrm>
            <a:off x="2574773" y="3790855"/>
            <a:ext cx="2316931" cy="410241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Helvetica" panose="020B0604020202020204" pitchFamily="34" charset="0"/>
              </a:rPr>
              <a:t>逆</a:t>
            </a:r>
            <a:r>
              <a:rPr lang="en-US" altLang="zh-CN" sz="1200">
                <a:latin typeface="楷体" panose="02010609060101010101" pitchFamily="49" charset="-122"/>
                <a:ea typeface="楷体" panose="02010609060101010101" pitchFamily="49" charset="-122"/>
                <a:cs typeface="Helvetica" panose="020B0604020202020204" pitchFamily="34" charset="0"/>
              </a:rPr>
              <a:t> Z-score</a:t>
            </a:r>
            <a:r>
              <a: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Helvetica" panose="020B0604020202020204" pitchFamily="34" charset="0"/>
              </a:rPr>
              <a:t>变换</a:t>
            </a:r>
            <a:r>
              <a:rPr lang="en-US" altLang="zh-CN" sz="1200">
                <a:latin typeface="楷体" panose="02010609060101010101" pitchFamily="49" charset="-122"/>
                <a:ea typeface="楷体" panose="02010609060101010101" pitchFamily="49" charset="-122"/>
                <a:cs typeface="Helvetica" panose="020B0604020202020204" pitchFamily="34" charset="0"/>
              </a:rPr>
              <a:t> &amp; Softmax</a:t>
            </a:r>
            <a:endParaRPr lang="zh-CN" altLang="en-US" sz="1200">
              <a:latin typeface="楷体" panose="02010609060101010101" pitchFamily="49" charset="-122"/>
              <a:ea typeface="楷体" panose="02010609060101010101" pitchFamily="49" charset="-122"/>
              <a:cs typeface="Helvetica" panose="020B0604020202020204" pitchFamily="34" charset="0"/>
            </a:endParaRPr>
          </a:p>
        </p:txBody>
      </p:sp>
      <p:pic>
        <p:nvPicPr>
          <p:cNvPr id="301" name="图形 300">
            <a:extLst>
              <a:ext uri="{FF2B5EF4-FFF2-40B4-BE49-F238E27FC236}">
                <a16:creationId xmlns:a16="http://schemas.microsoft.com/office/drawing/2014/main" id="{40B3C8BA-4707-75AD-CECA-6A5D7AAFEE50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35449" y="4375982"/>
            <a:ext cx="860913" cy="829721"/>
          </a:xfrm>
          <a:prstGeom prst="rect">
            <a:avLst/>
          </a:prstGeom>
        </p:spPr>
      </p:pic>
      <p:pic>
        <p:nvPicPr>
          <p:cNvPr id="302" name="图形 301">
            <a:extLst>
              <a:ext uri="{FF2B5EF4-FFF2-40B4-BE49-F238E27FC236}">
                <a16:creationId xmlns:a16="http://schemas.microsoft.com/office/drawing/2014/main" id="{82635B27-20EA-CC7E-BFD9-E0C3B4F552E8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4021552" y="4440851"/>
            <a:ext cx="736144" cy="736144"/>
          </a:xfrm>
          <a:prstGeom prst="rect">
            <a:avLst/>
          </a:prstGeom>
        </p:spPr>
      </p:pic>
      <p:sp>
        <p:nvSpPr>
          <p:cNvPr id="2" name="矩形: 圆角 144">
            <a:extLst>
              <a:ext uri="{FF2B5EF4-FFF2-40B4-BE49-F238E27FC236}">
                <a16:creationId xmlns:a16="http://schemas.microsoft.com/office/drawing/2014/main" id="{84F21259-C61F-7BEF-79D9-8237FEE89CCE}"/>
              </a:ext>
            </a:extLst>
          </p:cNvPr>
          <p:cNvSpPr/>
          <p:nvPr/>
        </p:nvSpPr>
        <p:spPr>
          <a:xfrm>
            <a:off x="2210652" y="2404040"/>
            <a:ext cx="2681052" cy="410241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400" b="1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Helvetica" panose="020B0604020202020204" pitchFamily="34" charset="0"/>
              </a:rPr>
              <a:t>步骤</a:t>
            </a:r>
            <a:r>
              <a:rPr lang="en-US" altLang="zh-CN" sz="1400" b="1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Helvetica" panose="020B0604020202020204" pitchFamily="34" charset="0"/>
              </a:rPr>
              <a:t>3</a:t>
            </a:r>
            <a:r>
              <a:rPr lang="zh-CN" altLang="en-US" sz="1400" b="1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Helvetica" panose="020B0604020202020204" pitchFamily="34" charset="0"/>
              </a:rPr>
              <a:t>：分布推断</a:t>
            </a:r>
            <a:endParaRPr lang="zh-CN" altLang="en-US" sz="1400" b="1" dirty="0">
              <a:solidFill>
                <a:schemeClr val="tx1"/>
              </a:solidFill>
              <a:latin typeface="楷体" panose="02010609060101010101" pitchFamily="49" charset="-122"/>
              <a:ea typeface="楷体" panose="02010609060101010101" pitchFamily="49" charset="-122"/>
              <a:cs typeface="Helvetica" panose="020B0604020202020204" pitchFamily="34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3019141-290D-C7F8-8F44-746A5B58AA51}"/>
              </a:ext>
            </a:extLst>
          </p:cNvPr>
          <p:cNvSpPr/>
          <p:nvPr/>
        </p:nvSpPr>
        <p:spPr>
          <a:xfrm>
            <a:off x="3063035" y="3111393"/>
            <a:ext cx="693785" cy="26206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Helvetica" panose="020B0604020202020204" pitchFamily="34" charset="0"/>
              </a:rPr>
              <a:t>逆扩散</a:t>
            </a:r>
            <a:endParaRPr lang="en-US" altLang="zh-CN" sz="1200" b="1">
              <a:latin typeface="楷体" panose="02010609060101010101" pitchFamily="49" charset="-122"/>
              <a:ea typeface="楷体" panose="02010609060101010101" pitchFamily="49" charset="-122"/>
              <a:cs typeface="Helvetica" panose="020B0604020202020204" pitchFamily="34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7E0F2D0-CA23-8ED8-154F-ADB9D2DC25FD}"/>
              </a:ext>
            </a:extLst>
          </p:cNvPr>
          <p:cNvSpPr/>
          <p:nvPr/>
        </p:nvSpPr>
        <p:spPr>
          <a:xfrm>
            <a:off x="3859010" y="5278102"/>
            <a:ext cx="564518" cy="240677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Helvetica" panose="020B0604020202020204" pitchFamily="34" charset="0"/>
              </a:rPr>
              <a:t>平均</a:t>
            </a:r>
            <a:endParaRPr lang="en-US" altLang="zh-CN" sz="1200" b="1">
              <a:latin typeface="楷体" panose="02010609060101010101" pitchFamily="49" charset="-122"/>
              <a:ea typeface="楷体" panose="02010609060101010101" pitchFamily="49" charset="-122"/>
              <a:cs typeface="Helvetica" panose="020B0604020202020204" pitchFamily="34" charset="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3E3877E-3B0F-4FA0-C983-791445FDD19E}"/>
              </a:ext>
            </a:extLst>
          </p:cNvPr>
          <p:cNvSpPr/>
          <p:nvPr/>
        </p:nvSpPr>
        <p:spPr>
          <a:xfrm>
            <a:off x="3215795" y="5702083"/>
            <a:ext cx="528729" cy="222862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Helvetica" panose="020B0604020202020204" pitchFamily="34" charset="0"/>
              </a:rPr>
              <a:t>采样</a:t>
            </a:r>
            <a:endParaRPr lang="en-US" altLang="zh-CN" sz="1200" b="1">
              <a:latin typeface="楷体" panose="02010609060101010101" pitchFamily="49" charset="-122"/>
              <a:ea typeface="楷体" panose="02010609060101010101" pitchFamily="49" charset="-122"/>
              <a:cs typeface="Helvetica" panose="020B0604020202020204" pitchFamily="34" charset="0"/>
            </a:endParaRPr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CE91AF7A-6D02-C951-C284-77A0ACAAB46F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9371" y="5549337"/>
            <a:ext cx="791852" cy="791852"/>
          </a:xfrm>
          <a:prstGeom prst="rect">
            <a:avLst/>
          </a:prstGeom>
        </p:spPr>
      </p:pic>
      <p:cxnSp>
        <p:nvCxnSpPr>
          <p:cNvPr id="28" name="直线箭头连接符 9">
            <a:extLst>
              <a:ext uri="{FF2B5EF4-FFF2-40B4-BE49-F238E27FC236}">
                <a16:creationId xmlns:a16="http://schemas.microsoft.com/office/drawing/2014/main" id="{1513F809-378D-0AD5-7162-41832D65716F}"/>
              </a:ext>
            </a:extLst>
          </p:cNvPr>
          <p:cNvCxnSpPr>
            <a:cxnSpLocks/>
          </p:cNvCxnSpPr>
          <p:nvPr/>
        </p:nvCxnSpPr>
        <p:spPr>
          <a:xfrm flipV="1">
            <a:off x="2923584" y="3393143"/>
            <a:ext cx="1040210" cy="139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线箭头连接符 9">
            <a:extLst>
              <a:ext uri="{FF2B5EF4-FFF2-40B4-BE49-F238E27FC236}">
                <a16:creationId xmlns:a16="http://schemas.microsoft.com/office/drawing/2014/main" id="{B3D4A21D-4A9C-71A5-B9EA-229C2AE3C0B2}"/>
              </a:ext>
            </a:extLst>
          </p:cNvPr>
          <p:cNvCxnSpPr>
            <a:cxnSpLocks/>
            <a:stCxn id="289" idx="1"/>
            <a:endCxn id="26" idx="3"/>
          </p:cNvCxnSpPr>
          <p:nvPr/>
        </p:nvCxnSpPr>
        <p:spPr>
          <a:xfrm flipH="1">
            <a:off x="2881223" y="5945263"/>
            <a:ext cx="12834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线箭头连接符 9">
            <a:extLst>
              <a:ext uri="{FF2B5EF4-FFF2-40B4-BE49-F238E27FC236}">
                <a16:creationId xmlns:a16="http://schemas.microsoft.com/office/drawing/2014/main" id="{9DE68E9D-F3C9-9CD1-BE06-7027F91C29D0}"/>
              </a:ext>
            </a:extLst>
          </p:cNvPr>
          <p:cNvCxnSpPr>
            <a:cxnSpLocks/>
          </p:cNvCxnSpPr>
          <p:nvPr/>
        </p:nvCxnSpPr>
        <p:spPr>
          <a:xfrm>
            <a:off x="2555803" y="3697362"/>
            <a:ext cx="0" cy="6786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线箭头连接符 9">
            <a:extLst>
              <a:ext uri="{FF2B5EF4-FFF2-40B4-BE49-F238E27FC236}">
                <a16:creationId xmlns:a16="http://schemas.microsoft.com/office/drawing/2014/main" id="{43904DA0-3734-EE68-1DED-04C98709BF44}"/>
              </a:ext>
            </a:extLst>
          </p:cNvPr>
          <p:cNvCxnSpPr>
            <a:cxnSpLocks/>
            <a:endCxn id="289" idx="0"/>
          </p:cNvCxnSpPr>
          <p:nvPr/>
        </p:nvCxnSpPr>
        <p:spPr>
          <a:xfrm>
            <a:off x="4481125" y="5156347"/>
            <a:ext cx="2543" cy="4735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线箭头连接符 9">
            <a:extLst>
              <a:ext uri="{FF2B5EF4-FFF2-40B4-BE49-F238E27FC236}">
                <a16:creationId xmlns:a16="http://schemas.microsoft.com/office/drawing/2014/main" id="{F5BE5A80-22F3-8D95-C7CD-9B7105830840}"/>
              </a:ext>
            </a:extLst>
          </p:cNvPr>
          <p:cNvCxnSpPr>
            <a:cxnSpLocks/>
          </p:cNvCxnSpPr>
          <p:nvPr/>
        </p:nvCxnSpPr>
        <p:spPr>
          <a:xfrm>
            <a:off x="2997798" y="4797669"/>
            <a:ext cx="10106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矩形 51">
            <a:extLst>
              <a:ext uri="{FF2B5EF4-FFF2-40B4-BE49-F238E27FC236}">
                <a16:creationId xmlns:a16="http://schemas.microsoft.com/office/drawing/2014/main" id="{A15409DC-AA72-C96C-A093-615CD32BA8CF}"/>
              </a:ext>
            </a:extLst>
          </p:cNvPr>
          <p:cNvSpPr/>
          <p:nvPr/>
        </p:nvSpPr>
        <p:spPr>
          <a:xfrm>
            <a:off x="3163957" y="4529253"/>
            <a:ext cx="614856" cy="24809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Helvetica" panose="020B0604020202020204" pitchFamily="34" charset="0"/>
              </a:rPr>
              <a:t>抽取</a:t>
            </a:r>
            <a:endParaRPr lang="en-US" altLang="zh-CN" sz="1200" b="1">
              <a:latin typeface="楷体" panose="02010609060101010101" pitchFamily="49" charset="-122"/>
              <a:ea typeface="楷体" panose="02010609060101010101" pitchFamily="49" charset="-122"/>
              <a:cs typeface="Helvetica" panose="020B0604020202020204" pitchFamily="34" charset="0"/>
            </a:endParaRP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E6594679-AA99-EAE7-69B1-F5F825BDFB50}"/>
              </a:ext>
            </a:extLst>
          </p:cNvPr>
          <p:cNvCxnSpPr/>
          <p:nvPr/>
        </p:nvCxnSpPr>
        <p:spPr>
          <a:xfrm>
            <a:off x="13060218" y="3751494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直线箭头连接符 9">
            <a:extLst>
              <a:ext uri="{FF2B5EF4-FFF2-40B4-BE49-F238E27FC236}">
                <a16:creationId xmlns:a16="http://schemas.microsoft.com/office/drawing/2014/main" id="{2FDBA7D7-59BA-68DF-E35B-6B7453E611B6}"/>
              </a:ext>
            </a:extLst>
          </p:cNvPr>
          <p:cNvCxnSpPr>
            <a:cxnSpLocks/>
            <a:endCxn id="23" idx="0"/>
          </p:cNvCxnSpPr>
          <p:nvPr/>
        </p:nvCxnSpPr>
        <p:spPr>
          <a:xfrm>
            <a:off x="9271641" y="1785937"/>
            <a:ext cx="1" cy="11632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矩形: 圆角 144">
            <a:extLst>
              <a:ext uri="{FF2B5EF4-FFF2-40B4-BE49-F238E27FC236}">
                <a16:creationId xmlns:a16="http://schemas.microsoft.com/office/drawing/2014/main" id="{1F74D9C5-1FA9-83DE-3C75-6D1FB2D0911C}"/>
              </a:ext>
            </a:extLst>
          </p:cNvPr>
          <p:cNvSpPr/>
          <p:nvPr/>
        </p:nvSpPr>
        <p:spPr>
          <a:xfrm>
            <a:off x="7501248" y="2409405"/>
            <a:ext cx="2088118" cy="410241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400" b="1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Helvetica" panose="020B0604020202020204" pitchFamily="34" charset="0"/>
              </a:rPr>
              <a:t>步骤</a:t>
            </a:r>
            <a:r>
              <a:rPr lang="en-US" altLang="zh-CN" sz="1400" b="1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Helvetica" panose="020B0604020202020204" pitchFamily="34" charset="0"/>
              </a:rPr>
              <a:t>2</a:t>
            </a:r>
            <a:r>
              <a:rPr lang="zh-CN" altLang="en-US" sz="1400" b="1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Helvetica" panose="020B0604020202020204" pitchFamily="34" charset="0"/>
              </a:rPr>
              <a:t>：扩散模型训练</a:t>
            </a:r>
            <a:endParaRPr lang="zh-CN" altLang="en-US" sz="1400" b="1" dirty="0">
              <a:solidFill>
                <a:schemeClr val="tx1"/>
              </a:solidFill>
              <a:latin typeface="楷体" panose="02010609060101010101" pitchFamily="49" charset="-122"/>
              <a:ea typeface="楷体" panose="02010609060101010101" pitchFamily="49" charset="-122"/>
              <a:cs typeface="Helvetica" panose="020B0604020202020204" pitchFamily="34" charset="0"/>
            </a:endParaRPr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35E63926-298A-CD0B-2130-19FC4D6BA4A9}"/>
              </a:ext>
            </a:extLst>
          </p:cNvPr>
          <p:cNvCxnSpPr>
            <a:cxnSpLocks/>
            <a:stCxn id="24" idx="1"/>
          </p:cNvCxnSpPr>
          <p:nvPr/>
        </p:nvCxnSpPr>
        <p:spPr>
          <a:xfrm flipH="1">
            <a:off x="6396708" y="3454535"/>
            <a:ext cx="566466" cy="9656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6" name="直接箭头连接符 255">
            <a:extLst>
              <a:ext uri="{FF2B5EF4-FFF2-40B4-BE49-F238E27FC236}">
                <a16:creationId xmlns:a16="http://schemas.microsoft.com/office/drawing/2014/main" id="{385D7B22-637E-0392-1E27-C44B82C5DDB6}"/>
              </a:ext>
            </a:extLst>
          </p:cNvPr>
          <p:cNvCxnSpPr>
            <a:cxnSpLocks/>
            <a:stCxn id="27" idx="3"/>
          </p:cNvCxnSpPr>
          <p:nvPr/>
        </p:nvCxnSpPr>
        <p:spPr>
          <a:xfrm flipH="1" flipV="1">
            <a:off x="6430922" y="4371110"/>
            <a:ext cx="794640" cy="6877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8" name="直接箭头连接符 257">
            <a:extLst>
              <a:ext uri="{FF2B5EF4-FFF2-40B4-BE49-F238E27FC236}">
                <a16:creationId xmlns:a16="http://schemas.microsoft.com/office/drawing/2014/main" id="{ACAA1F76-9EA9-BB23-7E68-FCDA83D5C302}"/>
              </a:ext>
            </a:extLst>
          </p:cNvPr>
          <p:cNvCxnSpPr>
            <a:cxnSpLocks/>
            <a:stCxn id="32" idx="2"/>
          </p:cNvCxnSpPr>
          <p:nvPr/>
        </p:nvCxnSpPr>
        <p:spPr>
          <a:xfrm flipH="1" flipV="1">
            <a:off x="6420479" y="4375982"/>
            <a:ext cx="817675" cy="16898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0" name="直接箭头连接符 259">
            <a:extLst>
              <a:ext uri="{FF2B5EF4-FFF2-40B4-BE49-F238E27FC236}">
                <a16:creationId xmlns:a16="http://schemas.microsoft.com/office/drawing/2014/main" id="{B66BA605-7C34-15F4-953A-42009776CAB7}"/>
              </a:ext>
            </a:extLst>
          </p:cNvPr>
          <p:cNvCxnSpPr>
            <a:endCxn id="291" idx="3"/>
          </p:cNvCxnSpPr>
          <p:nvPr/>
        </p:nvCxnSpPr>
        <p:spPr>
          <a:xfrm flipH="1" flipV="1">
            <a:off x="4757696" y="3346504"/>
            <a:ext cx="599861" cy="993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80416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: 圆角 12">
            <a:extLst>
              <a:ext uri="{FF2B5EF4-FFF2-40B4-BE49-F238E27FC236}">
                <a16:creationId xmlns:a16="http://schemas.microsoft.com/office/drawing/2014/main" id="{7C4F6B04-3EDC-033B-4897-83F038A40265}"/>
              </a:ext>
            </a:extLst>
          </p:cNvPr>
          <p:cNvSpPr/>
          <p:nvPr/>
        </p:nvSpPr>
        <p:spPr>
          <a:xfrm>
            <a:off x="1134208" y="328554"/>
            <a:ext cx="9548301" cy="1839385"/>
          </a:xfrm>
          <a:prstGeom prst="roundRect">
            <a:avLst>
              <a:gd name="adj" fmla="val 5916"/>
            </a:avLst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形 2">
            <a:extLst>
              <a:ext uri="{FF2B5EF4-FFF2-40B4-BE49-F238E27FC236}">
                <a16:creationId xmlns:a16="http://schemas.microsoft.com/office/drawing/2014/main" id="{4DF365E7-0652-71C5-E1C1-3C90D0A9A7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16494" y="950617"/>
            <a:ext cx="997794" cy="867199"/>
          </a:xfrm>
          <a:prstGeom prst="rect">
            <a:avLst/>
          </a:prstGeom>
        </p:spPr>
      </p:pic>
      <p:pic>
        <p:nvPicPr>
          <p:cNvPr id="5" name="图形 4">
            <a:extLst>
              <a:ext uri="{FF2B5EF4-FFF2-40B4-BE49-F238E27FC236}">
                <a16:creationId xmlns:a16="http://schemas.microsoft.com/office/drawing/2014/main" id="{6212BAC4-AD2B-DC6D-9D5E-1DE13FF661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69096" y="950618"/>
            <a:ext cx="875562" cy="875562"/>
          </a:xfrm>
          <a:prstGeom prst="rect">
            <a:avLst/>
          </a:prstGeom>
        </p:spPr>
      </p:pic>
      <p:sp>
        <p:nvSpPr>
          <p:cNvPr id="7" name="矩形: 圆角 144">
            <a:extLst>
              <a:ext uri="{FF2B5EF4-FFF2-40B4-BE49-F238E27FC236}">
                <a16:creationId xmlns:a16="http://schemas.microsoft.com/office/drawing/2014/main" id="{9BB67ED5-A12C-FBE9-F168-38889B4FA27F}"/>
              </a:ext>
            </a:extLst>
          </p:cNvPr>
          <p:cNvSpPr/>
          <p:nvPr/>
        </p:nvSpPr>
        <p:spPr>
          <a:xfrm>
            <a:off x="3942168" y="416076"/>
            <a:ext cx="4172140" cy="410241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  <a:latin typeface="Helvetica" pitchFamily="2" charset="0"/>
                <a:cs typeface="Helvetica" panose="020B0604020202020204" pitchFamily="34" charset="0"/>
              </a:rPr>
              <a:t>Step1: Demographic Characteristic Extraction</a:t>
            </a:r>
            <a:endParaRPr lang="zh-CN" altLang="en-US" sz="1400" b="1" dirty="0">
              <a:solidFill>
                <a:schemeClr val="tx1"/>
              </a:solidFill>
              <a:latin typeface="Helvetica" pitchFamily="2" charset="0"/>
              <a:cs typeface="Helvetica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0D35212-D7BB-689E-88ED-328CB33D6010}"/>
              </a:ext>
            </a:extLst>
          </p:cNvPr>
          <p:cNvSpPr txBox="1"/>
          <p:nvPr/>
        </p:nvSpPr>
        <p:spPr>
          <a:xfrm>
            <a:off x="2039253" y="513595"/>
            <a:ext cx="11384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b="1" dirty="0">
                <a:latin typeface="Helvetica" pitchFamily="2" charset="0"/>
              </a:rPr>
              <a:t>PUMS Data</a:t>
            </a:r>
            <a:endParaRPr kumimoji="1" lang="zh-CN" altLang="en-US" sz="1400" b="1" dirty="0">
              <a:latin typeface="Helvetica" pitchFamily="2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3DCD28C-0F42-A839-B77D-EA8E732D4610}"/>
              </a:ext>
            </a:extLst>
          </p:cNvPr>
          <p:cNvSpPr/>
          <p:nvPr/>
        </p:nvSpPr>
        <p:spPr>
          <a:xfrm>
            <a:off x="4938707" y="977820"/>
            <a:ext cx="1301956" cy="375165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Helvetica" pitchFamily="2" charset="0"/>
              </a:rPr>
              <a:t>Log</a:t>
            </a:r>
            <a:r>
              <a:rPr lang="zh-CN" altLang="en-US" sz="1200" dirty="0">
                <a:solidFill>
                  <a:schemeClr val="tx1"/>
                </a:solidFill>
                <a:latin typeface="Helvetica" pitchFamily="2" charset="0"/>
              </a:rPr>
              <a:t> </a:t>
            </a:r>
            <a:endParaRPr lang="en-US" altLang="zh-CN" sz="1200" dirty="0">
              <a:solidFill>
                <a:schemeClr val="tx1"/>
              </a:solidFill>
              <a:latin typeface="Helvetica" pitchFamily="2" charset="0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Helvetica" pitchFamily="2" charset="0"/>
              </a:rPr>
              <a:t>Transformation</a:t>
            </a:r>
            <a:endParaRPr lang="zh-CN" altLang="en-US" sz="1200" dirty="0">
              <a:solidFill>
                <a:schemeClr val="tx1"/>
              </a:solidFill>
              <a:latin typeface="Helvetica" pitchFamily="2" charset="0"/>
            </a:endParaRPr>
          </a:p>
        </p:txBody>
      </p:sp>
      <p:cxnSp>
        <p:nvCxnSpPr>
          <p:cNvPr id="10" name="直线箭头连接符 9">
            <a:extLst>
              <a:ext uri="{FF2B5EF4-FFF2-40B4-BE49-F238E27FC236}">
                <a16:creationId xmlns:a16="http://schemas.microsoft.com/office/drawing/2014/main" id="{39F346EE-5D34-210C-48D5-86A808E550D9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4644658" y="1384217"/>
            <a:ext cx="1871836" cy="41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5037746B-5155-F22F-8C1C-9C471AA4092D}"/>
              </a:ext>
            </a:extLst>
          </p:cNvPr>
          <p:cNvCxnSpPr>
            <a:cxnSpLocks/>
            <a:stCxn id="3" idx="3"/>
            <a:endCxn id="15" idx="1"/>
          </p:cNvCxnSpPr>
          <p:nvPr/>
        </p:nvCxnSpPr>
        <p:spPr>
          <a:xfrm flipV="1">
            <a:off x="7514288" y="1384216"/>
            <a:ext cx="176384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3BE07D39-FAE8-1202-73B8-E95224D05B98}"/>
              </a:ext>
            </a:extLst>
          </p:cNvPr>
          <p:cNvSpPr/>
          <p:nvPr/>
        </p:nvSpPr>
        <p:spPr>
          <a:xfrm>
            <a:off x="7698873" y="1034723"/>
            <a:ext cx="1370303" cy="329686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Helvetica" pitchFamily="2" charset="0"/>
                <a:cs typeface="Helvetica" panose="020B0604020202020204" pitchFamily="34" charset="0"/>
              </a:rPr>
              <a:t>Z-score </a:t>
            </a:r>
          </a:p>
          <a:p>
            <a:pPr algn="ctr"/>
            <a:r>
              <a:rPr lang="en-US" altLang="zh-CN" sz="1200" dirty="0">
                <a:latin typeface="Helvetica" pitchFamily="2" charset="0"/>
                <a:cs typeface="Helvetica" panose="020B0604020202020204" pitchFamily="34" charset="0"/>
              </a:rPr>
              <a:t>Normalization</a:t>
            </a:r>
            <a:endParaRPr lang="zh-CN" altLang="en-US" sz="1200" dirty="0">
              <a:latin typeface="Helvetica" pitchFamily="2" charset="0"/>
              <a:cs typeface="Helvetica" panose="020B0604020202020204" pitchFamily="34" charset="0"/>
            </a:endParaRPr>
          </a:p>
        </p:txBody>
      </p:sp>
      <p:cxnSp>
        <p:nvCxnSpPr>
          <p:cNvPr id="13" name="直线箭头连接符 12">
            <a:extLst>
              <a:ext uri="{FF2B5EF4-FFF2-40B4-BE49-F238E27FC236}">
                <a16:creationId xmlns:a16="http://schemas.microsoft.com/office/drawing/2014/main" id="{B861A05F-ADD5-1B4F-54A9-A13D7F820635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2039253" y="1388399"/>
            <a:ext cx="1729843" cy="29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图形 14">
            <a:extLst>
              <a:ext uri="{FF2B5EF4-FFF2-40B4-BE49-F238E27FC236}">
                <a16:creationId xmlns:a16="http://schemas.microsoft.com/office/drawing/2014/main" id="{89DEB42A-D4D1-56B5-EA41-C60DEB3B117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278133" y="946435"/>
            <a:ext cx="997794" cy="875562"/>
          </a:xfrm>
          <a:prstGeom prst="rect">
            <a:avLst/>
          </a:prstGeom>
        </p:spPr>
      </p:pic>
      <p:sp>
        <p:nvSpPr>
          <p:cNvPr id="16" name="任意多边形: 形状 61">
            <a:extLst>
              <a:ext uri="{FF2B5EF4-FFF2-40B4-BE49-F238E27FC236}">
                <a16:creationId xmlns:a16="http://schemas.microsoft.com/office/drawing/2014/main" id="{75F370BC-2CF1-B18A-3DC2-FCFE78B0D528}"/>
              </a:ext>
            </a:extLst>
          </p:cNvPr>
          <p:cNvSpPr/>
          <p:nvPr/>
        </p:nvSpPr>
        <p:spPr>
          <a:xfrm rot="5400000">
            <a:off x="5436582" y="3844521"/>
            <a:ext cx="904872" cy="1062922"/>
          </a:xfrm>
          <a:custGeom>
            <a:avLst/>
            <a:gdLst>
              <a:gd name="csX0" fmla="*/ 0 w 720436"/>
              <a:gd name="csY0" fmla="*/ 831272 h 831272"/>
              <a:gd name="csX1" fmla="*/ 144087 w 720436"/>
              <a:gd name="csY1" fmla="*/ 415636 h 831272"/>
              <a:gd name="csX2" fmla="*/ 0 w 720436"/>
              <a:gd name="csY2" fmla="*/ 0 h 831272"/>
              <a:gd name="csX3" fmla="*/ 720436 w 720436"/>
              <a:gd name="csY3" fmla="*/ 0 h 831272"/>
              <a:gd name="csX4" fmla="*/ 576349 w 720436"/>
              <a:gd name="csY4" fmla="*/ 415636 h 831272"/>
              <a:gd name="csX5" fmla="*/ 720436 w 720436"/>
              <a:gd name="csY5" fmla="*/ 831272 h 8312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720436" h="831272">
                <a:moveTo>
                  <a:pt x="0" y="831272"/>
                </a:moveTo>
                <a:lnTo>
                  <a:pt x="144087" y="415636"/>
                </a:lnTo>
                <a:lnTo>
                  <a:pt x="0" y="0"/>
                </a:lnTo>
                <a:lnTo>
                  <a:pt x="720436" y="0"/>
                </a:lnTo>
                <a:lnTo>
                  <a:pt x="576349" y="415636"/>
                </a:lnTo>
                <a:lnTo>
                  <a:pt x="720436" y="831272"/>
                </a:lnTo>
                <a:close/>
              </a:path>
            </a:pathLst>
          </a:custGeom>
          <a:solidFill>
            <a:srgbClr val="D9D8C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wrap="square" rtlCol="0" anchor="ctr">
            <a:noAutofit/>
          </a:bodyPr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Noise Predictor</a:t>
            </a:r>
            <a:endParaRPr lang="zh-CN" altLang="en-US" sz="1400" dirty="0">
              <a:solidFill>
                <a:schemeClr val="tx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矩形: 圆角 24">
            <a:extLst>
              <a:ext uri="{FF2B5EF4-FFF2-40B4-BE49-F238E27FC236}">
                <a16:creationId xmlns:a16="http://schemas.microsoft.com/office/drawing/2014/main" id="{D3F2D574-C772-54C8-5FEC-DA4EF14D15E3}"/>
              </a:ext>
            </a:extLst>
          </p:cNvPr>
          <p:cNvSpPr/>
          <p:nvPr/>
        </p:nvSpPr>
        <p:spPr>
          <a:xfrm>
            <a:off x="1213809" y="2263960"/>
            <a:ext cx="3868630" cy="4151569"/>
          </a:xfrm>
          <a:prstGeom prst="roundRect">
            <a:avLst>
              <a:gd name="adj" fmla="val 6634"/>
            </a:avLst>
          </a:prstGeom>
          <a:solidFill>
            <a:schemeClr val="accent2">
              <a:lumMod val="20000"/>
              <a:lumOff val="80000"/>
            </a:schemeClr>
          </a:solidFill>
          <a:ln w="2857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A843A1B9-AAE9-5D7E-0341-967E175EACC6}"/>
              </a:ext>
            </a:extLst>
          </p:cNvPr>
          <p:cNvSpPr/>
          <p:nvPr/>
        </p:nvSpPr>
        <p:spPr>
          <a:xfrm>
            <a:off x="6748912" y="2270252"/>
            <a:ext cx="3933597" cy="4151569"/>
          </a:xfrm>
          <a:prstGeom prst="roundRect">
            <a:avLst>
              <a:gd name="adj" fmla="val 4018"/>
            </a:avLst>
          </a:prstGeom>
          <a:solidFill>
            <a:schemeClr val="tx2">
              <a:lumMod val="10000"/>
              <a:lumOff val="90000"/>
            </a:schemeClr>
          </a:solidFill>
          <a:ln w="2857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B0B38B37-3B7C-190C-729F-AFD2E747449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3809" y="823613"/>
            <a:ext cx="875562" cy="875562"/>
          </a:xfrm>
          <a:prstGeom prst="rect">
            <a:avLst/>
          </a:prstGeom>
        </p:spPr>
      </p:pic>
      <p:sp>
        <p:nvSpPr>
          <p:cNvPr id="21" name="矩形 20">
            <a:extLst>
              <a:ext uri="{FF2B5EF4-FFF2-40B4-BE49-F238E27FC236}">
                <a16:creationId xmlns:a16="http://schemas.microsoft.com/office/drawing/2014/main" id="{129C77E3-37C9-ECB3-E910-A56537DD40A7}"/>
              </a:ext>
            </a:extLst>
          </p:cNvPr>
          <p:cNvSpPr/>
          <p:nvPr/>
        </p:nvSpPr>
        <p:spPr>
          <a:xfrm>
            <a:off x="2184559" y="1076811"/>
            <a:ext cx="1366619" cy="307777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1200" dirty="0">
                <a:latin typeface="Helvetica" pitchFamily="2" charset="0"/>
                <a:cs typeface="Helvetica" panose="020B0604020202020204" pitchFamily="34" charset="0"/>
              </a:rPr>
              <a:t>Bin</a:t>
            </a:r>
            <a:r>
              <a:rPr lang="zh-CN" altLang="en-US" sz="1200" dirty="0">
                <a:latin typeface="Helvetica" pitchFamily="2" charset="0"/>
                <a:cs typeface="Helvetica" panose="020B0604020202020204" pitchFamily="34" charset="0"/>
              </a:rPr>
              <a:t> </a:t>
            </a:r>
            <a:r>
              <a:rPr lang="en-US" altLang="zh-CN" sz="1200" dirty="0">
                <a:latin typeface="Helvetica" pitchFamily="2" charset="0"/>
                <a:cs typeface="Helvetica" panose="020B0604020202020204" pitchFamily="34" charset="0"/>
              </a:rPr>
              <a:t>&amp; Aggregate</a:t>
            </a:r>
            <a:endParaRPr lang="en-US" altLang="zh-CN" sz="1200" b="1" dirty="0">
              <a:latin typeface="Helvetica" pitchFamily="2" charset="0"/>
              <a:cs typeface="Helvetica" panose="020B0604020202020204" pitchFamily="34" charset="0"/>
            </a:endParaRPr>
          </a:p>
        </p:txBody>
      </p:sp>
      <p:pic>
        <p:nvPicPr>
          <p:cNvPr id="23" name="图形 22">
            <a:extLst>
              <a:ext uri="{FF2B5EF4-FFF2-40B4-BE49-F238E27FC236}">
                <a16:creationId xmlns:a16="http://schemas.microsoft.com/office/drawing/2014/main" id="{1651AE49-076C-CA54-D9B2-16CC5F0E0EB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152816" y="2949186"/>
            <a:ext cx="960069" cy="953540"/>
          </a:xfrm>
          <a:prstGeom prst="rect">
            <a:avLst/>
          </a:prstGeom>
        </p:spPr>
      </p:pic>
      <p:pic>
        <p:nvPicPr>
          <p:cNvPr id="24" name="图形 23">
            <a:extLst>
              <a:ext uri="{FF2B5EF4-FFF2-40B4-BE49-F238E27FC236}">
                <a16:creationId xmlns:a16="http://schemas.microsoft.com/office/drawing/2014/main" id="{EE5D389D-A814-8438-C698-8456FDF2435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963174" y="2990395"/>
            <a:ext cx="920500" cy="928279"/>
          </a:xfrm>
          <a:prstGeom prst="rect">
            <a:avLst/>
          </a:prstGeom>
        </p:spPr>
      </p:pic>
      <p:pic>
        <p:nvPicPr>
          <p:cNvPr id="27" name="图形 26">
            <a:extLst>
              <a:ext uri="{FF2B5EF4-FFF2-40B4-BE49-F238E27FC236}">
                <a16:creationId xmlns:a16="http://schemas.microsoft.com/office/drawing/2014/main" id="{36DAA828-067D-8B4E-643E-0AA2AC460C9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flipH="1">
            <a:off x="7528252" y="4305474"/>
            <a:ext cx="2625749" cy="1390196"/>
          </a:xfrm>
          <a:prstGeom prst="rect">
            <a:avLst/>
          </a:prstGeom>
        </p:spPr>
      </p:pic>
      <p:sp>
        <p:nvSpPr>
          <p:cNvPr id="32" name="椭圆 31">
            <a:extLst>
              <a:ext uri="{FF2B5EF4-FFF2-40B4-BE49-F238E27FC236}">
                <a16:creationId xmlns:a16="http://schemas.microsoft.com/office/drawing/2014/main" id="{2B56216F-76BB-BA5D-1E90-2737FCD956C0}"/>
              </a:ext>
            </a:extLst>
          </p:cNvPr>
          <p:cNvSpPr/>
          <p:nvPr/>
        </p:nvSpPr>
        <p:spPr>
          <a:xfrm>
            <a:off x="7238154" y="5790527"/>
            <a:ext cx="526189" cy="526189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ysClr val="windowText" lastClr="0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</a:t>
            </a:r>
            <a:endParaRPr lang="zh-CN" altLang="en-US" dirty="0">
              <a:solidFill>
                <a:sysClr val="windowText" lastClr="0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36" name="直线箭头连接符 10">
            <a:extLst>
              <a:ext uri="{FF2B5EF4-FFF2-40B4-BE49-F238E27FC236}">
                <a16:creationId xmlns:a16="http://schemas.microsoft.com/office/drawing/2014/main" id="{BA51170E-677F-D9A7-F4D0-526E33C42B87}"/>
              </a:ext>
            </a:extLst>
          </p:cNvPr>
          <p:cNvCxnSpPr>
            <a:cxnSpLocks/>
          </p:cNvCxnSpPr>
          <p:nvPr/>
        </p:nvCxnSpPr>
        <p:spPr>
          <a:xfrm flipH="1">
            <a:off x="7856929" y="3393143"/>
            <a:ext cx="129588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矩形 36">
            <a:extLst>
              <a:ext uri="{FF2B5EF4-FFF2-40B4-BE49-F238E27FC236}">
                <a16:creationId xmlns:a16="http://schemas.microsoft.com/office/drawing/2014/main" id="{B152E239-67DA-98F3-0217-27B522E122C6}"/>
              </a:ext>
            </a:extLst>
          </p:cNvPr>
          <p:cNvSpPr/>
          <p:nvPr/>
        </p:nvSpPr>
        <p:spPr>
          <a:xfrm>
            <a:off x="8014766" y="2928163"/>
            <a:ext cx="884745" cy="421254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Helvetica" pitchFamily="2" charset="0"/>
                <a:cs typeface="Helvetica" panose="020B0604020202020204" pitchFamily="34" charset="0"/>
              </a:rPr>
              <a:t>Forward</a:t>
            </a:r>
          </a:p>
          <a:p>
            <a:pPr algn="ctr"/>
            <a:r>
              <a:rPr lang="en-US" altLang="zh-CN" sz="1200" dirty="0">
                <a:latin typeface="Helvetica" pitchFamily="2" charset="0"/>
                <a:cs typeface="Helvetica" panose="020B0604020202020204" pitchFamily="34" charset="0"/>
              </a:rPr>
              <a:t>Diffusion</a:t>
            </a:r>
            <a:endParaRPr lang="zh-CN" altLang="en-US" sz="1200" dirty="0">
              <a:latin typeface="Helvetica" pitchFamily="2" charset="0"/>
              <a:cs typeface="Helvetica" panose="020B0604020202020204" pitchFamily="34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0215E97-1CB7-22FE-6FB4-6008BD4293A5}"/>
              </a:ext>
            </a:extLst>
          </p:cNvPr>
          <p:cNvSpPr txBox="1"/>
          <p:nvPr/>
        </p:nvSpPr>
        <p:spPr>
          <a:xfrm>
            <a:off x="7043665" y="4012879"/>
            <a:ext cx="11384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Helvetica" panose="020B0604020202020204" pitchFamily="34" charset="0"/>
                <a:cs typeface="Helvetica" panose="020B0604020202020204" pitchFamily="34" charset="0"/>
              </a:rPr>
              <a:t>Condition</a:t>
            </a:r>
            <a:endParaRPr lang="zh-CN" altLang="en-US" sz="1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DAC96A96-053C-1794-624C-78EFBC667A07}"/>
              </a:ext>
            </a:extLst>
          </p:cNvPr>
          <p:cNvSpPr txBox="1"/>
          <p:nvPr/>
        </p:nvSpPr>
        <p:spPr>
          <a:xfrm>
            <a:off x="7856929" y="5893784"/>
            <a:ext cx="11384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Helvetica" panose="020B0604020202020204" pitchFamily="34" charset="0"/>
                <a:cs typeface="Helvetica" panose="020B0604020202020204" pitchFamily="34" charset="0"/>
              </a:rPr>
              <a:t>Time Steps</a:t>
            </a:r>
            <a:endParaRPr lang="zh-CN" altLang="en-US" sz="1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289" name="图形 288">
            <a:extLst>
              <a:ext uri="{FF2B5EF4-FFF2-40B4-BE49-F238E27FC236}">
                <a16:creationId xmlns:a16="http://schemas.microsoft.com/office/drawing/2014/main" id="{C8B091AA-518A-D25E-4315-59558EE52260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164705" y="5629864"/>
            <a:ext cx="637925" cy="630798"/>
          </a:xfrm>
          <a:prstGeom prst="rect">
            <a:avLst/>
          </a:prstGeom>
        </p:spPr>
      </p:pic>
      <p:pic>
        <p:nvPicPr>
          <p:cNvPr id="291" name="图形 290">
            <a:extLst>
              <a:ext uri="{FF2B5EF4-FFF2-40B4-BE49-F238E27FC236}">
                <a16:creationId xmlns:a16="http://schemas.microsoft.com/office/drawing/2014/main" id="{44008762-E3DA-4D81-3B99-82142674E89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942168" y="2990394"/>
            <a:ext cx="815528" cy="736145"/>
          </a:xfrm>
          <a:prstGeom prst="rect">
            <a:avLst/>
          </a:prstGeom>
        </p:spPr>
      </p:pic>
      <p:pic>
        <p:nvPicPr>
          <p:cNvPr id="292" name="图形 291">
            <a:extLst>
              <a:ext uri="{FF2B5EF4-FFF2-40B4-BE49-F238E27FC236}">
                <a16:creationId xmlns:a16="http://schemas.microsoft.com/office/drawing/2014/main" id="{6E7007B0-5BAB-8A3E-D0CF-7E15CD7AD841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7829" y="2982627"/>
            <a:ext cx="735561" cy="768866"/>
          </a:xfrm>
          <a:prstGeom prst="rect">
            <a:avLst/>
          </a:prstGeom>
        </p:spPr>
      </p:pic>
      <p:sp>
        <p:nvSpPr>
          <p:cNvPr id="296" name="矩形 295">
            <a:extLst>
              <a:ext uri="{FF2B5EF4-FFF2-40B4-BE49-F238E27FC236}">
                <a16:creationId xmlns:a16="http://schemas.microsoft.com/office/drawing/2014/main" id="{75D71855-EBA7-3A97-6A08-337388F7D7BF}"/>
              </a:ext>
            </a:extLst>
          </p:cNvPr>
          <p:cNvSpPr/>
          <p:nvPr/>
        </p:nvSpPr>
        <p:spPr>
          <a:xfrm>
            <a:off x="2046827" y="3800083"/>
            <a:ext cx="2010693" cy="410241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1200" dirty="0">
                <a:latin typeface="Helvetica" panose="020B0604020202020204" pitchFamily="34" charset="0"/>
                <a:cs typeface="Helvetica" panose="020B0604020202020204" pitchFamily="34" charset="0"/>
              </a:rPr>
              <a:t>Inverse Z-score &amp; </a:t>
            </a:r>
            <a:r>
              <a:rPr lang="en-US" sz="1200" noProof="1">
                <a:latin typeface="Helvetica" panose="020B0604020202020204" pitchFamily="34" charset="0"/>
                <a:cs typeface="Helvetica" panose="020B0604020202020204" pitchFamily="34" charset="0"/>
              </a:rPr>
              <a:t>Softmax</a:t>
            </a:r>
            <a:endParaRPr lang="zh-CN" altLang="en-US" sz="12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301" name="图形 300">
            <a:extLst>
              <a:ext uri="{FF2B5EF4-FFF2-40B4-BE49-F238E27FC236}">
                <a16:creationId xmlns:a16="http://schemas.microsoft.com/office/drawing/2014/main" id="{D7CDF4C1-47B2-52A4-65F6-D09B6A362DF6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617645" y="4375982"/>
            <a:ext cx="860913" cy="829721"/>
          </a:xfrm>
          <a:prstGeom prst="rect">
            <a:avLst/>
          </a:prstGeom>
        </p:spPr>
      </p:pic>
      <p:pic>
        <p:nvPicPr>
          <p:cNvPr id="302" name="图形 301">
            <a:extLst>
              <a:ext uri="{FF2B5EF4-FFF2-40B4-BE49-F238E27FC236}">
                <a16:creationId xmlns:a16="http://schemas.microsoft.com/office/drawing/2014/main" id="{B11D845D-C7F7-B782-72CB-4874DDE240BA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021552" y="4440851"/>
            <a:ext cx="736144" cy="736144"/>
          </a:xfrm>
          <a:prstGeom prst="rect">
            <a:avLst/>
          </a:prstGeom>
        </p:spPr>
      </p:pic>
      <p:sp>
        <p:nvSpPr>
          <p:cNvPr id="2" name="矩形: 圆角 144">
            <a:extLst>
              <a:ext uri="{FF2B5EF4-FFF2-40B4-BE49-F238E27FC236}">
                <a16:creationId xmlns:a16="http://schemas.microsoft.com/office/drawing/2014/main" id="{94E20667-E4D6-131A-DC78-AFC1EDFC0E96}"/>
              </a:ext>
            </a:extLst>
          </p:cNvPr>
          <p:cNvSpPr/>
          <p:nvPr/>
        </p:nvSpPr>
        <p:spPr>
          <a:xfrm>
            <a:off x="1923536" y="2351119"/>
            <a:ext cx="2681052" cy="410241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Helvetica" pitchFamily="2" charset="0"/>
                <a:cs typeface="Helvetica" panose="020B0604020202020204" pitchFamily="34" charset="0"/>
              </a:rPr>
              <a:t>Step3: Distribution Inference </a:t>
            </a:r>
            <a:endParaRPr lang="zh-CN" altLang="en-US" sz="1400" b="1" dirty="0">
              <a:solidFill>
                <a:schemeClr val="tx1"/>
              </a:solidFill>
              <a:latin typeface="Helvetica" pitchFamily="2" charset="0"/>
              <a:cs typeface="Helvetica" panose="020B0604020202020204" pitchFamily="34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FED182F-ACBE-4887-EAB7-36D4D9BCE027}"/>
              </a:ext>
            </a:extLst>
          </p:cNvPr>
          <p:cNvSpPr/>
          <p:nvPr/>
        </p:nvSpPr>
        <p:spPr>
          <a:xfrm>
            <a:off x="2683458" y="3005123"/>
            <a:ext cx="815529" cy="359987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1200" dirty="0">
                <a:latin typeface="Helvetica" panose="020B0604020202020204" pitchFamily="34" charset="0"/>
                <a:cs typeface="Helvetica" panose="020B0604020202020204" pitchFamily="34" charset="0"/>
              </a:rPr>
              <a:t>Reverse </a:t>
            </a:r>
          </a:p>
          <a:p>
            <a:r>
              <a:rPr lang="en-US" altLang="zh-CN" sz="1200" dirty="0">
                <a:latin typeface="Helvetica" panose="020B0604020202020204" pitchFamily="34" charset="0"/>
                <a:cs typeface="Helvetica" panose="020B0604020202020204" pitchFamily="34" charset="0"/>
              </a:rPr>
              <a:t>Diffusion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8D1C5A0-7643-F781-8AE0-6E942130B747}"/>
              </a:ext>
            </a:extLst>
          </p:cNvPr>
          <p:cNvSpPr/>
          <p:nvPr/>
        </p:nvSpPr>
        <p:spPr>
          <a:xfrm>
            <a:off x="2804747" y="5250539"/>
            <a:ext cx="1682616" cy="24809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1200" dirty="0">
                <a:latin typeface="Helvetica" panose="020B0604020202020204" pitchFamily="34" charset="0"/>
                <a:cs typeface="Helvetica" panose="020B0604020202020204" pitchFamily="34" charset="0"/>
              </a:rPr>
              <a:t>Average over Draws</a:t>
            </a:r>
            <a:endParaRPr lang="en-US" altLang="zh-CN" sz="1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9EC32E8-8C74-D1FF-5C75-402EB3B5795C}"/>
              </a:ext>
            </a:extLst>
          </p:cNvPr>
          <p:cNvSpPr/>
          <p:nvPr/>
        </p:nvSpPr>
        <p:spPr>
          <a:xfrm>
            <a:off x="3109787" y="5702083"/>
            <a:ext cx="731655" cy="24809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1200">
                <a:latin typeface="Helvetica" panose="020B0604020202020204" pitchFamily="34" charset="0"/>
                <a:cs typeface="Helvetica" panose="020B0604020202020204" pitchFamily="34" charset="0"/>
              </a:rPr>
              <a:t>Sample</a:t>
            </a:r>
            <a:endParaRPr lang="en-US" altLang="zh-CN" sz="12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C70C1B92-E25D-F420-08E8-DBF4DB132884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1567" y="5549337"/>
            <a:ext cx="791852" cy="791852"/>
          </a:xfrm>
          <a:prstGeom prst="rect">
            <a:avLst/>
          </a:prstGeom>
        </p:spPr>
      </p:pic>
      <p:cxnSp>
        <p:nvCxnSpPr>
          <p:cNvPr id="28" name="直线箭头连接符 9">
            <a:extLst>
              <a:ext uri="{FF2B5EF4-FFF2-40B4-BE49-F238E27FC236}">
                <a16:creationId xmlns:a16="http://schemas.microsoft.com/office/drawing/2014/main" id="{6F3D762E-63C1-7BD2-8632-593CD8D8D0A8}"/>
              </a:ext>
            </a:extLst>
          </p:cNvPr>
          <p:cNvCxnSpPr>
            <a:cxnSpLocks/>
            <a:stCxn id="292" idx="3"/>
            <a:endCxn id="291" idx="1"/>
          </p:cNvCxnSpPr>
          <p:nvPr/>
        </p:nvCxnSpPr>
        <p:spPr>
          <a:xfrm flipV="1">
            <a:off x="2383390" y="3358467"/>
            <a:ext cx="1558778" cy="85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线箭头连接符 9">
            <a:extLst>
              <a:ext uri="{FF2B5EF4-FFF2-40B4-BE49-F238E27FC236}">
                <a16:creationId xmlns:a16="http://schemas.microsoft.com/office/drawing/2014/main" id="{A4B0C846-757E-8906-2F62-8E224BB696CF}"/>
              </a:ext>
            </a:extLst>
          </p:cNvPr>
          <p:cNvCxnSpPr>
            <a:cxnSpLocks/>
            <a:stCxn id="289" idx="1"/>
            <a:endCxn id="26" idx="3"/>
          </p:cNvCxnSpPr>
          <p:nvPr/>
        </p:nvCxnSpPr>
        <p:spPr>
          <a:xfrm flipH="1">
            <a:off x="2363419" y="5945263"/>
            <a:ext cx="180128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线箭头连接符 9">
            <a:extLst>
              <a:ext uri="{FF2B5EF4-FFF2-40B4-BE49-F238E27FC236}">
                <a16:creationId xmlns:a16="http://schemas.microsoft.com/office/drawing/2014/main" id="{1A752AB8-161E-5001-73CA-F25CF3114C53}"/>
              </a:ext>
            </a:extLst>
          </p:cNvPr>
          <p:cNvCxnSpPr>
            <a:cxnSpLocks/>
          </p:cNvCxnSpPr>
          <p:nvPr/>
        </p:nvCxnSpPr>
        <p:spPr>
          <a:xfrm>
            <a:off x="2037999" y="3697362"/>
            <a:ext cx="0" cy="6786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线箭头连接符 9">
            <a:extLst>
              <a:ext uri="{FF2B5EF4-FFF2-40B4-BE49-F238E27FC236}">
                <a16:creationId xmlns:a16="http://schemas.microsoft.com/office/drawing/2014/main" id="{320FD63B-A7F7-96BC-8968-812D79EBD8B9}"/>
              </a:ext>
            </a:extLst>
          </p:cNvPr>
          <p:cNvCxnSpPr>
            <a:cxnSpLocks/>
            <a:endCxn id="289" idx="0"/>
          </p:cNvCxnSpPr>
          <p:nvPr/>
        </p:nvCxnSpPr>
        <p:spPr>
          <a:xfrm>
            <a:off x="4481125" y="5156347"/>
            <a:ext cx="2543" cy="4735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线箭头连接符 9">
            <a:extLst>
              <a:ext uri="{FF2B5EF4-FFF2-40B4-BE49-F238E27FC236}">
                <a16:creationId xmlns:a16="http://schemas.microsoft.com/office/drawing/2014/main" id="{957447C8-CB67-701C-3066-F937A5C99327}"/>
              </a:ext>
            </a:extLst>
          </p:cNvPr>
          <p:cNvCxnSpPr>
            <a:cxnSpLocks/>
          </p:cNvCxnSpPr>
          <p:nvPr/>
        </p:nvCxnSpPr>
        <p:spPr>
          <a:xfrm>
            <a:off x="2478558" y="4797669"/>
            <a:ext cx="152993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矩形 51">
            <a:extLst>
              <a:ext uri="{FF2B5EF4-FFF2-40B4-BE49-F238E27FC236}">
                <a16:creationId xmlns:a16="http://schemas.microsoft.com/office/drawing/2014/main" id="{DB40EDE1-D02C-8336-A1AC-17CBDCDD845F}"/>
              </a:ext>
            </a:extLst>
          </p:cNvPr>
          <p:cNvSpPr/>
          <p:nvPr/>
        </p:nvSpPr>
        <p:spPr>
          <a:xfrm>
            <a:off x="2729584" y="4408797"/>
            <a:ext cx="999163" cy="359058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Helvetica" panose="020B0604020202020204" pitchFamily="34" charset="0"/>
                <a:cs typeface="Helvetica" panose="020B0604020202020204" pitchFamily="34" charset="0"/>
              </a:rPr>
              <a:t>Repeated Draws</a:t>
            </a:r>
            <a:endParaRPr lang="en-US" altLang="zh-CN" sz="1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0ABFBADD-38EE-6E3C-72D0-6CAF67D30FB6}"/>
              </a:ext>
            </a:extLst>
          </p:cNvPr>
          <p:cNvCxnSpPr/>
          <p:nvPr/>
        </p:nvCxnSpPr>
        <p:spPr>
          <a:xfrm>
            <a:off x="13060218" y="3751494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直线箭头连接符 9">
            <a:extLst>
              <a:ext uri="{FF2B5EF4-FFF2-40B4-BE49-F238E27FC236}">
                <a16:creationId xmlns:a16="http://schemas.microsoft.com/office/drawing/2014/main" id="{EB93A878-BF7B-69D5-F6DD-802AB6C23D2A}"/>
              </a:ext>
            </a:extLst>
          </p:cNvPr>
          <p:cNvCxnSpPr>
            <a:cxnSpLocks/>
            <a:endCxn id="23" idx="0"/>
          </p:cNvCxnSpPr>
          <p:nvPr/>
        </p:nvCxnSpPr>
        <p:spPr>
          <a:xfrm>
            <a:off x="9632850" y="1785937"/>
            <a:ext cx="1" cy="11632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矩形: 圆角 144">
            <a:extLst>
              <a:ext uri="{FF2B5EF4-FFF2-40B4-BE49-F238E27FC236}">
                <a16:creationId xmlns:a16="http://schemas.microsoft.com/office/drawing/2014/main" id="{CA5DB152-DEB2-4043-7EE8-8BBB1195DB18}"/>
              </a:ext>
            </a:extLst>
          </p:cNvPr>
          <p:cNvSpPr/>
          <p:nvPr/>
        </p:nvSpPr>
        <p:spPr>
          <a:xfrm>
            <a:off x="7323453" y="2344595"/>
            <a:ext cx="2952474" cy="410241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Helvetica" pitchFamily="2" charset="0"/>
                <a:cs typeface="Helvetica" panose="020B0604020202020204" pitchFamily="34" charset="0"/>
              </a:rPr>
              <a:t>Step2: Diffusion Model Training</a:t>
            </a:r>
            <a:endParaRPr lang="zh-CN" altLang="en-US" sz="1400" b="1" dirty="0">
              <a:solidFill>
                <a:schemeClr val="tx1"/>
              </a:solidFill>
              <a:latin typeface="Helvetica" pitchFamily="2" charset="0"/>
              <a:cs typeface="Helvetica" panose="020B0604020202020204" pitchFamily="34" charset="0"/>
            </a:endParaRPr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244F8E44-E7F4-5F13-229C-733BF6F9522C}"/>
              </a:ext>
            </a:extLst>
          </p:cNvPr>
          <p:cNvCxnSpPr>
            <a:stCxn id="24" idx="1"/>
          </p:cNvCxnSpPr>
          <p:nvPr/>
        </p:nvCxnSpPr>
        <p:spPr>
          <a:xfrm flipH="1">
            <a:off x="6410036" y="3454535"/>
            <a:ext cx="553138" cy="9214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6" name="直接箭头连接符 255">
            <a:extLst>
              <a:ext uri="{FF2B5EF4-FFF2-40B4-BE49-F238E27FC236}">
                <a16:creationId xmlns:a16="http://schemas.microsoft.com/office/drawing/2014/main" id="{73A87D9C-8D33-37C2-2E2F-A536209FB2F1}"/>
              </a:ext>
            </a:extLst>
          </p:cNvPr>
          <p:cNvCxnSpPr>
            <a:cxnSpLocks/>
            <a:stCxn id="27" idx="3"/>
          </p:cNvCxnSpPr>
          <p:nvPr/>
        </p:nvCxnSpPr>
        <p:spPr>
          <a:xfrm flipH="1" flipV="1">
            <a:off x="6429468" y="4355370"/>
            <a:ext cx="1098784" cy="645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8" name="直接箭头连接符 257">
            <a:extLst>
              <a:ext uri="{FF2B5EF4-FFF2-40B4-BE49-F238E27FC236}">
                <a16:creationId xmlns:a16="http://schemas.microsoft.com/office/drawing/2014/main" id="{48C6B729-1B49-765E-B1D7-BEFFEA9EEE08}"/>
              </a:ext>
            </a:extLst>
          </p:cNvPr>
          <p:cNvCxnSpPr>
            <a:stCxn id="32" idx="2"/>
          </p:cNvCxnSpPr>
          <p:nvPr/>
        </p:nvCxnSpPr>
        <p:spPr>
          <a:xfrm flipH="1" flipV="1">
            <a:off x="6420479" y="4375982"/>
            <a:ext cx="817675" cy="16776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0" name="直接箭头连接符 259">
            <a:extLst>
              <a:ext uri="{FF2B5EF4-FFF2-40B4-BE49-F238E27FC236}">
                <a16:creationId xmlns:a16="http://schemas.microsoft.com/office/drawing/2014/main" id="{7EA8C3C3-511D-FAC3-ACBB-3C18FF94E23A}"/>
              </a:ext>
            </a:extLst>
          </p:cNvPr>
          <p:cNvCxnSpPr>
            <a:cxnSpLocks/>
            <a:endCxn id="291" idx="3"/>
          </p:cNvCxnSpPr>
          <p:nvPr/>
        </p:nvCxnSpPr>
        <p:spPr>
          <a:xfrm flipH="1" flipV="1">
            <a:off x="4757696" y="3358467"/>
            <a:ext cx="599861" cy="9812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510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BEFD2-E87D-CABE-2B94-90DB91C28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矩形: 圆角 12">
            <a:extLst>
              <a:ext uri="{FF2B5EF4-FFF2-40B4-BE49-F238E27FC236}">
                <a16:creationId xmlns:a16="http://schemas.microsoft.com/office/drawing/2014/main" id="{24A44BFB-23E5-1C10-37B2-B91077B73865}"/>
              </a:ext>
            </a:extLst>
          </p:cNvPr>
          <p:cNvSpPr/>
          <p:nvPr/>
        </p:nvSpPr>
        <p:spPr>
          <a:xfrm>
            <a:off x="8403158" y="39669"/>
            <a:ext cx="3745909" cy="6677890"/>
          </a:xfrm>
          <a:prstGeom prst="roundRect">
            <a:avLst>
              <a:gd name="adj" fmla="val 752"/>
            </a:avLst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6" name="矩形: 圆角 12">
            <a:extLst>
              <a:ext uri="{FF2B5EF4-FFF2-40B4-BE49-F238E27FC236}">
                <a16:creationId xmlns:a16="http://schemas.microsoft.com/office/drawing/2014/main" id="{E87C88F9-3C52-1F6D-7951-2027F491573C}"/>
              </a:ext>
            </a:extLst>
          </p:cNvPr>
          <p:cNvSpPr/>
          <p:nvPr/>
        </p:nvSpPr>
        <p:spPr>
          <a:xfrm>
            <a:off x="3980225" y="42041"/>
            <a:ext cx="4194968" cy="6686028"/>
          </a:xfrm>
          <a:prstGeom prst="roundRect">
            <a:avLst>
              <a:gd name="adj" fmla="val 2158"/>
            </a:avLst>
          </a:prstGeom>
          <a:solidFill>
            <a:schemeClr val="tx2">
              <a:lumMod val="10000"/>
              <a:lumOff val="90000"/>
            </a:schemeClr>
          </a:solidFill>
          <a:ln w="28575">
            <a:solidFill>
              <a:schemeClr val="tx2">
                <a:lumMod val="75000"/>
                <a:lumOff val="2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" name="矩形: 圆角 12">
            <a:extLst>
              <a:ext uri="{FF2B5EF4-FFF2-40B4-BE49-F238E27FC236}">
                <a16:creationId xmlns:a16="http://schemas.microsoft.com/office/drawing/2014/main" id="{08395391-64D7-D323-E534-C4D97FEDEB07}"/>
              </a:ext>
            </a:extLst>
          </p:cNvPr>
          <p:cNvSpPr/>
          <p:nvPr/>
        </p:nvSpPr>
        <p:spPr>
          <a:xfrm>
            <a:off x="25248" y="22394"/>
            <a:ext cx="3835671" cy="6686028"/>
          </a:xfrm>
          <a:prstGeom prst="roundRect">
            <a:avLst>
              <a:gd name="adj" fmla="val 2628"/>
            </a:avLst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5" name="图形 4">
            <a:extLst>
              <a:ext uri="{FF2B5EF4-FFF2-40B4-BE49-F238E27FC236}">
                <a16:creationId xmlns:a16="http://schemas.microsoft.com/office/drawing/2014/main" id="{F1508F5D-8F3A-4822-8500-3B69A40916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660176" y="1320600"/>
            <a:ext cx="1289691" cy="1289691"/>
          </a:xfrm>
          <a:prstGeom prst="rect">
            <a:avLst/>
          </a:prstGeom>
        </p:spPr>
      </p:pic>
      <p:sp>
        <p:nvSpPr>
          <p:cNvPr id="7" name="矩形: 圆角 144">
            <a:extLst>
              <a:ext uri="{FF2B5EF4-FFF2-40B4-BE49-F238E27FC236}">
                <a16:creationId xmlns:a16="http://schemas.microsoft.com/office/drawing/2014/main" id="{4FFF9488-7BAB-48FC-07FE-8E57C6D89376}"/>
              </a:ext>
            </a:extLst>
          </p:cNvPr>
          <p:cNvSpPr/>
          <p:nvPr/>
        </p:nvSpPr>
        <p:spPr>
          <a:xfrm>
            <a:off x="444896" y="158590"/>
            <a:ext cx="2962646" cy="483606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  <a:latin typeface="Helvetica" pitchFamily="2" charset="0"/>
                <a:cs typeface="Helvetica" panose="020B0604020202020204" pitchFamily="34" charset="0"/>
              </a:rPr>
              <a:t>Step1: Regional Targets and External</a:t>
            </a:r>
            <a:r>
              <a:rPr lang="zh-CN" altLang="en-US" sz="1400" b="1" dirty="0">
                <a:solidFill>
                  <a:schemeClr val="tx1"/>
                </a:solidFill>
                <a:latin typeface="Helvetica" pitchFamily="2" charset="0"/>
                <a:cs typeface="Helvetica" panose="020B0604020202020204" pitchFamily="34" charset="0"/>
              </a:rPr>
              <a:t> </a:t>
            </a:r>
            <a:r>
              <a:rPr lang="en-US" altLang="zh-CN" sz="1400" b="1" dirty="0">
                <a:solidFill>
                  <a:schemeClr val="tx1"/>
                </a:solidFill>
                <a:latin typeface="Helvetica" pitchFamily="2" charset="0"/>
                <a:cs typeface="Helvetica" panose="020B0604020202020204" pitchFamily="34" charset="0"/>
              </a:rPr>
              <a:t>Conditions</a:t>
            </a:r>
            <a:endParaRPr lang="zh-CN" altLang="en-US" sz="1400" b="1" dirty="0">
              <a:solidFill>
                <a:schemeClr val="tx1"/>
              </a:solidFill>
              <a:latin typeface="Helvetica" pitchFamily="2" charset="0"/>
              <a:cs typeface="Helvetica" panose="020B0604020202020204" pitchFamily="34" charset="0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4E27A524-2497-FC11-6FCE-61E0E70A1466}"/>
              </a:ext>
            </a:extLst>
          </p:cNvPr>
          <p:cNvSpPr/>
          <p:nvPr/>
        </p:nvSpPr>
        <p:spPr>
          <a:xfrm>
            <a:off x="516021" y="3999808"/>
            <a:ext cx="2593290" cy="2603828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3" name="图片 32">
            <a:extLst>
              <a:ext uri="{FF2B5EF4-FFF2-40B4-BE49-F238E27FC236}">
                <a16:creationId xmlns:a16="http://schemas.microsoft.com/office/drawing/2014/main" id="{4585FB55-80D9-FD2B-A9F5-5C106DC951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404" y="4559777"/>
            <a:ext cx="446894" cy="457200"/>
          </a:xfrm>
          <a:prstGeom prst="rect">
            <a:avLst/>
          </a:prstGeom>
        </p:spPr>
      </p:pic>
      <p:pic>
        <p:nvPicPr>
          <p:cNvPr id="35" name="图片 34">
            <a:extLst>
              <a:ext uri="{FF2B5EF4-FFF2-40B4-BE49-F238E27FC236}">
                <a16:creationId xmlns:a16="http://schemas.microsoft.com/office/drawing/2014/main" id="{66505520-9214-B8D2-FD7B-039102FA3E3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8302" y="4551043"/>
            <a:ext cx="446894" cy="457200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B72FAEA3-C2A7-2FF5-2FEA-F3844DA98A9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703" y="5309619"/>
            <a:ext cx="429930" cy="439845"/>
          </a:xfrm>
          <a:prstGeom prst="rect">
            <a:avLst/>
          </a:prstGeom>
        </p:spPr>
      </p:pic>
      <p:pic>
        <p:nvPicPr>
          <p:cNvPr id="44" name="图片 43">
            <a:extLst>
              <a:ext uri="{FF2B5EF4-FFF2-40B4-BE49-F238E27FC236}">
                <a16:creationId xmlns:a16="http://schemas.microsoft.com/office/drawing/2014/main" id="{9EC23F0C-6E93-8D77-4432-B4EBF5A3C21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2032" y="5253604"/>
            <a:ext cx="539433" cy="551874"/>
          </a:xfrm>
          <a:prstGeom prst="rect">
            <a:avLst/>
          </a:prstGeom>
        </p:spPr>
      </p:pic>
      <p:pic>
        <p:nvPicPr>
          <p:cNvPr id="46" name="图片 45">
            <a:extLst>
              <a:ext uri="{FF2B5EF4-FFF2-40B4-BE49-F238E27FC236}">
                <a16:creationId xmlns:a16="http://schemas.microsoft.com/office/drawing/2014/main" id="{B6BB5C71-F7B5-9759-8FBC-D8D14F8D291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635" y="6047626"/>
            <a:ext cx="478066" cy="489091"/>
          </a:xfrm>
          <a:prstGeom prst="rect">
            <a:avLst/>
          </a:prstGeom>
        </p:spPr>
      </p:pic>
      <p:sp>
        <p:nvSpPr>
          <p:cNvPr id="49" name="矩形: 圆角 144">
            <a:extLst>
              <a:ext uri="{FF2B5EF4-FFF2-40B4-BE49-F238E27FC236}">
                <a16:creationId xmlns:a16="http://schemas.microsoft.com/office/drawing/2014/main" id="{57F14772-BE91-6C62-6C98-EB9BB7BDCDA0}"/>
              </a:ext>
            </a:extLst>
          </p:cNvPr>
          <p:cNvSpPr/>
          <p:nvPr/>
        </p:nvSpPr>
        <p:spPr>
          <a:xfrm>
            <a:off x="1130123" y="4106037"/>
            <a:ext cx="1439741" cy="330043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1"/>
                </a:solidFill>
                <a:latin typeface="Helvetica" pitchFamily="2" charset="0"/>
                <a:cs typeface="Helvetica" panose="020B0604020202020204" pitchFamily="34" charset="0"/>
              </a:rPr>
              <a:t>PUMS Microdata</a:t>
            </a:r>
          </a:p>
        </p:txBody>
      </p:sp>
      <p:sp>
        <p:nvSpPr>
          <p:cNvPr id="269" name="矩形: 圆角 268">
            <a:extLst>
              <a:ext uri="{FF2B5EF4-FFF2-40B4-BE49-F238E27FC236}">
                <a16:creationId xmlns:a16="http://schemas.microsoft.com/office/drawing/2014/main" id="{3788B21B-6A10-2C9D-9190-4490B212095E}"/>
              </a:ext>
            </a:extLst>
          </p:cNvPr>
          <p:cNvSpPr/>
          <p:nvPr/>
        </p:nvSpPr>
        <p:spPr>
          <a:xfrm>
            <a:off x="561319" y="804105"/>
            <a:ext cx="2593290" cy="3033794"/>
          </a:xfrm>
          <a:prstGeom prst="roundRect">
            <a:avLst>
              <a:gd name="adj" fmla="val 6694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1" name="图形 60">
            <a:extLst>
              <a:ext uri="{FF2B5EF4-FFF2-40B4-BE49-F238E27FC236}">
                <a16:creationId xmlns:a16="http://schemas.microsoft.com/office/drawing/2014/main" id="{5FF80E18-2A1E-E76B-2486-CC320849774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75405" y="1494346"/>
            <a:ext cx="587862" cy="502625"/>
          </a:xfrm>
          <a:prstGeom prst="rect">
            <a:avLst/>
          </a:prstGeom>
        </p:spPr>
      </p:pic>
      <p:pic>
        <p:nvPicPr>
          <p:cNvPr id="257" name="图形 256">
            <a:extLst>
              <a:ext uri="{FF2B5EF4-FFF2-40B4-BE49-F238E27FC236}">
                <a16:creationId xmlns:a16="http://schemas.microsoft.com/office/drawing/2014/main" id="{FB0D2757-24D0-E52D-C303-6C496A0E94F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024586" y="1397665"/>
            <a:ext cx="572750" cy="559644"/>
          </a:xfrm>
          <a:prstGeom prst="rect">
            <a:avLst/>
          </a:prstGeom>
        </p:spPr>
      </p:pic>
      <p:pic>
        <p:nvPicPr>
          <p:cNvPr id="261" name="图形 260">
            <a:extLst>
              <a:ext uri="{FF2B5EF4-FFF2-40B4-BE49-F238E27FC236}">
                <a16:creationId xmlns:a16="http://schemas.microsoft.com/office/drawing/2014/main" id="{A2AEAE21-F564-04CF-9497-54B9630662F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030089" y="2270723"/>
            <a:ext cx="598102" cy="512066"/>
          </a:xfrm>
          <a:prstGeom prst="rect">
            <a:avLst/>
          </a:prstGeom>
        </p:spPr>
      </p:pic>
      <p:pic>
        <p:nvPicPr>
          <p:cNvPr id="262" name="图形 261">
            <a:extLst>
              <a:ext uri="{FF2B5EF4-FFF2-40B4-BE49-F238E27FC236}">
                <a16:creationId xmlns:a16="http://schemas.microsoft.com/office/drawing/2014/main" id="{25C2268C-2289-1F44-1F1C-694A7801A2E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87072" y="2273621"/>
            <a:ext cx="535364" cy="523114"/>
          </a:xfrm>
          <a:prstGeom prst="rect">
            <a:avLst/>
          </a:prstGeom>
        </p:spPr>
      </p:pic>
      <p:pic>
        <p:nvPicPr>
          <p:cNvPr id="268" name="图形 267">
            <a:extLst>
              <a:ext uri="{FF2B5EF4-FFF2-40B4-BE49-F238E27FC236}">
                <a16:creationId xmlns:a16="http://schemas.microsoft.com/office/drawing/2014/main" id="{57383F85-EA61-1939-1FFA-83A79E8D31B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4833" y="3072730"/>
            <a:ext cx="563885" cy="481209"/>
          </a:xfrm>
          <a:prstGeom prst="rect">
            <a:avLst/>
          </a:prstGeom>
        </p:spPr>
      </p:pic>
      <p:sp>
        <p:nvSpPr>
          <p:cNvPr id="270" name="矩形: 圆角 144">
            <a:extLst>
              <a:ext uri="{FF2B5EF4-FFF2-40B4-BE49-F238E27FC236}">
                <a16:creationId xmlns:a16="http://schemas.microsoft.com/office/drawing/2014/main" id="{52260D44-3100-EBA9-2E9C-77C94F50AC56}"/>
              </a:ext>
            </a:extLst>
          </p:cNvPr>
          <p:cNvSpPr/>
          <p:nvPr/>
        </p:nvSpPr>
        <p:spPr>
          <a:xfrm>
            <a:off x="793153" y="943514"/>
            <a:ext cx="2277668" cy="330043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1"/>
                </a:solidFill>
                <a:latin typeface="Helvetica" pitchFamily="2" charset="0"/>
                <a:cs typeface="Helvetica" panose="020B0604020202020204" pitchFamily="34" charset="0"/>
              </a:rPr>
              <a:t>External Census Summaries</a:t>
            </a:r>
          </a:p>
        </p:txBody>
      </p:sp>
      <p:sp>
        <p:nvSpPr>
          <p:cNvPr id="6" name="任意多边形: 形状 61">
            <a:extLst>
              <a:ext uri="{FF2B5EF4-FFF2-40B4-BE49-F238E27FC236}">
                <a16:creationId xmlns:a16="http://schemas.microsoft.com/office/drawing/2014/main" id="{8F6BE534-22EA-2F6E-820C-4E57E0FACBEF}"/>
              </a:ext>
            </a:extLst>
          </p:cNvPr>
          <p:cNvSpPr/>
          <p:nvPr/>
        </p:nvSpPr>
        <p:spPr>
          <a:xfrm rot="5400000">
            <a:off x="6668255" y="1997054"/>
            <a:ext cx="1349584" cy="1380645"/>
          </a:xfrm>
          <a:custGeom>
            <a:avLst/>
            <a:gdLst>
              <a:gd name="csX0" fmla="*/ 0 w 720436"/>
              <a:gd name="csY0" fmla="*/ 831272 h 831272"/>
              <a:gd name="csX1" fmla="*/ 144087 w 720436"/>
              <a:gd name="csY1" fmla="*/ 415636 h 831272"/>
              <a:gd name="csX2" fmla="*/ 0 w 720436"/>
              <a:gd name="csY2" fmla="*/ 0 h 831272"/>
              <a:gd name="csX3" fmla="*/ 720436 w 720436"/>
              <a:gd name="csY3" fmla="*/ 0 h 831272"/>
              <a:gd name="csX4" fmla="*/ 576349 w 720436"/>
              <a:gd name="csY4" fmla="*/ 415636 h 831272"/>
              <a:gd name="csX5" fmla="*/ 720436 w 720436"/>
              <a:gd name="csY5" fmla="*/ 831272 h 8312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720436" h="831272">
                <a:moveTo>
                  <a:pt x="0" y="831272"/>
                </a:moveTo>
                <a:lnTo>
                  <a:pt x="144087" y="415636"/>
                </a:lnTo>
                <a:lnTo>
                  <a:pt x="0" y="0"/>
                </a:lnTo>
                <a:lnTo>
                  <a:pt x="720436" y="0"/>
                </a:lnTo>
                <a:lnTo>
                  <a:pt x="576349" y="415636"/>
                </a:lnTo>
                <a:lnTo>
                  <a:pt x="720436" y="831272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wrap="square" rtlCol="0" anchor="ctr">
            <a:noAutofit/>
          </a:bodyPr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Joint Diffusion Model</a:t>
            </a:r>
            <a:endParaRPr lang="zh-CN" altLang="en-US" sz="1400" dirty="0">
              <a:solidFill>
                <a:schemeClr val="tx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任意多边形: 形状 61">
            <a:extLst>
              <a:ext uri="{FF2B5EF4-FFF2-40B4-BE49-F238E27FC236}">
                <a16:creationId xmlns:a16="http://schemas.microsoft.com/office/drawing/2014/main" id="{A09A28B6-C4B0-AFC7-9E05-5680CCDF335A}"/>
              </a:ext>
            </a:extLst>
          </p:cNvPr>
          <p:cNvSpPr/>
          <p:nvPr/>
        </p:nvSpPr>
        <p:spPr>
          <a:xfrm rot="5400000">
            <a:off x="6668261" y="4152226"/>
            <a:ext cx="1349585" cy="1380657"/>
          </a:xfrm>
          <a:custGeom>
            <a:avLst/>
            <a:gdLst>
              <a:gd name="csX0" fmla="*/ 0 w 720436"/>
              <a:gd name="csY0" fmla="*/ 831272 h 831272"/>
              <a:gd name="csX1" fmla="*/ 144087 w 720436"/>
              <a:gd name="csY1" fmla="*/ 415636 h 831272"/>
              <a:gd name="csX2" fmla="*/ 0 w 720436"/>
              <a:gd name="csY2" fmla="*/ 0 h 831272"/>
              <a:gd name="csX3" fmla="*/ 720436 w 720436"/>
              <a:gd name="csY3" fmla="*/ 0 h 831272"/>
              <a:gd name="csX4" fmla="*/ 576349 w 720436"/>
              <a:gd name="csY4" fmla="*/ 415636 h 831272"/>
              <a:gd name="csX5" fmla="*/ 720436 w 720436"/>
              <a:gd name="csY5" fmla="*/ 831272 h 8312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720436" h="831272">
                <a:moveTo>
                  <a:pt x="0" y="831272"/>
                </a:moveTo>
                <a:lnTo>
                  <a:pt x="144087" y="415636"/>
                </a:lnTo>
                <a:lnTo>
                  <a:pt x="0" y="0"/>
                </a:lnTo>
                <a:lnTo>
                  <a:pt x="720436" y="0"/>
                </a:lnTo>
                <a:lnTo>
                  <a:pt x="576349" y="415636"/>
                </a:lnTo>
                <a:lnTo>
                  <a:pt x="720436" y="831272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wrap="square" rtlCol="0" anchor="ctr">
            <a:noAutofit/>
          </a:bodyPr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Person-level earnings model</a:t>
            </a:r>
            <a:endParaRPr lang="zh-CN" altLang="en-US" sz="1400" dirty="0">
              <a:solidFill>
                <a:schemeClr val="tx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存储的数据 15">
            <a:extLst>
              <a:ext uri="{FF2B5EF4-FFF2-40B4-BE49-F238E27FC236}">
                <a16:creationId xmlns:a16="http://schemas.microsoft.com/office/drawing/2014/main" id="{0179357C-FE33-E70D-3BB4-CF6CAD31BE68}"/>
              </a:ext>
            </a:extLst>
          </p:cNvPr>
          <p:cNvSpPr/>
          <p:nvPr/>
        </p:nvSpPr>
        <p:spPr>
          <a:xfrm>
            <a:off x="4244339" y="1984060"/>
            <a:ext cx="1560859" cy="672802"/>
          </a:xfrm>
          <a:prstGeom prst="flowChartOnlineStorage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Helvetica" pitchFamily="2" charset="0"/>
              </a:rPr>
              <a:t>Condition Encoder</a:t>
            </a:r>
            <a:endParaRPr kumimoji="1" lang="zh-CN" altLang="en-US" sz="1400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17" name="文档 16">
            <a:extLst>
              <a:ext uri="{FF2B5EF4-FFF2-40B4-BE49-F238E27FC236}">
                <a16:creationId xmlns:a16="http://schemas.microsoft.com/office/drawing/2014/main" id="{E7257E29-C7FB-F2F6-08D8-7242DAF541FB}"/>
              </a:ext>
            </a:extLst>
          </p:cNvPr>
          <p:cNvSpPr/>
          <p:nvPr/>
        </p:nvSpPr>
        <p:spPr>
          <a:xfrm>
            <a:off x="4413901" y="4371381"/>
            <a:ext cx="1214639" cy="942988"/>
          </a:xfrm>
          <a:prstGeom prst="flowChartDocumen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Regional</a:t>
            </a:r>
            <a:r>
              <a:rPr lang="zh-CN" altLang="en-US" sz="14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altLang="zh-CN" sz="14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Context</a:t>
            </a:r>
            <a:endParaRPr lang="zh-CN" altLang="en-US" sz="1400" dirty="0">
              <a:solidFill>
                <a:schemeClr val="tx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24" name="直线箭头连接符 23">
            <a:extLst>
              <a:ext uri="{FF2B5EF4-FFF2-40B4-BE49-F238E27FC236}">
                <a16:creationId xmlns:a16="http://schemas.microsoft.com/office/drawing/2014/main" id="{078FFF71-EB4D-5A4D-8E56-6AA253EA98BD}"/>
              </a:ext>
            </a:extLst>
          </p:cNvPr>
          <p:cNvCxnSpPr>
            <a:cxnSpLocks/>
            <a:stCxn id="269" idx="3"/>
            <a:endCxn id="16" idx="1"/>
          </p:cNvCxnSpPr>
          <p:nvPr/>
        </p:nvCxnSpPr>
        <p:spPr>
          <a:xfrm flipV="1">
            <a:off x="3154609" y="2320461"/>
            <a:ext cx="1089730" cy="541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线箭头连接符 31">
            <a:extLst>
              <a:ext uri="{FF2B5EF4-FFF2-40B4-BE49-F238E27FC236}">
                <a16:creationId xmlns:a16="http://schemas.microsoft.com/office/drawing/2014/main" id="{05E457C3-C2B5-A8D2-A577-5678B03218E7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 flipH="1">
            <a:off x="5021221" y="2656862"/>
            <a:ext cx="3548" cy="171451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线箭头连接符 41">
            <a:extLst>
              <a:ext uri="{FF2B5EF4-FFF2-40B4-BE49-F238E27FC236}">
                <a16:creationId xmlns:a16="http://schemas.microsoft.com/office/drawing/2014/main" id="{D1985E99-482D-78CB-E075-DBAB0733AC04}"/>
              </a:ext>
            </a:extLst>
          </p:cNvPr>
          <p:cNvCxnSpPr>
            <a:cxnSpLocks/>
            <a:stCxn id="47" idx="3"/>
          </p:cNvCxnSpPr>
          <p:nvPr/>
        </p:nvCxnSpPr>
        <p:spPr>
          <a:xfrm flipV="1">
            <a:off x="3109311" y="2808381"/>
            <a:ext cx="3471610" cy="2493341"/>
          </a:xfrm>
          <a:prstGeom prst="straightConnector1">
            <a:avLst/>
          </a:prstGeom>
          <a:ln w="28575"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肘形连接符 55">
            <a:extLst>
              <a:ext uri="{FF2B5EF4-FFF2-40B4-BE49-F238E27FC236}">
                <a16:creationId xmlns:a16="http://schemas.microsoft.com/office/drawing/2014/main" id="{5785E780-713C-1C89-083D-9A50BB8719ED}"/>
              </a:ext>
            </a:extLst>
          </p:cNvPr>
          <p:cNvCxnSpPr>
            <a:cxnSpLocks/>
            <a:endCxn id="13" idx="4"/>
          </p:cNvCxnSpPr>
          <p:nvPr/>
        </p:nvCxnSpPr>
        <p:spPr>
          <a:xfrm flipV="1">
            <a:off x="3099356" y="5247430"/>
            <a:ext cx="4243697" cy="841662"/>
          </a:xfrm>
          <a:prstGeom prst="bentConnector2">
            <a:avLst/>
          </a:prstGeom>
          <a:ln w="28575"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线箭头连接符 57">
            <a:extLst>
              <a:ext uri="{FF2B5EF4-FFF2-40B4-BE49-F238E27FC236}">
                <a16:creationId xmlns:a16="http://schemas.microsoft.com/office/drawing/2014/main" id="{CDD1AEFC-CE5E-A5D9-63F7-F402014B02BF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5628540" y="4842875"/>
            <a:ext cx="1024185" cy="5641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线箭头连接符 59">
            <a:extLst>
              <a:ext uri="{FF2B5EF4-FFF2-40B4-BE49-F238E27FC236}">
                <a16:creationId xmlns:a16="http://schemas.microsoft.com/office/drawing/2014/main" id="{A38B4A64-5E2F-9F27-A259-1F62D81F7837}"/>
              </a:ext>
            </a:extLst>
          </p:cNvPr>
          <p:cNvCxnSpPr>
            <a:cxnSpLocks/>
          </p:cNvCxnSpPr>
          <p:nvPr/>
        </p:nvCxnSpPr>
        <p:spPr>
          <a:xfrm flipV="1">
            <a:off x="5159924" y="2783823"/>
            <a:ext cx="1492800" cy="1607622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71" name="图片 270">
            <a:extLst>
              <a:ext uri="{FF2B5EF4-FFF2-40B4-BE49-F238E27FC236}">
                <a16:creationId xmlns:a16="http://schemas.microsoft.com/office/drawing/2014/main" id="{C11CB681-4D05-FB9C-9688-81EF2144B9DE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7850" y="3586228"/>
            <a:ext cx="1289692" cy="1289692"/>
          </a:xfrm>
          <a:prstGeom prst="rect">
            <a:avLst/>
          </a:prstGeom>
        </p:spPr>
      </p:pic>
      <p:cxnSp>
        <p:nvCxnSpPr>
          <p:cNvPr id="273" name="直线箭头连接符 272">
            <a:extLst>
              <a:ext uri="{FF2B5EF4-FFF2-40B4-BE49-F238E27FC236}">
                <a16:creationId xmlns:a16="http://schemas.microsoft.com/office/drawing/2014/main" id="{359D4C18-98FF-353A-9459-1ADBB9B3E724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8032220" y="1965446"/>
            <a:ext cx="1627956" cy="401621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5" name="直线箭头连接符 274">
            <a:extLst>
              <a:ext uri="{FF2B5EF4-FFF2-40B4-BE49-F238E27FC236}">
                <a16:creationId xmlns:a16="http://schemas.microsoft.com/office/drawing/2014/main" id="{B48AE4B4-B191-A073-8B6F-E1ED4513199A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10292696" y="2610291"/>
            <a:ext cx="12326" cy="92487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9" name="直线箭头连接符 278">
            <a:extLst>
              <a:ext uri="{FF2B5EF4-FFF2-40B4-BE49-F238E27FC236}">
                <a16:creationId xmlns:a16="http://schemas.microsoft.com/office/drawing/2014/main" id="{610B1D2F-70B5-3442-1568-D2C1F67F8095}"/>
              </a:ext>
            </a:extLst>
          </p:cNvPr>
          <p:cNvCxnSpPr>
            <a:cxnSpLocks/>
            <a:endCxn id="271" idx="1"/>
          </p:cNvCxnSpPr>
          <p:nvPr/>
        </p:nvCxnSpPr>
        <p:spPr>
          <a:xfrm flipV="1">
            <a:off x="8032220" y="4231074"/>
            <a:ext cx="1615630" cy="644846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3" name="文本框 282">
            <a:extLst>
              <a:ext uri="{FF2B5EF4-FFF2-40B4-BE49-F238E27FC236}">
                <a16:creationId xmlns:a16="http://schemas.microsoft.com/office/drawing/2014/main" id="{217F1FB7-49EA-6711-AC13-490AFF7D3097}"/>
              </a:ext>
            </a:extLst>
          </p:cNvPr>
          <p:cNvSpPr txBox="1"/>
          <p:nvPr/>
        </p:nvSpPr>
        <p:spPr>
          <a:xfrm>
            <a:off x="8840035" y="920092"/>
            <a:ext cx="313334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400" dirty="0">
                <a:latin typeface="Helvetica" pitchFamily="2" charset="0"/>
              </a:rPr>
              <a:t>4-attribute Regional Joint Distribution</a:t>
            </a:r>
          </a:p>
        </p:txBody>
      </p:sp>
      <p:sp>
        <p:nvSpPr>
          <p:cNvPr id="296" name="文本框 295">
            <a:extLst>
              <a:ext uri="{FF2B5EF4-FFF2-40B4-BE49-F238E27FC236}">
                <a16:creationId xmlns:a16="http://schemas.microsoft.com/office/drawing/2014/main" id="{3680CBE8-972E-D752-244B-AE7750EFB573}"/>
              </a:ext>
            </a:extLst>
          </p:cNvPr>
          <p:cNvSpPr txBox="1"/>
          <p:nvPr/>
        </p:nvSpPr>
        <p:spPr>
          <a:xfrm>
            <a:off x="951405" y="2038765"/>
            <a:ext cx="4974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200" dirty="0">
                <a:latin typeface="Helvetica" pitchFamily="2" charset="0"/>
              </a:rPr>
              <a:t>Age</a:t>
            </a:r>
          </a:p>
        </p:txBody>
      </p:sp>
      <p:sp>
        <p:nvSpPr>
          <p:cNvPr id="297" name="文本框 296">
            <a:extLst>
              <a:ext uri="{FF2B5EF4-FFF2-40B4-BE49-F238E27FC236}">
                <a16:creationId xmlns:a16="http://schemas.microsoft.com/office/drawing/2014/main" id="{2BDD146D-8A48-8B56-9FCD-20C4FD76F381}"/>
              </a:ext>
            </a:extLst>
          </p:cNvPr>
          <p:cNvSpPr txBox="1"/>
          <p:nvPr/>
        </p:nvSpPr>
        <p:spPr>
          <a:xfrm>
            <a:off x="2124301" y="2017849"/>
            <a:ext cx="47303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200" dirty="0">
                <a:latin typeface="Helvetica" pitchFamily="2" charset="0"/>
              </a:rPr>
              <a:t>sex</a:t>
            </a:r>
          </a:p>
        </p:txBody>
      </p:sp>
      <p:sp>
        <p:nvSpPr>
          <p:cNvPr id="298" name="文本框 297">
            <a:extLst>
              <a:ext uri="{FF2B5EF4-FFF2-40B4-BE49-F238E27FC236}">
                <a16:creationId xmlns:a16="http://schemas.microsoft.com/office/drawing/2014/main" id="{55D17F62-72D8-0C8F-A90F-0AA89CD4E4B3}"/>
              </a:ext>
            </a:extLst>
          </p:cNvPr>
          <p:cNvSpPr txBox="1"/>
          <p:nvPr/>
        </p:nvSpPr>
        <p:spPr>
          <a:xfrm>
            <a:off x="832528" y="2831662"/>
            <a:ext cx="100278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200" dirty="0">
                <a:latin typeface="Helvetica" pitchFamily="2" charset="0"/>
              </a:rPr>
              <a:t>Education</a:t>
            </a:r>
          </a:p>
        </p:txBody>
      </p:sp>
      <p:sp>
        <p:nvSpPr>
          <p:cNvPr id="299" name="文本框 298">
            <a:extLst>
              <a:ext uri="{FF2B5EF4-FFF2-40B4-BE49-F238E27FC236}">
                <a16:creationId xmlns:a16="http://schemas.microsoft.com/office/drawing/2014/main" id="{DDE34B46-9983-CE28-BA01-30956DF3C07F}"/>
              </a:ext>
            </a:extLst>
          </p:cNvPr>
          <p:cNvSpPr txBox="1"/>
          <p:nvPr/>
        </p:nvSpPr>
        <p:spPr>
          <a:xfrm>
            <a:off x="1524641" y="3237380"/>
            <a:ext cx="8042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200" dirty="0">
                <a:latin typeface="Helvetica" pitchFamily="2" charset="0"/>
              </a:rPr>
              <a:t>Earnings</a:t>
            </a:r>
          </a:p>
        </p:txBody>
      </p:sp>
      <p:sp>
        <p:nvSpPr>
          <p:cNvPr id="300" name="文本框 299">
            <a:extLst>
              <a:ext uri="{FF2B5EF4-FFF2-40B4-BE49-F238E27FC236}">
                <a16:creationId xmlns:a16="http://schemas.microsoft.com/office/drawing/2014/main" id="{FDAF6286-207E-46DC-5333-73845DF9FA69}"/>
              </a:ext>
            </a:extLst>
          </p:cNvPr>
          <p:cNvSpPr txBox="1"/>
          <p:nvPr/>
        </p:nvSpPr>
        <p:spPr>
          <a:xfrm>
            <a:off x="1921753" y="2831662"/>
            <a:ext cx="11103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200" dirty="0">
                <a:latin typeface="Helvetica" pitchFamily="2" charset="0"/>
              </a:rPr>
              <a:t>Employment</a:t>
            </a:r>
          </a:p>
        </p:txBody>
      </p:sp>
      <p:sp>
        <p:nvSpPr>
          <p:cNvPr id="301" name="文本框 300">
            <a:extLst>
              <a:ext uri="{FF2B5EF4-FFF2-40B4-BE49-F238E27FC236}">
                <a16:creationId xmlns:a16="http://schemas.microsoft.com/office/drawing/2014/main" id="{3288A0F1-2B23-01D6-28BF-00919F291B5F}"/>
              </a:ext>
            </a:extLst>
          </p:cNvPr>
          <p:cNvSpPr txBox="1"/>
          <p:nvPr/>
        </p:nvSpPr>
        <p:spPr>
          <a:xfrm>
            <a:off x="955871" y="5026443"/>
            <a:ext cx="4974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200" dirty="0">
                <a:latin typeface="Helvetica" pitchFamily="2" charset="0"/>
              </a:rPr>
              <a:t>Age</a:t>
            </a:r>
          </a:p>
        </p:txBody>
      </p:sp>
      <p:sp>
        <p:nvSpPr>
          <p:cNvPr id="302" name="文本框 301">
            <a:extLst>
              <a:ext uri="{FF2B5EF4-FFF2-40B4-BE49-F238E27FC236}">
                <a16:creationId xmlns:a16="http://schemas.microsoft.com/office/drawing/2014/main" id="{F6948612-561F-C394-51C5-06F5D9D02D01}"/>
              </a:ext>
            </a:extLst>
          </p:cNvPr>
          <p:cNvSpPr txBox="1"/>
          <p:nvPr/>
        </p:nvSpPr>
        <p:spPr>
          <a:xfrm>
            <a:off x="2128767" y="5005527"/>
            <a:ext cx="7052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200" dirty="0">
                <a:latin typeface="Helvetica" pitchFamily="2" charset="0"/>
              </a:rPr>
              <a:t>Gender</a:t>
            </a:r>
          </a:p>
        </p:txBody>
      </p:sp>
      <p:sp>
        <p:nvSpPr>
          <p:cNvPr id="303" name="文本框 302">
            <a:extLst>
              <a:ext uri="{FF2B5EF4-FFF2-40B4-BE49-F238E27FC236}">
                <a16:creationId xmlns:a16="http://schemas.microsoft.com/office/drawing/2014/main" id="{59F6B844-70E7-92C6-FD3A-4A2D5AC2D638}"/>
              </a:ext>
            </a:extLst>
          </p:cNvPr>
          <p:cNvSpPr txBox="1"/>
          <p:nvPr/>
        </p:nvSpPr>
        <p:spPr>
          <a:xfrm>
            <a:off x="724469" y="5787069"/>
            <a:ext cx="100278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200" dirty="0">
                <a:latin typeface="Helvetica" pitchFamily="2" charset="0"/>
              </a:rPr>
              <a:t>Education</a:t>
            </a:r>
          </a:p>
        </p:txBody>
      </p:sp>
      <p:sp>
        <p:nvSpPr>
          <p:cNvPr id="304" name="文本框 303">
            <a:extLst>
              <a:ext uri="{FF2B5EF4-FFF2-40B4-BE49-F238E27FC236}">
                <a16:creationId xmlns:a16="http://schemas.microsoft.com/office/drawing/2014/main" id="{6EE3212F-A2F7-893A-5188-0A658ABD7740}"/>
              </a:ext>
            </a:extLst>
          </p:cNvPr>
          <p:cNvSpPr txBox="1"/>
          <p:nvPr/>
        </p:nvSpPr>
        <p:spPr>
          <a:xfrm>
            <a:off x="1373161" y="6225977"/>
            <a:ext cx="8042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200" dirty="0">
                <a:latin typeface="Helvetica" pitchFamily="2" charset="0"/>
              </a:rPr>
              <a:t>Income</a:t>
            </a:r>
          </a:p>
        </p:txBody>
      </p:sp>
      <p:sp>
        <p:nvSpPr>
          <p:cNvPr id="305" name="文本框 304">
            <a:extLst>
              <a:ext uri="{FF2B5EF4-FFF2-40B4-BE49-F238E27FC236}">
                <a16:creationId xmlns:a16="http://schemas.microsoft.com/office/drawing/2014/main" id="{43D3BFB5-07EC-A76A-E445-CC3CDA926E60}"/>
              </a:ext>
            </a:extLst>
          </p:cNvPr>
          <p:cNvSpPr txBox="1"/>
          <p:nvPr/>
        </p:nvSpPr>
        <p:spPr>
          <a:xfrm>
            <a:off x="1926219" y="5819340"/>
            <a:ext cx="11103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200" dirty="0">
                <a:latin typeface="Helvetica" pitchFamily="2" charset="0"/>
              </a:rPr>
              <a:t>Employment</a:t>
            </a:r>
          </a:p>
        </p:txBody>
      </p:sp>
      <p:cxnSp>
        <p:nvCxnSpPr>
          <p:cNvPr id="3" name="直线箭头连接符 2">
            <a:extLst>
              <a:ext uri="{FF2B5EF4-FFF2-40B4-BE49-F238E27FC236}">
                <a16:creationId xmlns:a16="http://schemas.microsoft.com/office/drawing/2014/main" id="{30B58CB5-D076-0F57-A55B-9D779CFFCFEF}"/>
              </a:ext>
            </a:extLst>
          </p:cNvPr>
          <p:cNvCxnSpPr>
            <a:stCxn id="5" idx="1"/>
          </p:cNvCxnSpPr>
          <p:nvPr/>
        </p:nvCxnSpPr>
        <p:spPr>
          <a:xfrm flipH="1">
            <a:off x="8032220" y="1965446"/>
            <a:ext cx="1627956" cy="2898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圆角矩形标注 3">
            <a:extLst>
              <a:ext uri="{FF2B5EF4-FFF2-40B4-BE49-F238E27FC236}">
                <a16:creationId xmlns:a16="http://schemas.microsoft.com/office/drawing/2014/main" id="{5A649829-4D91-713F-EDD4-3498B2F4E826}"/>
              </a:ext>
            </a:extLst>
          </p:cNvPr>
          <p:cNvSpPr/>
          <p:nvPr/>
        </p:nvSpPr>
        <p:spPr>
          <a:xfrm flipH="1">
            <a:off x="4144144" y="725236"/>
            <a:ext cx="3956501" cy="946016"/>
          </a:xfrm>
          <a:prstGeom prst="wedgeRoundRectCallout">
            <a:avLst>
              <a:gd name="adj1" fmla="val -29068"/>
              <a:gd name="adj2" fmla="val 91386"/>
              <a:gd name="adj3" fmla="val 16667"/>
            </a:avLst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pic>
        <p:nvPicPr>
          <p:cNvPr id="8" name="图形 7">
            <a:extLst>
              <a:ext uri="{FF2B5EF4-FFF2-40B4-BE49-F238E27FC236}">
                <a16:creationId xmlns:a16="http://schemas.microsoft.com/office/drawing/2014/main" id="{87BC122D-57CF-7DA9-388B-85ADF86FF093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891838" y="766203"/>
            <a:ext cx="927833" cy="822329"/>
          </a:xfrm>
          <a:prstGeom prst="rect">
            <a:avLst/>
          </a:prstGeom>
        </p:spPr>
      </p:pic>
      <p:pic>
        <p:nvPicPr>
          <p:cNvPr id="9" name="图形 8">
            <a:extLst>
              <a:ext uri="{FF2B5EF4-FFF2-40B4-BE49-F238E27FC236}">
                <a16:creationId xmlns:a16="http://schemas.microsoft.com/office/drawing/2014/main" id="{AB3AD52E-8F83-5982-0DF5-6DB7B6654005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409599" y="768908"/>
            <a:ext cx="815528" cy="837519"/>
          </a:xfrm>
          <a:prstGeom prst="rect">
            <a:avLst/>
          </a:prstGeom>
        </p:spPr>
      </p:pic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BDE069B4-3C1E-642C-DD01-DE9D000827DB}"/>
              </a:ext>
            </a:extLst>
          </p:cNvPr>
          <p:cNvCxnSpPr>
            <a:cxnSpLocks/>
          </p:cNvCxnSpPr>
          <p:nvPr/>
        </p:nvCxnSpPr>
        <p:spPr>
          <a:xfrm flipH="1">
            <a:off x="5314891" y="1168782"/>
            <a:ext cx="143574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线箭头连接符 24">
            <a:extLst>
              <a:ext uri="{FF2B5EF4-FFF2-40B4-BE49-F238E27FC236}">
                <a16:creationId xmlns:a16="http://schemas.microsoft.com/office/drawing/2014/main" id="{FB61AD0E-0412-0E0D-6B1E-F0DD247C8640}"/>
              </a:ext>
            </a:extLst>
          </p:cNvPr>
          <p:cNvCxnSpPr>
            <a:cxnSpLocks/>
          </p:cNvCxnSpPr>
          <p:nvPr/>
        </p:nvCxnSpPr>
        <p:spPr>
          <a:xfrm>
            <a:off x="5340612" y="1273397"/>
            <a:ext cx="143574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矩形: 圆角 144">
            <a:extLst>
              <a:ext uri="{FF2B5EF4-FFF2-40B4-BE49-F238E27FC236}">
                <a16:creationId xmlns:a16="http://schemas.microsoft.com/office/drawing/2014/main" id="{38824223-9B58-630F-C55B-1F82DD5D8A29}"/>
              </a:ext>
            </a:extLst>
          </p:cNvPr>
          <p:cNvSpPr/>
          <p:nvPr/>
        </p:nvSpPr>
        <p:spPr>
          <a:xfrm>
            <a:off x="4580542" y="145877"/>
            <a:ext cx="2980191" cy="483606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  <a:latin typeface="Helvetica" pitchFamily="2" charset="0"/>
                <a:cs typeface="Helvetica" panose="020B0604020202020204" pitchFamily="34" charset="0"/>
              </a:rPr>
              <a:t>Step2: Regional-Context Diffusion</a:t>
            </a:r>
            <a:r>
              <a:rPr lang="zh-CN" altLang="en-US" sz="1400" b="1" dirty="0">
                <a:solidFill>
                  <a:schemeClr val="tx1"/>
                </a:solidFill>
                <a:latin typeface="Helvetica" pitchFamily="2" charset="0"/>
                <a:cs typeface="Helvetica" panose="020B0604020202020204" pitchFamily="34" charset="0"/>
              </a:rPr>
              <a:t> </a:t>
            </a:r>
            <a:r>
              <a:rPr lang="en-US" altLang="zh-CN" sz="1400" b="1" dirty="0">
                <a:solidFill>
                  <a:schemeClr val="tx1"/>
                </a:solidFill>
                <a:latin typeface="Helvetica" pitchFamily="2" charset="0"/>
                <a:cs typeface="Helvetica" panose="020B0604020202020204" pitchFamily="34" charset="0"/>
              </a:rPr>
              <a:t>Training</a:t>
            </a:r>
            <a:endParaRPr lang="zh-CN" altLang="en-US" sz="1400" b="1" dirty="0">
              <a:solidFill>
                <a:schemeClr val="tx1"/>
              </a:solidFill>
              <a:latin typeface="Helvetica" pitchFamily="2" charset="0"/>
              <a:cs typeface="Helvetica" panose="020B0604020202020204" pitchFamily="34" charset="0"/>
            </a:endParaRPr>
          </a:p>
        </p:txBody>
      </p:sp>
      <p:sp>
        <p:nvSpPr>
          <p:cNvPr id="10" name="矩形: 圆角 144">
            <a:extLst>
              <a:ext uri="{FF2B5EF4-FFF2-40B4-BE49-F238E27FC236}">
                <a16:creationId xmlns:a16="http://schemas.microsoft.com/office/drawing/2014/main" id="{9605C5B3-CA86-3617-1127-0AEB37FBB132}"/>
              </a:ext>
            </a:extLst>
          </p:cNvPr>
          <p:cNvSpPr/>
          <p:nvPr/>
        </p:nvSpPr>
        <p:spPr>
          <a:xfrm>
            <a:off x="8496576" y="123807"/>
            <a:ext cx="3592240" cy="483606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  <a:latin typeface="Helvetica" pitchFamily="2" charset="0"/>
                <a:cs typeface="Helvetica" panose="020B0604020202020204" pitchFamily="34" charset="0"/>
              </a:rPr>
              <a:t>Step3: Synthetic Population Generation</a:t>
            </a:r>
            <a:endParaRPr lang="zh-CN" altLang="en-US" sz="1400" b="1" dirty="0">
              <a:solidFill>
                <a:schemeClr val="tx1"/>
              </a:solidFill>
              <a:latin typeface="Helvetica" pitchFamily="2" charset="0"/>
              <a:cs typeface="Helvetica" panose="020B0604020202020204" pitchFamily="34" charset="0"/>
            </a:endParaRPr>
          </a:p>
        </p:txBody>
      </p:sp>
      <p:sp>
        <p:nvSpPr>
          <p:cNvPr id="15" name="圆角矩形 14">
            <a:extLst>
              <a:ext uri="{FF2B5EF4-FFF2-40B4-BE49-F238E27FC236}">
                <a16:creationId xmlns:a16="http://schemas.microsoft.com/office/drawing/2014/main" id="{BF5969BE-FF27-207D-1614-4F8CB01580E3}"/>
              </a:ext>
            </a:extLst>
          </p:cNvPr>
          <p:cNvSpPr/>
          <p:nvPr/>
        </p:nvSpPr>
        <p:spPr>
          <a:xfrm>
            <a:off x="8735247" y="4926979"/>
            <a:ext cx="3186954" cy="1429322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85" name="文本框 284">
            <a:extLst>
              <a:ext uri="{FF2B5EF4-FFF2-40B4-BE49-F238E27FC236}">
                <a16:creationId xmlns:a16="http://schemas.microsoft.com/office/drawing/2014/main" id="{36A3EC57-0730-598D-9790-4BF20B033027}"/>
              </a:ext>
            </a:extLst>
          </p:cNvPr>
          <p:cNvSpPr txBox="1"/>
          <p:nvPr/>
        </p:nvSpPr>
        <p:spPr>
          <a:xfrm>
            <a:off x="8940806" y="4971305"/>
            <a:ext cx="270378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400" dirty="0">
                <a:latin typeface="Helvetica" pitchFamily="2" charset="0"/>
              </a:rPr>
              <a:t>5-attribute Synthetic</a:t>
            </a:r>
            <a:r>
              <a:rPr lang="en-US" altLang="zh-CN" sz="1400" dirty="0">
                <a:latin typeface="Helvetica" pitchFamily="2" charset="0"/>
              </a:rPr>
              <a:t> Population</a:t>
            </a:r>
          </a:p>
          <a:p>
            <a:r>
              <a:rPr lang="en-US" altLang="zh-CN" sz="1400" dirty="0">
                <a:latin typeface="Helvetica" pitchFamily="2" charset="0"/>
              </a:rPr>
              <a:t>Age</a:t>
            </a:r>
          </a:p>
          <a:p>
            <a:r>
              <a:rPr lang="en-US" altLang="zh-CN" sz="1400" dirty="0">
                <a:latin typeface="Helvetica" pitchFamily="2" charset="0"/>
              </a:rPr>
              <a:t>Sex</a:t>
            </a:r>
          </a:p>
          <a:p>
            <a:r>
              <a:rPr lang="en-US" altLang="zh-CN" sz="1400" dirty="0">
                <a:latin typeface="Helvetica" pitchFamily="2" charset="0"/>
              </a:rPr>
              <a:t>Education</a:t>
            </a:r>
          </a:p>
          <a:p>
            <a:r>
              <a:rPr lang="en-US" altLang="zh-CN" sz="1400" dirty="0">
                <a:latin typeface="Helvetica" pitchFamily="2" charset="0"/>
              </a:rPr>
              <a:t>Employment</a:t>
            </a:r>
          </a:p>
          <a:p>
            <a:r>
              <a:rPr lang="en-US" altLang="zh-CN" sz="1400" dirty="0">
                <a:latin typeface="Helvetica" pitchFamily="2" charset="0"/>
              </a:rPr>
              <a:t>Earnings</a:t>
            </a:r>
            <a:endParaRPr lang="en" altLang="zh-CN" sz="1400" dirty="0">
              <a:latin typeface="Helvetica" pitchFamily="2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946D68A-DD09-1ADD-D82C-B50233197AC0}"/>
              </a:ext>
            </a:extLst>
          </p:cNvPr>
          <p:cNvSpPr/>
          <p:nvPr/>
        </p:nvSpPr>
        <p:spPr>
          <a:xfrm rot="19471446">
            <a:off x="3503877" y="3894583"/>
            <a:ext cx="2006988" cy="309134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" altLang="zh-CN" sz="1400" dirty="0">
                <a:latin typeface="Helvetica" pitchFamily="2" charset="0"/>
              </a:rPr>
              <a:t>4-attribute Joint Target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3290DBE-1FB4-76E5-7E01-796F6291809D}"/>
              </a:ext>
            </a:extLst>
          </p:cNvPr>
          <p:cNvSpPr/>
          <p:nvPr/>
        </p:nvSpPr>
        <p:spPr>
          <a:xfrm>
            <a:off x="4017460" y="5749308"/>
            <a:ext cx="2380622" cy="309134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" altLang="zh-CN" sz="1400" dirty="0">
                <a:latin typeface="Helvetica" pitchFamily="2" charset="0"/>
              </a:rPr>
              <a:t>Conditional</a:t>
            </a:r>
            <a:r>
              <a:rPr lang="zh-CN" altLang="en-US" sz="1400" dirty="0">
                <a:latin typeface="Helvetica" pitchFamily="2" charset="0"/>
              </a:rPr>
              <a:t> </a:t>
            </a:r>
            <a:r>
              <a:rPr lang="en-US" altLang="zh-CN" sz="1400" dirty="0">
                <a:latin typeface="Helvetica" pitchFamily="2" charset="0"/>
              </a:rPr>
              <a:t>Earnings Target</a:t>
            </a:r>
            <a:endParaRPr lang="en" altLang="zh-CN" sz="1400" dirty="0">
              <a:latin typeface="Helvetica" pitchFamily="2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1B398BF6-997F-500E-6D12-992329A9BC0B}"/>
              </a:ext>
            </a:extLst>
          </p:cNvPr>
          <p:cNvSpPr/>
          <p:nvPr/>
        </p:nvSpPr>
        <p:spPr>
          <a:xfrm>
            <a:off x="3263303" y="1984060"/>
            <a:ext cx="857688" cy="309134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" altLang="zh-CN" sz="1400" dirty="0">
                <a:latin typeface="Helvetica" pitchFamily="2" charset="0"/>
              </a:rPr>
              <a:t>Encode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E5DE178C-60BB-B5C1-768C-E8D6C666BAFB}"/>
              </a:ext>
            </a:extLst>
          </p:cNvPr>
          <p:cNvSpPr/>
          <p:nvPr/>
        </p:nvSpPr>
        <p:spPr>
          <a:xfrm rot="20724996">
            <a:off x="8426037" y="1810877"/>
            <a:ext cx="995646" cy="309134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" altLang="zh-CN" sz="1400" dirty="0">
                <a:latin typeface="Helvetica" pitchFamily="2" charset="0"/>
              </a:rPr>
              <a:t>Generate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C398DCE2-0948-4CF8-0B76-87F299C6A053}"/>
              </a:ext>
            </a:extLst>
          </p:cNvPr>
          <p:cNvSpPr/>
          <p:nvPr/>
        </p:nvSpPr>
        <p:spPr>
          <a:xfrm>
            <a:off x="5414281" y="807728"/>
            <a:ext cx="1266030" cy="309134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1400" dirty="0">
                <a:latin typeface="Helvetica" pitchFamily="2" charset="0"/>
              </a:rPr>
              <a:t>Predict Noise</a:t>
            </a:r>
            <a:endParaRPr lang="en" altLang="zh-CN" sz="1400" dirty="0">
              <a:latin typeface="Helvetica" pitchFamily="2" charset="0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373762E-D0FA-4583-DE95-9CE66E604BBA}"/>
              </a:ext>
            </a:extLst>
          </p:cNvPr>
          <p:cNvSpPr/>
          <p:nvPr/>
        </p:nvSpPr>
        <p:spPr>
          <a:xfrm>
            <a:off x="10369356" y="2907523"/>
            <a:ext cx="857688" cy="309134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" altLang="zh-CN" sz="1400" dirty="0">
                <a:latin typeface="Helvetica" pitchFamily="2" charset="0"/>
              </a:rPr>
              <a:t>Sample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614A09A-9D4A-8A50-1AF7-BDEDDE951ACE}"/>
              </a:ext>
            </a:extLst>
          </p:cNvPr>
          <p:cNvSpPr/>
          <p:nvPr/>
        </p:nvSpPr>
        <p:spPr>
          <a:xfrm rot="20265618">
            <a:off x="8346096" y="4076507"/>
            <a:ext cx="1489644" cy="309134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" altLang="zh-CN" sz="1400" dirty="0">
                <a:latin typeface="Helvetica" pitchFamily="2" charset="0"/>
              </a:rPr>
              <a:t>Assign Earnings</a:t>
            </a:r>
          </a:p>
        </p:txBody>
      </p:sp>
    </p:spTree>
    <p:extLst>
      <p:ext uri="{BB962C8B-B14F-4D97-AF65-F5344CB8AC3E}">
        <p14:creationId xmlns:p14="http://schemas.microsoft.com/office/powerpoint/2010/main" val="36332841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3437</TotalTime>
  <Words>193</Words>
  <Application>Microsoft Macintosh PowerPoint</Application>
  <PresentationFormat>宽屏</PresentationFormat>
  <Paragraphs>94</Paragraphs>
  <Slides>5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2" baseType="lpstr">
      <vt:lpstr>等线</vt:lpstr>
      <vt:lpstr>等线 Light</vt:lpstr>
      <vt:lpstr>楷体</vt:lpstr>
      <vt:lpstr>Arial</vt:lpstr>
      <vt:lpstr>Cambria Math</vt:lpstr>
      <vt:lpstr>Helvetica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Jinlin WU</dc:creator>
  <cp:lastModifiedBy>Jinlin WU</cp:lastModifiedBy>
  <cp:revision>25</cp:revision>
  <dcterms:created xsi:type="dcterms:W3CDTF">2026-03-06T15:28:38Z</dcterms:created>
  <dcterms:modified xsi:type="dcterms:W3CDTF">2026-03-25T14:00:24Z</dcterms:modified>
</cp:coreProperties>
</file>