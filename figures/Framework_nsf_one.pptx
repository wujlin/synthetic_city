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51EB5-0952-114B-8D7C-BE63517CA83A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1A429-ACC7-A44A-9ED9-B2CB3C4226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648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48908-7400-4AF8-9393-3C73B4A6F6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04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E4211-56C1-C18F-5A2F-9D6943463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8F1E24-47F2-C8CD-7845-B40648C6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AC908-7715-A832-6656-D1578BF7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1C5C5-544E-7C0A-2C15-D762F304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9400D-F2A4-AE10-8008-40FA70DA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316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1B6BE-1903-B754-6829-23417376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37C24-1F60-B7FD-34BE-68CC28AD2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2F098D-14E7-69CB-D86E-D6693049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D8B10-D103-512E-D427-1CFBF78C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441C01-6601-4EF9-A23E-71BC5BA3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977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AEFB1-3A93-9674-88C4-0928DAB5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32E1A4-7756-0E97-5F1E-4BA5853E9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D69457-C515-753D-0A4A-8F463D7A1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A48832-BB5B-341C-9AAF-43680CAE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8F5A0-56BC-9259-87DA-B568B5CA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557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749CB-4DFE-876F-5BC9-B5A5BC69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65D07D-EA66-7EC0-4B1E-9269C4EAB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CB6AFA-A426-EE5C-D816-9A5629C84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0FE8F2-DCAC-DD33-D5EA-CB841B31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77499A-4E08-8981-F686-7ECF2395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95C4F7-5F1A-6367-99F1-730E08C5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380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AD406-EFC0-AC7F-45E3-8550853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12394-CB95-96E5-1557-F544F486B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AD6069-BEAC-4EBF-927F-2EFF3492E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B1A783-077E-783C-5305-0605BED5E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DBBCD5-8190-A582-476E-93425567E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B25497-8FF7-A95F-681C-EF8BB44E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22E5C4-5FA5-5B53-3A4F-F13F5191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1457A6-AEFB-0C39-8BF9-84FD06B5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900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46306-E9EA-2AAC-D626-283092E6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90A6DC-28D1-C28A-4523-709A95F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CE2506-237C-E32B-1D9B-BDDE683A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E9E52D-285C-803A-EE64-ADA0954A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84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5E1D78-3F4F-D398-1102-F566A639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E04288-EDF2-57F2-65D5-332E967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0C467A-D071-CE61-8E52-38E68291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62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29DB5-0841-ADC4-5390-8D09EE75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58DCF-5971-5ED7-3B94-E8EE271F6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CCF932-9A2C-6475-51C7-8CAC11707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DCE634-C446-1904-D499-56029B40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08010-BB20-F8F9-CAEC-2F216764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EB729-EBA9-38A9-C8F4-270717D8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60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3F1B1-7A82-818B-39A1-E207AA31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573F5B-F891-47BE-881C-132758D2B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EEC561-99A4-5838-612A-7D76B9FE7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D882BD-20A4-9013-7A56-8C69ED77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65F31-A65E-D67D-AE8F-361B461F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88E122-988F-D498-5683-044A32A2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087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314D3-7A6D-A02A-EB31-3DB3D33E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3AD6BF-D437-A187-337A-948C2BAAE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6DF07-9318-0370-613D-83F17B32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59866F-8182-0358-1E5B-478E3D29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244BE9-0B03-E3B2-1D0F-6D227E2B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126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99FA3C-DA97-7CC5-8BE0-3B531B75F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268C46-848C-497E-085B-EEBCB3BB7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C28F0D-2588-4A35-11F8-B2496BB9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F6DCAF-7725-3903-7B6C-953AA3D12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6B250-103A-DB89-C847-ADBF57A6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011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BB82D7-3BD8-2182-143D-104524B9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36E04D-ACA7-B6DA-F6E7-CAD94D2E1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EA135-C021-0401-771D-AD1D45142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14559-CCC0-C34B-8789-7F5473B95319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BF1719-9964-EEDB-3694-F385F8929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DB1F0-D18F-8A26-131B-9FCE202E8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73E7C-1B33-4D4F-A775-138D33F006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405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EFD2-E87D-CABE-2B94-90DB91C2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矩形: 圆角 12">
            <a:extLst>
              <a:ext uri="{FF2B5EF4-FFF2-40B4-BE49-F238E27FC236}">
                <a16:creationId xmlns:a16="http://schemas.microsoft.com/office/drawing/2014/main" id="{24A44BFB-23E5-1C10-37B2-B91077B73865}"/>
              </a:ext>
            </a:extLst>
          </p:cNvPr>
          <p:cNvSpPr/>
          <p:nvPr/>
        </p:nvSpPr>
        <p:spPr>
          <a:xfrm>
            <a:off x="8403158" y="39669"/>
            <a:ext cx="3745909" cy="6677890"/>
          </a:xfrm>
          <a:prstGeom prst="roundRect">
            <a:avLst>
              <a:gd name="adj" fmla="val 752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6" name="矩形: 圆角 12">
            <a:extLst>
              <a:ext uri="{FF2B5EF4-FFF2-40B4-BE49-F238E27FC236}">
                <a16:creationId xmlns:a16="http://schemas.microsoft.com/office/drawing/2014/main" id="{E87C88F9-3C52-1F6D-7951-2027F491573C}"/>
              </a:ext>
            </a:extLst>
          </p:cNvPr>
          <p:cNvSpPr/>
          <p:nvPr/>
        </p:nvSpPr>
        <p:spPr>
          <a:xfrm>
            <a:off x="3980225" y="42041"/>
            <a:ext cx="4194968" cy="6686028"/>
          </a:xfrm>
          <a:prstGeom prst="roundRect">
            <a:avLst>
              <a:gd name="adj" fmla="val 2158"/>
            </a:avLst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2">
            <a:extLst>
              <a:ext uri="{FF2B5EF4-FFF2-40B4-BE49-F238E27FC236}">
                <a16:creationId xmlns:a16="http://schemas.microsoft.com/office/drawing/2014/main" id="{08395391-64D7-D323-E534-C4D97FEDEB07}"/>
              </a:ext>
            </a:extLst>
          </p:cNvPr>
          <p:cNvSpPr/>
          <p:nvPr/>
        </p:nvSpPr>
        <p:spPr>
          <a:xfrm>
            <a:off x="25248" y="22394"/>
            <a:ext cx="3835671" cy="6686028"/>
          </a:xfrm>
          <a:prstGeom prst="roundRect">
            <a:avLst>
              <a:gd name="adj" fmla="val 262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F1508F5D-8F3A-4822-8500-3B69A4091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0176" y="1320600"/>
            <a:ext cx="1289691" cy="1289691"/>
          </a:xfrm>
          <a:prstGeom prst="rect">
            <a:avLst/>
          </a:prstGeom>
        </p:spPr>
      </p:pic>
      <p:sp>
        <p:nvSpPr>
          <p:cNvPr id="7" name="矩形: 圆角 144">
            <a:extLst>
              <a:ext uri="{FF2B5EF4-FFF2-40B4-BE49-F238E27FC236}">
                <a16:creationId xmlns:a16="http://schemas.microsoft.com/office/drawing/2014/main" id="{4FFF9488-7BAB-48FC-07FE-8E57C6D89376}"/>
              </a:ext>
            </a:extLst>
          </p:cNvPr>
          <p:cNvSpPr/>
          <p:nvPr/>
        </p:nvSpPr>
        <p:spPr>
          <a:xfrm>
            <a:off x="444896" y="158590"/>
            <a:ext cx="2962646" cy="48360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Step1: Regional Targets and External</a:t>
            </a:r>
            <a:r>
              <a:rPr lang="zh-CN" altLang="en-US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Conditions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E27A524-2497-FC11-6FCE-61E0E70A1466}"/>
              </a:ext>
            </a:extLst>
          </p:cNvPr>
          <p:cNvSpPr/>
          <p:nvPr/>
        </p:nvSpPr>
        <p:spPr>
          <a:xfrm>
            <a:off x="516021" y="3999808"/>
            <a:ext cx="2593290" cy="260382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585FB55-80D9-FD2B-A9F5-5C106DC95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04" y="4559777"/>
            <a:ext cx="446894" cy="4572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6505520-9214-B8D2-FD7B-039102FA3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302" y="4551043"/>
            <a:ext cx="446894" cy="4572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72FAEA3-C2A7-2FF5-2FEA-F3844DA98A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03" y="5309619"/>
            <a:ext cx="429930" cy="43984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9EC23F0C-6E93-8D77-4432-B4EBF5A3C2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032" y="5253604"/>
            <a:ext cx="539433" cy="551874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B6BB5C71-F7B5-9759-8FBC-D8D14F8D29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5" y="6047626"/>
            <a:ext cx="478066" cy="489091"/>
          </a:xfrm>
          <a:prstGeom prst="rect">
            <a:avLst/>
          </a:prstGeom>
        </p:spPr>
      </p:pic>
      <p:sp>
        <p:nvSpPr>
          <p:cNvPr id="49" name="矩形: 圆角 144">
            <a:extLst>
              <a:ext uri="{FF2B5EF4-FFF2-40B4-BE49-F238E27FC236}">
                <a16:creationId xmlns:a16="http://schemas.microsoft.com/office/drawing/2014/main" id="{57F14772-BE91-6C62-6C98-EB9BB7BDCDA0}"/>
              </a:ext>
            </a:extLst>
          </p:cNvPr>
          <p:cNvSpPr/>
          <p:nvPr/>
        </p:nvSpPr>
        <p:spPr>
          <a:xfrm>
            <a:off x="1130123" y="4106037"/>
            <a:ext cx="1439741" cy="33004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PUMS Microdata</a:t>
            </a:r>
          </a:p>
        </p:txBody>
      </p:sp>
      <p:sp>
        <p:nvSpPr>
          <p:cNvPr id="269" name="矩形: 圆角 268">
            <a:extLst>
              <a:ext uri="{FF2B5EF4-FFF2-40B4-BE49-F238E27FC236}">
                <a16:creationId xmlns:a16="http://schemas.microsoft.com/office/drawing/2014/main" id="{3788B21B-6A10-2C9D-9190-4490B212095E}"/>
              </a:ext>
            </a:extLst>
          </p:cNvPr>
          <p:cNvSpPr/>
          <p:nvPr/>
        </p:nvSpPr>
        <p:spPr>
          <a:xfrm>
            <a:off x="561319" y="804105"/>
            <a:ext cx="2593290" cy="3033794"/>
          </a:xfrm>
          <a:prstGeom prst="roundRect">
            <a:avLst>
              <a:gd name="adj" fmla="val 6694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5FF80E18-2A1E-E76B-2486-CC32084977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5405" y="1494346"/>
            <a:ext cx="587862" cy="502625"/>
          </a:xfrm>
          <a:prstGeom prst="rect">
            <a:avLst/>
          </a:prstGeom>
        </p:spPr>
      </p:pic>
      <p:pic>
        <p:nvPicPr>
          <p:cNvPr id="257" name="图形 256">
            <a:extLst>
              <a:ext uri="{FF2B5EF4-FFF2-40B4-BE49-F238E27FC236}">
                <a16:creationId xmlns:a16="http://schemas.microsoft.com/office/drawing/2014/main" id="{FB0D2757-24D0-E52D-C303-6C496A0E94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24586" y="1397665"/>
            <a:ext cx="572750" cy="559644"/>
          </a:xfrm>
          <a:prstGeom prst="rect">
            <a:avLst/>
          </a:prstGeom>
        </p:spPr>
      </p:pic>
      <p:pic>
        <p:nvPicPr>
          <p:cNvPr id="261" name="图形 260">
            <a:extLst>
              <a:ext uri="{FF2B5EF4-FFF2-40B4-BE49-F238E27FC236}">
                <a16:creationId xmlns:a16="http://schemas.microsoft.com/office/drawing/2014/main" id="{A2AEAE21-F564-04CF-9497-54B9630662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30089" y="2270723"/>
            <a:ext cx="598102" cy="512066"/>
          </a:xfrm>
          <a:prstGeom prst="rect">
            <a:avLst/>
          </a:prstGeom>
        </p:spPr>
      </p:pic>
      <p:pic>
        <p:nvPicPr>
          <p:cNvPr id="262" name="图形 261">
            <a:extLst>
              <a:ext uri="{FF2B5EF4-FFF2-40B4-BE49-F238E27FC236}">
                <a16:creationId xmlns:a16="http://schemas.microsoft.com/office/drawing/2014/main" id="{25C2268C-2289-1F44-1F1C-694A7801A2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7072" y="2273621"/>
            <a:ext cx="535364" cy="523114"/>
          </a:xfrm>
          <a:prstGeom prst="rect">
            <a:avLst/>
          </a:prstGeom>
        </p:spPr>
      </p:pic>
      <p:pic>
        <p:nvPicPr>
          <p:cNvPr id="268" name="图形 267">
            <a:extLst>
              <a:ext uri="{FF2B5EF4-FFF2-40B4-BE49-F238E27FC236}">
                <a16:creationId xmlns:a16="http://schemas.microsoft.com/office/drawing/2014/main" id="{57383F85-EA61-1939-1FFA-83A79E8D31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4833" y="3072730"/>
            <a:ext cx="563885" cy="481209"/>
          </a:xfrm>
          <a:prstGeom prst="rect">
            <a:avLst/>
          </a:prstGeom>
        </p:spPr>
      </p:pic>
      <p:sp>
        <p:nvSpPr>
          <p:cNvPr id="270" name="矩形: 圆角 144">
            <a:extLst>
              <a:ext uri="{FF2B5EF4-FFF2-40B4-BE49-F238E27FC236}">
                <a16:creationId xmlns:a16="http://schemas.microsoft.com/office/drawing/2014/main" id="{52260D44-3100-EBA9-2E9C-77C94F50AC56}"/>
              </a:ext>
            </a:extLst>
          </p:cNvPr>
          <p:cNvSpPr/>
          <p:nvPr/>
        </p:nvSpPr>
        <p:spPr>
          <a:xfrm>
            <a:off x="793153" y="943514"/>
            <a:ext cx="2277668" cy="33004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External Census Summaries</a:t>
            </a:r>
          </a:p>
        </p:txBody>
      </p:sp>
      <p:sp>
        <p:nvSpPr>
          <p:cNvPr id="6" name="任意多边形: 形状 61">
            <a:extLst>
              <a:ext uri="{FF2B5EF4-FFF2-40B4-BE49-F238E27FC236}">
                <a16:creationId xmlns:a16="http://schemas.microsoft.com/office/drawing/2014/main" id="{8F6BE534-22EA-2F6E-820C-4E57E0FACBEF}"/>
              </a:ext>
            </a:extLst>
          </p:cNvPr>
          <p:cNvSpPr/>
          <p:nvPr/>
        </p:nvSpPr>
        <p:spPr>
          <a:xfrm rot="5400000">
            <a:off x="6668255" y="1997054"/>
            <a:ext cx="1349584" cy="1380645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rtlCol="0" anchor="ctr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Joint Diffusion Model</a:t>
            </a:r>
            <a:endParaRPr lang="zh-CN" alt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任意多边形: 形状 61">
            <a:extLst>
              <a:ext uri="{FF2B5EF4-FFF2-40B4-BE49-F238E27FC236}">
                <a16:creationId xmlns:a16="http://schemas.microsoft.com/office/drawing/2014/main" id="{A09A28B6-C4B0-AFC7-9E05-5680CCDF335A}"/>
              </a:ext>
            </a:extLst>
          </p:cNvPr>
          <p:cNvSpPr/>
          <p:nvPr/>
        </p:nvSpPr>
        <p:spPr>
          <a:xfrm rot="5400000">
            <a:off x="6668261" y="4152226"/>
            <a:ext cx="1349585" cy="1380657"/>
          </a:xfrm>
          <a:custGeom>
            <a:avLst/>
            <a:gdLst>
              <a:gd name="csX0" fmla="*/ 0 w 720436"/>
              <a:gd name="csY0" fmla="*/ 831272 h 831272"/>
              <a:gd name="csX1" fmla="*/ 144087 w 720436"/>
              <a:gd name="csY1" fmla="*/ 415636 h 831272"/>
              <a:gd name="csX2" fmla="*/ 0 w 720436"/>
              <a:gd name="csY2" fmla="*/ 0 h 831272"/>
              <a:gd name="csX3" fmla="*/ 720436 w 720436"/>
              <a:gd name="csY3" fmla="*/ 0 h 831272"/>
              <a:gd name="csX4" fmla="*/ 576349 w 720436"/>
              <a:gd name="csY4" fmla="*/ 415636 h 831272"/>
              <a:gd name="csX5" fmla="*/ 720436 w 720436"/>
              <a:gd name="csY5" fmla="*/ 831272 h 831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20436" h="831272">
                <a:moveTo>
                  <a:pt x="0" y="831272"/>
                </a:moveTo>
                <a:lnTo>
                  <a:pt x="144087" y="415636"/>
                </a:lnTo>
                <a:lnTo>
                  <a:pt x="0" y="0"/>
                </a:lnTo>
                <a:lnTo>
                  <a:pt x="720436" y="0"/>
                </a:lnTo>
                <a:lnTo>
                  <a:pt x="576349" y="415636"/>
                </a:lnTo>
                <a:lnTo>
                  <a:pt x="720436" y="831272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rtlCol="0" anchor="ctr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Person-level earnings model</a:t>
            </a:r>
            <a:endParaRPr lang="zh-CN" alt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存储的数据 15">
            <a:extLst>
              <a:ext uri="{FF2B5EF4-FFF2-40B4-BE49-F238E27FC236}">
                <a16:creationId xmlns:a16="http://schemas.microsoft.com/office/drawing/2014/main" id="{0179357C-FE33-E70D-3BB4-CF6CAD31BE68}"/>
              </a:ext>
            </a:extLst>
          </p:cNvPr>
          <p:cNvSpPr/>
          <p:nvPr/>
        </p:nvSpPr>
        <p:spPr>
          <a:xfrm>
            <a:off x="4244339" y="1984060"/>
            <a:ext cx="1560859" cy="672802"/>
          </a:xfrm>
          <a:prstGeom prst="flowChartOnlineStorag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Helvetica" pitchFamily="2" charset="0"/>
              </a:rPr>
              <a:t>Condition Encoder</a:t>
            </a:r>
            <a:endParaRPr kumimoji="1" lang="zh-CN" altLang="en-US" sz="14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7" name="文档 16">
            <a:extLst>
              <a:ext uri="{FF2B5EF4-FFF2-40B4-BE49-F238E27FC236}">
                <a16:creationId xmlns:a16="http://schemas.microsoft.com/office/drawing/2014/main" id="{E7257E29-C7FB-F2F6-08D8-7242DAF541FB}"/>
              </a:ext>
            </a:extLst>
          </p:cNvPr>
          <p:cNvSpPr/>
          <p:nvPr/>
        </p:nvSpPr>
        <p:spPr>
          <a:xfrm>
            <a:off x="4413901" y="4371381"/>
            <a:ext cx="1214639" cy="942988"/>
          </a:xfrm>
          <a:prstGeom prst="flowChartDocumen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Regional</a:t>
            </a:r>
            <a:r>
              <a:rPr lang="zh-CN" altLang="en-US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Context</a:t>
            </a:r>
            <a:endParaRPr lang="zh-CN" altLang="en-US" sz="1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078FFF71-EB4D-5A4D-8E56-6AA253EA98BD}"/>
              </a:ext>
            </a:extLst>
          </p:cNvPr>
          <p:cNvCxnSpPr>
            <a:cxnSpLocks/>
            <a:stCxn id="269" idx="3"/>
            <a:endCxn id="16" idx="1"/>
          </p:cNvCxnSpPr>
          <p:nvPr/>
        </p:nvCxnSpPr>
        <p:spPr>
          <a:xfrm flipV="1">
            <a:off x="3154609" y="2320461"/>
            <a:ext cx="1089730" cy="54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5E457C3-C2B5-A8D2-A577-5678B03218E7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5021221" y="2656862"/>
            <a:ext cx="3548" cy="171451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D1985E99-482D-78CB-E075-DBAB0733AC04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3109311" y="2808381"/>
            <a:ext cx="3471610" cy="2493341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5785E780-713C-1C89-083D-9A50BB8719ED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3099356" y="5247430"/>
            <a:ext cx="4243697" cy="841662"/>
          </a:xfrm>
          <a:prstGeom prst="bentConnector2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DD1AEFC-CE5E-A5D9-63F7-F402014B02BF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628540" y="4842875"/>
            <a:ext cx="1024185" cy="564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A38B4A64-5E2F-9F27-A259-1F62D81F7837}"/>
              </a:ext>
            </a:extLst>
          </p:cNvPr>
          <p:cNvCxnSpPr>
            <a:cxnSpLocks/>
          </p:cNvCxnSpPr>
          <p:nvPr/>
        </p:nvCxnSpPr>
        <p:spPr>
          <a:xfrm flipV="1">
            <a:off x="5159924" y="2783823"/>
            <a:ext cx="1492800" cy="16076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1" name="图片 270">
            <a:extLst>
              <a:ext uri="{FF2B5EF4-FFF2-40B4-BE49-F238E27FC236}">
                <a16:creationId xmlns:a16="http://schemas.microsoft.com/office/drawing/2014/main" id="{C11CB681-4D05-FB9C-9688-81EF2144B9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850" y="3586228"/>
            <a:ext cx="1289692" cy="1289692"/>
          </a:xfrm>
          <a:prstGeom prst="rect">
            <a:avLst/>
          </a:prstGeom>
        </p:spPr>
      </p:pic>
      <p:cxnSp>
        <p:nvCxnSpPr>
          <p:cNvPr id="273" name="直线箭头连接符 272">
            <a:extLst>
              <a:ext uri="{FF2B5EF4-FFF2-40B4-BE49-F238E27FC236}">
                <a16:creationId xmlns:a16="http://schemas.microsoft.com/office/drawing/2014/main" id="{359D4C18-98FF-353A-9459-1ADBB9B3E724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8032220" y="1965446"/>
            <a:ext cx="1627956" cy="4016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直线箭头连接符 274">
            <a:extLst>
              <a:ext uri="{FF2B5EF4-FFF2-40B4-BE49-F238E27FC236}">
                <a16:creationId xmlns:a16="http://schemas.microsoft.com/office/drawing/2014/main" id="{B48AE4B4-B191-A073-8B6F-E1ED4513199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10292696" y="2610291"/>
            <a:ext cx="12326" cy="92487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9" name="直线箭头连接符 278">
            <a:extLst>
              <a:ext uri="{FF2B5EF4-FFF2-40B4-BE49-F238E27FC236}">
                <a16:creationId xmlns:a16="http://schemas.microsoft.com/office/drawing/2014/main" id="{610B1D2F-70B5-3442-1568-D2C1F67F8095}"/>
              </a:ext>
            </a:extLst>
          </p:cNvPr>
          <p:cNvCxnSpPr>
            <a:cxnSpLocks/>
            <a:endCxn id="271" idx="1"/>
          </p:cNvCxnSpPr>
          <p:nvPr/>
        </p:nvCxnSpPr>
        <p:spPr>
          <a:xfrm flipV="1">
            <a:off x="8032220" y="4231074"/>
            <a:ext cx="1615630" cy="6448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3" name="文本框 282">
            <a:extLst>
              <a:ext uri="{FF2B5EF4-FFF2-40B4-BE49-F238E27FC236}">
                <a16:creationId xmlns:a16="http://schemas.microsoft.com/office/drawing/2014/main" id="{217F1FB7-49EA-6711-AC13-490AFF7D3097}"/>
              </a:ext>
            </a:extLst>
          </p:cNvPr>
          <p:cNvSpPr txBox="1"/>
          <p:nvPr/>
        </p:nvSpPr>
        <p:spPr>
          <a:xfrm>
            <a:off x="8840035" y="920092"/>
            <a:ext cx="3133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latin typeface="Helvetica" pitchFamily="2" charset="0"/>
              </a:rPr>
              <a:t>4-attribute Regional Joint Distribution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3680CBE8-972E-D752-244B-AE7750EFB573}"/>
              </a:ext>
            </a:extLst>
          </p:cNvPr>
          <p:cNvSpPr txBox="1"/>
          <p:nvPr/>
        </p:nvSpPr>
        <p:spPr>
          <a:xfrm>
            <a:off x="951405" y="2038765"/>
            <a:ext cx="497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Age</a:t>
            </a: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2BDD146D-8A48-8B56-9FCD-20C4FD76F381}"/>
              </a:ext>
            </a:extLst>
          </p:cNvPr>
          <p:cNvSpPr txBox="1"/>
          <p:nvPr/>
        </p:nvSpPr>
        <p:spPr>
          <a:xfrm>
            <a:off x="2124301" y="2017849"/>
            <a:ext cx="4730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sex</a:t>
            </a: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55D17F62-72D8-0C8F-A90F-0AA89CD4E4B3}"/>
              </a:ext>
            </a:extLst>
          </p:cNvPr>
          <p:cNvSpPr txBox="1"/>
          <p:nvPr/>
        </p:nvSpPr>
        <p:spPr>
          <a:xfrm>
            <a:off x="832528" y="2831662"/>
            <a:ext cx="1002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Education</a:t>
            </a: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DDE34B46-9983-CE28-BA01-30956DF3C07F}"/>
              </a:ext>
            </a:extLst>
          </p:cNvPr>
          <p:cNvSpPr txBox="1"/>
          <p:nvPr/>
        </p:nvSpPr>
        <p:spPr>
          <a:xfrm>
            <a:off x="1524641" y="3237380"/>
            <a:ext cx="8042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Earnings</a:t>
            </a: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FDAF6286-207E-46DC-5333-73845DF9FA69}"/>
              </a:ext>
            </a:extLst>
          </p:cNvPr>
          <p:cNvSpPr txBox="1"/>
          <p:nvPr/>
        </p:nvSpPr>
        <p:spPr>
          <a:xfrm>
            <a:off x="1921753" y="2831662"/>
            <a:ext cx="11103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Employment</a:t>
            </a: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3288A0F1-2B23-01D6-28BF-00919F291B5F}"/>
              </a:ext>
            </a:extLst>
          </p:cNvPr>
          <p:cNvSpPr txBox="1"/>
          <p:nvPr/>
        </p:nvSpPr>
        <p:spPr>
          <a:xfrm>
            <a:off x="955871" y="5026443"/>
            <a:ext cx="497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Age</a:t>
            </a: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F6948612-561F-C394-51C5-06F5D9D02D01}"/>
              </a:ext>
            </a:extLst>
          </p:cNvPr>
          <p:cNvSpPr txBox="1"/>
          <p:nvPr/>
        </p:nvSpPr>
        <p:spPr>
          <a:xfrm>
            <a:off x="2128767" y="5005527"/>
            <a:ext cx="705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Gender</a:t>
            </a: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59F6B844-70E7-92C6-FD3A-4A2D5AC2D638}"/>
              </a:ext>
            </a:extLst>
          </p:cNvPr>
          <p:cNvSpPr txBox="1"/>
          <p:nvPr/>
        </p:nvSpPr>
        <p:spPr>
          <a:xfrm>
            <a:off x="724469" y="5787069"/>
            <a:ext cx="1002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Education</a:t>
            </a: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6EE3212F-A2F7-893A-5188-0A658ABD7740}"/>
              </a:ext>
            </a:extLst>
          </p:cNvPr>
          <p:cNvSpPr txBox="1"/>
          <p:nvPr/>
        </p:nvSpPr>
        <p:spPr>
          <a:xfrm>
            <a:off x="1373161" y="6225977"/>
            <a:ext cx="8042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Income</a:t>
            </a: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43D3BFB5-07EC-A76A-E445-CC3CDA926E60}"/>
              </a:ext>
            </a:extLst>
          </p:cNvPr>
          <p:cNvSpPr txBox="1"/>
          <p:nvPr/>
        </p:nvSpPr>
        <p:spPr>
          <a:xfrm>
            <a:off x="1926219" y="5819340"/>
            <a:ext cx="11103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Helvetica" pitchFamily="2" charset="0"/>
              </a:rPr>
              <a:t>Employment</a:t>
            </a: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30B58CB5-D076-0F57-A55B-9D779CFFCFEF}"/>
              </a:ext>
            </a:extLst>
          </p:cNvPr>
          <p:cNvCxnSpPr>
            <a:stCxn id="5" idx="1"/>
          </p:cNvCxnSpPr>
          <p:nvPr/>
        </p:nvCxnSpPr>
        <p:spPr>
          <a:xfrm flipH="1">
            <a:off x="8032220" y="1965446"/>
            <a:ext cx="1627956" cy="2898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角矩形标注 3">
            <a:extLst>
              <a:ext uri="{FF2B5EF4-FFF2-40B4-BE49-F238E27FC236}">
                <a16:creationId xmlns:a16="http://schemas.microsoft.com/office/drawing/2014/main" id="{5A649829-4D91-713F-EDD4-3498B2F4E826}"/>
              </a:ext>
            </a:extLst>
          </p:cNvPr>
          <p:cNvSpPr/>
          <p:nvPr/>
        </p:nvSpPr>
        <p:spPr>
          <a:xfrm flipH="1">
            <a:off x="4144144" y="725236"/>
            <a:ext cx="3956501" cy="946016"/>
          </a:xfrm>
          <a:prstGeom prst="wedgeRoundRectCallout">
            <a:avLst>
              <a:gd name="adj1" fmla="val -29068"/>
              <a:gd name="adj2" fmla="val 91386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87BC122D-57CF-7DA9-388B-85ADF86FF09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91838" y="766203"/>
            <a:ext cx="927833" cy="822329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AB3AD52E-8F83-5982-0DF5-6DB7B665400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09599" y="768908"/>
            <a:ext cx="815528" cy="837519"/>
          </a:xfrm>
          <a:prstGeom prst="rect">
            <a:avLst/>
          </a:prstGeom>
        </p:spPr>
      </p:pic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DE069B4-3C1E-642C-DD01-DE9D000827DB}"/>
              </a:ext>
            </a:extLst>
          </p:cNvPr>
          <p:cNvCxnSpPr>
            <a:cxnSpLocks/>
          </p:cNvCxnSpPr>
          <p:nvPr/>
        </p:nvCxnSpPr>
        <p:spPr>
          <a:xfrm flipH="1">
            <a:off x="5314891" y="1168782"/>
            <a:ext cx="14357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FB61AD0E-0412-0E0D-6B1E-F0DD247C8640}"/>
              </a:ext>
            </a:extLst>
          </p:cNvPr>
          <p:cNvCxnSpPr>
            <a:cxnSpLocks/>
          </p:cNvCxnSpPr>
          <p:nvPr/>
        </p:nvCxnSpPr>
        <p:spPr>
          <a:xfrm>
            <a:off x="5340612" y="1273397"/>
            <a:ext cx="14357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: 圆角 144">
            <a:extLst>
              <a:ext uri="{FF2B5EF4-FFF2-40B4-BE49-F238E27FC236}">
                <a16:creationId xmlns:a16="http://schemas.microsoft.com/office/drawing/2014/main" id="{38824223-9B58-630F-C55B-1F82DD5D8A29}"/>
              </a:ext>
            </a:extLst>
          </p:cNvPr>
          <p:cNvSpPr/>
          <p:nvPr/>
        </p:nvSpPr>
        <p:spPr>
          <a:xfrm>
            <a:off x="4580542" y="145877"/>
            <a:ext cx="2980191" cy="48360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Step2: Regional-Context Diffusion</a:t>
            </a:r>
            <a:r>
              <a:rPr lang="zh-CN" altLang="en-US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Training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10" name="矩形: 圆角 144">
            <a:extLst>
              <a:ext uri="{FF2B5EF4-FFF2-40B4-BE49-F238E27FC236}">
                <a16:creationId xmlns:a16="http://schemas.microsoft.com/office/drawing/2014/main" id="{9605C5B3-CA86-3617-1127-0AEB37FBB132}"/>
              </a:ext>
            </a:extLst>
          </p:cNvPr>
          <p:cNvSpPr/>
          <p:nvPr/>
        </p:nvSpPr>
        <p:spPr>
          <a:xfrm>
            <a:off x="8496576" y="123807"/>
            <a:ext cx="3592240" cy="48360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elvetica" pitchFamily="2" charset="0"/>
                <a:cs typeface="Helvetica" panose="020B0604020202020204" pitchFamily="34" charset="0"/>
              </a:rPr>
              <a:t>Step3: Synthetic Population Generation</a:t>
            </a:r>
            <a:endParaRPr lang="zh-CN" altLang="en-US" sz="1400" b="1" dirty="0">
              <a:solidFill>
                <a:schemeClr val="tx1"/>
              </a:solidFill>
              <a:latin typeface="Helvetica" pitchFamily="2" charset="0"/>
              <a:cs typeface="Helvetica" panose="020B0604020202020204" pitchFamily="34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F5969BE-FF27-207D-1614-4F8CB01580E3}"/>
              </a:ext>
            </a:extLst>
          </p:cNvPr>
          <p:cNvSpPr/>
          <p:nvPr/>
        </p:nvSpPr>
        <p:spPr>
          <a:xfrm>
            <a:off x="8735247" y="4926979"/>
            <a:ext cx="3186954" cy="14293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36A3EC57-0730-598D-9790-4BF20B033027}"/>
              </a:ext>
            </a:extLst>
          </p:cNvPr>
          <p:cNvSpPr txBox="1"/>
          <p:nvPr/>
        </p:nvSpPr>
        <p:spPr>
          <a:xfrm>
            <a:off x="8940806" y="4971305"/>
            <a:ext cx="27037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latin typeface="Helvetica" pitchFamily="2" charset="0"/>
              </a:rPr>
              <a:t>5-attribute Synthetic</a:t>
            </a:r>
            <a:r>
              <a:rPr lang="en-US" altLang="zh-CN" sz="1400" dirty="0">
                <a:latin typeface="Helvetica" pitchFamily="2" charset="0"/>
              </a:rPr>
              <a:t> Population</a:t>
            </a:r>
          </a:p>
          <a:p>
            <a:r>
              <a:rPr lang="en-US" altLang="zh-CN" sz="1400" dirty="0">
                <a:latin typeface="Helvetica" pitchFamily="2" charset="0"/>
              </a:rPr>
              <a:t>Age</a:t>
            </a:r>
          </a:p>
          <a:p>
            <a:r>
              <a:rPr lang="en-US" altLang="zh-CN" sz="1400" dirty="0">
                <a:latin typeface="Helvetica" pitchFamily="2" charset="0"/>
              </a:rPr>
              <a:t>Sex</a:t>
            </a:r>
          </a:p>
          <a:p>
            <a:r>
              <a:rPr lang="en-US" altLang="zh-CN" sz="1400" dirty="0">
                <a:latin typeface="Helvetica" pitchFamily="2" charset="0"/>
              </a:rPr>
              <a:t>Education</a:t>
            </a:r>
          </a:p>
          <a:p>
            <a:r>
              <a:rPr lang="en-US" altLang="zh-CN" sz="1400" dirty="0">
                <a:latin typeface="Helvetica" pitchFamily="2" charset="0"/>
              </a:rPr>
              <a:t>Employment</a:t>
            </a:r>
          </a:p>
          <a:p>
            <a:r>
              <a:rPr lang="en-US" altLang="zh-CN" sz="1400" dirty="0">
                <a:latin typeface="Helvetica" pitchFamily="2" charset="0"/>
              </a:rPr>
              <a:t>Earnings</a:t>
            </a:r>
            <a:endParaRPr lang="en" altLang="zh-CN" sz="1400" dirty="0">
              <a:latin typeface="Helvetica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46D68A-DD09-1ADD-D82C-B50233197AC0}"/>
              </a:ext>
            </a:extLst>
          </p:cNvPr>
          <p:cNvSpPr/>
          <p:nvPr/>
        </p:nvSpPr>
        <p:spPr>
          <a:xfrm rot="19471446">
            <a:off x="3503877" y="3894583"/>
            <a:ext cx="2006988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latin typeface="Helvetica" pitchFamily="2" charset="0"/>
              </a:rPr>
              <a:t>4-attribute Joint Target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290DBE-1FB4-76E5-7E01-796F6291809D}"/>
              </a:ext>
            </a:extLst>
          </p:cNvPr>
          <p:cNvSpPr/>
          <p:nvPr/>
        </p:nvSpPr>
        <p:spPr>
          <a:xfrm>
            <a:off x="4017460" y="5749308"/>
            <a:ext cx="2380622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latin typeface="Helvetica" pitchFamily="2" charset="0"/>
              </a:rPr>
              <a:t>Conditional</a:t>
            </a:r>
            <a:r>
              <a:rPr lang="zh-CN" altLang="en-US" sz="1400" dirty="0">
                <a:latin typeface="Helvetica" pitchFamily="2" charset="0"/>
              </a:rPr>
              <a:t> </a:t>
            </a:r>
            <a:r>
              <a:rPr lang="en-US" altLang="zh-CN" sz="1400" dirty="0">
                <a:latin typeface="Helvetica" pitchFamily="2" charset="0"/>
              </a:rPr>
              <a:t>Earnings Target</a:t>
            </a:r>
            <a:endParaRPr lang="en" altLang="zh-CN" sz="1400" dirty="0">
              <a:latin typeface="Helvetica" pitchFamily="2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B398BF6-997F-500E-6D12-992329A9BC0B}"/>
              </a:ext>
            </a:extLst>
          </p:cNvPr>
          <p:cNvSpPr/>
          <p:nvPr/>
        </p:nvSpPr>
        <p:spPr>
          <a:xfrm>
            <a:off x="3263303" y="1984060"/>
            <a:ext cx="857688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latin typeface="Helvetica" pitchFamily="2" charset="0"/>
              </a:rPr>
              <a:t>Encode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5DE178C-60BB-B5C1-768C-E8D6C666BAFB}"/>
              </a:ext>
            </a:extLst>
          </p:cNvPr>
          <p:cNvSpPr/>
          <p:nvPr/>
        </p:nvSpPr>
        <p:spPr>
          <a:xfrm rot="20724996">
            <a:off x="8426037" y="1810877"/>
            <a:ext cx="995646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latin typeface="Helvetica" pitchFamily="2" charset="0"/>
              </a:rPr>
              <a:t>Generate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98DCE2-0948-4CF8-0B76-87F299C6A053}"/>
              </a:ext>
            </a:extLst>
          </p:cNvPr>
          <p:cNvSpPr/>
          <p:nvPr/>
        </p:nvSpPr>
        <p:spPr>
          <a:xfrm>
            <a:off x="5414281" y="807728"/>
            <a:ext cx="1266030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latin typeface="Helvetica" pitchFamily="2" charset="0"/>
              </a:rPr>
              <a:t>Predict Noise</a:t>
            </a:r>
            <a:endParaRPr lang="en" altLang="zh-CN" sz="1400" dirty="0">
              <a:latin typeface="Helvetica" pitchFamily="2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73762E-D0FA-4583-DE95-9CE66E604BBA}"/>
              </a:ext>
            </a:extLst>
          </p:cNvPr>
          <p:cNvSpPr/>
          <p:nvPr/>
        </p:nvSpPr>
        <p:spPr>
          <a:xfrm>
            <a:off x="10369356" y="2907523"/>
            <a:ext cx="857688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latin typeface="Helvetica" pitchFamily="2" charset="0"/>
              </a:rPr>
              <a:t>Sample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14A09A-9D4A-8A50-1AF7-BDEDDE951ACE}"/>
              </a:ext>
            </a:extLst>
          </p:cNvPr>
          <p:cNvSpPr/>
          <p:nvPr/>
        </p:nvSpPr>
        <p:spPr>
          <a:xfrm rot="20265618">
            <a:off x="8346096" y="4076507"/>
            <a:ext cx="1489644" cy="309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latin typeface="Helvetica" pitchFamily="2" charset="0"/>
              </a:rPr>
              <a:t>Assign Earnings</a:t>
            </a:r>
          </a:p>
        </p:txBody>
      </p:sp>
    </p:spTree>
    <p:extLst>
      <p:ext uri="{BB962C8B-B14F-4D97-AF65-F5344CB8AC3E}">
        <p14:creationId xmlns:p14="http://schemas.microsoft.com/office/powerpoint/2010/main" val="363328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Macintosh PowerPoint</Application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Helvetica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1</cp:revision>
  <dcterms:created xsi:type="dcterms:W3CDTF">2026-03-25T13:20:37Z</dcterms:created>
  <dcterms:modified xsi:type="dcterms:W3CDTF">2026-03-25T13:20:59Z</dcterms:modified>
</cp:coreProperties>
</file>