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951EB5-0952-114B-8D7C-BE63517CA83A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1A429-ACC7-A44A-9ED9-B2CB3C4226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6481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0E4211-56C1-C18F-5A2F-9D6943463C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18F1E24-47F2-C8CD-7845-B40648C68A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6AC908-7715-A832-6656-D1578BF73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14559-CCC0-C34B-8789-7F5473B95319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341C5C5-544E-7C0A-2C15-D762F3049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9C9400D-F2A4-AE10-8008-40FA70DA4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73E7C-1B33-4D4F-A775-138D33F006D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93165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01B6BE-1903-B754-6829-23417376B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637C24-1F60-B7FD-34BE-68CC28AD28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2F098D-14E7-69CB-D86E-D6693049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14559-CCC0-C34B-8789-7F5473B95319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ED8B10-D103-512E-D427-1CFBF78C5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441C01-6601-4EF9-A23E-71BC5BA33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73E7C-1B33-4D4F-A775-138D33F006D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3977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6AEFB1-3A93-9674-88C4-0928DAB5F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232E1A4-7756-0E97-5F1E-4BA5853E98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D69457-C515-753D-0A4A-8F463D7A1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14559-CCC0-C34B-8789-7F5473B95319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A48832-BB5B-341C-9AAF-43680CAE8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68F5A0-56BC-9259-87DA-B568B5CAF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73E7C-1B33-4D4F-A775-138D33F006D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5574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8749CB-4DFE-876F-5BC9-B5A5BC696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D65D07D-EA66-7EC0-4B1E-9269C4EAB7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3CB6AFA-A426-EE5C-D816-9A5629C84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C0FE8F2-DCAC-DD33-D5EA-CB841B319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14559-CCC0-C34B-8789-7F5473B95319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77499A-4E08-8981-F686-7ECF23957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A95C4F7-5F1A-6367-99F1-730E08C5C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73E7C-1B33-4D4F-A775-138D33F006D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73806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1AD406-EFC0-AC7F-45E3-8550853DA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912394-CB95-96E5-1557-F544F486B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AAD6069-BEAC-4EBF-927F-2EFF3492E9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3B1A783-077E-783C-5305-0605BED5E4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0DBBCD5-8190-A582-476E-93425567ED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2B25497-8FF7-A95F-681C-EF8BB44E9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14559-CCC0-C34B-8789-7F5473B95319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922E5C4-5FA5-5B53-3A4F-F13F51914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11457A6-AEFB-0C39-8BF9-84FD06B55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73E7C-1B33-4D4F-A775-138D33F006D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69003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646306-E9EA-2AAC-D626-283092E6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C90A6DC-28D1-C28A-4523-709A95FB8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14559-CCC0-C34B-8789-7F5473B95319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6CE2506-237C-E32B-1D9B-BDDE683A7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7E9E52D-285C-803A-EE64-ADA0954A2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73E7C-1B33-4D4F-A775-138D33F006D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0846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15E1D78-3F4F-D398-1102-F566A639B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14559-CCC0-C34B-8789-7F5473B95319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5E04288-EDF2-57F2-65D5-332E9673E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0C467A-D071-CE61-8E52-38E68291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73E7C-1B33-4D4F-A775-138D33F006D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74627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F29DB5-0841-ADC4-5390-8D09EE756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058DCF-5971-5ED7-3B94-E8EE271F6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FCCF932-9A2C-6475-51C7-8CAC117075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DCE634-C446-1904-D499-56029B40D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14559-CCC0-C34B-8789-7F5473B95319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708010-BB20-F8F9-CAEC-2F2167643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EB729-EBA9-38A9-C8F4-270717D86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73E7C-1B33-4D4F-A775-138D33F006D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6041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D3F1B1-7A82-818B-39A1-E207AA314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6573F5B-F891-47BE-881C-132758D2B6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0EEC561-99A4-5838-612A-7D76B9FE7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AD882BD-20A4-9013-7A56-8C69ED77B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14559-CCC0-C34B-8789-7F5473B95319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A165F31-A65E-D67D-AE8F-361B461F8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E88E122-988F-D498-5683-044A32A2A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73E7C-1B33-4D4F-A775-138D33F006D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50877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4314D3-7A6D-A02A-EB31-3DB3D33E0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3AD6BF-D437-A187-337A-948C2BAAE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B6DF07-9318-0370-613D-83F17B326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14559-CCC0-C34B-8789-7F5473B95319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59866F-8182-0358-1E5B-478E3D291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244BE9-0B03-E3B2-1D0F-6D227E2BA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73E7C-1B33-4D4F-A775-138D33F006D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81260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B99FA3C-DA97-7CC5-8BE0-3B531B75F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268C46-848C-497E-085B-EEBCB3BB70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C28F0D-2588-4A35-11F8-B2496BB9B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14559-CCC0-C34B-8789-7F5473B95319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F6DCAF-7725-3903-7B6C-953AA3D12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596B250-103A-DB89-C847-ADBF57A64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73E7C-1B33-4D4F-A775-138D33F006D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80111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8BB82D7-3BD8-2182-143D-104524B93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436E04D-ACA7-B6DA-F6E7-CAD94D2E1A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0EA135-C021-0401-771D-AD1D451429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214559-CCC0-C34B-8789-7F5473B95319}" type="datetimeFigureOut">
              <a:rPr kumimoji="1" lang="zh-CN" altLang="en-US" smtClean="0"/>
              <a:t>2026/4/2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BF1719-9964-EEDB-3694-F385F8929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9DB1F0-D18F-8A26-131B-9FCE202E89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73E7C-1B33-4D4F-A775-138D33F006D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14051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6.svg"/><Relationship Id="rId3" Type="http://schemas.openxmlformats.org/officeDocument/2006/relationships/image" Target="../media/image2.png"/><Relationship Id="rId21" Type="http://schemas.openxmlformats.org/officeDocument/2006/relationships/image" Target="../media/image19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5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2.png"/><Relationship Id="rId5" Type="http://schemas.openxmlformats.org/officeDocument/2006/relationships/image" Target="../media/image4.png"/><Relationship Id="rId15" Type="http://schemas.microsoft.com/office/2007/relationships/hdphoto" Target="../media/hdphoto1.wdp"/><Relationship Id="rId23" Type="http://schemas.openxmlformats.org/officeDocument/2006/relationships/image" Target="../media/image21.png"/><Relationship Id="rId10" Type="http://schemas.openxmlformats.org/officeDocument/2006/relationships/image" Target="../media/image9.svg"/><Relationship Id="rId19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12">
            <a:extLst>
              <a:ext uri="{FF2B5EF4-FFF2-40B4-BE49-F238E27FC236}">
                <a16:creationId xmlns:a16="http://schemas.microsoft.com/office/drawing/2014/main" id="{CD07E5E3-2E9F-F041-E92F-75FF8A32D095}"/>
              </a:ext>
            </a:extLst>
          </p:cNvPr>
          <p:cNvSpPr/>
          <p:nvPr/>
        </p:nvSpPr>
        <p:spPr>
          <a:xfrm>
            <a:off x="65275" y="1995104"/>
            <a:ext cx="6210912" cy="4849916"/>
          </a:xfrm>
          <a:prstGeom prst="roundRect">
            <a:avLst>
              <a:gd name="adj" fmla="val 2158"/>
            </a:avLst>
          </a:prstGeom>
          <a:solidFill>
            <a:schemeClr val="tx2">
              <a:lumMod val="10000"/>
              <a:lumOff val="90000"/>
            </a:schemeClr>
          </a:solidFill>
          <a:ln w="28575">
            <a:solidFill>
              <a:schemeClr val="tx2">
                <a:lumMod val="25000"/>
                <a:lumOff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: 圆角 12">
            <a:extLst>
              <a:ext uri="{FF2B5EF4-FFF2-40B4-BE49-F238E27FC236}">
                <a16:creationId xmlns:a16="http://schemas.microsoft.com/office/drawing/2014/main" id="{54B7602D-0C7A-1F8E-0368-22C0B53C1842}"/>
              </a:ext>
            </a:extLst>
          </p:cNvPr>
          <p:cNvSpPr/>
          <p:nvPr/>
        </p:nvSpPr>
        <p:spPr>
          <a:xfrm>
            <a:off x="25248" y="12980"/>
            <a:ext cx="11965006" cy="1873671"/>
          </a:xfrm>
          <a:prstGeom prst="roundRect">
            <a:avLst>
              <a:gd name="adj" fmla="val 2628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: 圆角 144">
            <a:extLst>
              <a:ext uri="{FF2B5EF4-FFF2-40B4-BE49-F238E27FC236}">
                <a16:creationId xmlns:a16="http://schemas.microsoft.com/office/drawing/2014/main" id="{F5AF68E8-D968-1A9B-12F2-33A685C130A8}"/>
              </a:ext>
            </a:extLst>
          </p:cNvPr>
          <p:cNvSpPr/>
          <p:nvPr/>
        </p:nvSpPr>
        <p:spPr>
          <a:xfrm>
            <a:off x="3467328" y="77813"/>
            <a:ext cx="5865972" cy="245902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Step1: Regional Targets, Census Summaries and Spatial Data</a:t>
            </a:r>
            <a:endParaRPr lang="zh-CN" altLang="en-US" sz="1400" b="1" dirty="0">
              <a:solidFill>
                <a:schemeClr val="tx1"/>
              </a:solidFill>
              <a:latin typeface="Helvetica" pitchFamily="2" charset="0"/>
              <a:cs typeface="Helvetica" panose="020B0604020202020204" pitchFamily="34" charset="0"/>
            </a:endParaRPr>
          </a:p>
        </p:txBody>
      </p:sp>
      <p:sp>
        <p:nvSpPr>
          <p:cNvPr id="9" name="矩形: 圆角 46">
            <a:extLst>
              <a:ext uri="{FF2B5EF4-FFF2-40B4-BE49-F238E27FC236}">
                <a16:creationId xmlns:a16="http://schemas.microsoft.com/office/drawing/2014/main" id="{DC307D2E-EF1A-FA12-4C5F-5FC484B376DD}"/>
              </a:ext>
            </a:extLst>
          </p:cNvPr>
          <p:cNvSpPr/>
          <p:nvPr/>
        </p:nvSpPr>
        <p:spPr>
          <a:xfrm>
            <a:off x="3803521" y="401918"/>
            <a:ext cx="4381525" cy="1398246"/>
          </a:xfrm>
          <a:prstGeom prst="roundRect">
            <a:avLst>
              <a:gd name="adj" fmla="val 8734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120697B3-D0F0-CC56-D6F3-152CD9D629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0551" y="829514"/>
            <a:ext cx="446894" cy="4572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0D87AC4-D7D1-3832-BF42-A78E3F705B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1495" y="891984"/>
            <a:ext cx="446894" cy="45720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14CBF5F-FD37-93C1-F307-6FBDC81B32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435" y="868628"/>
            <a:ext cx="429930" cy="43984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8543211-F7EF-0FD4-07F6-78F2C61295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548" y="855324"/>
            <a:ext cx="539433" cy="551874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5584092F-22AA-ED16-8796-F8A78B9915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4797" y="789309"/>
            <a:ext cx="478066" cy="489091"/>
          </a:xfrm>
          <a:prstGeom prst="rect">
            <a:avLst/>
          </a:prstGeom>
        </p:spPr>
      </p:pic>
      <p:sp>
        <p:nvSpPr>
          <p:cNvPr id="15" name="矩形: 圆角 144">
            <a:extLst>
              <a:ext uri="{FF2B5EF4-FFF2-40B4-BE49-F238E27FC236}">
                <a16:creationId xmlns:a16="http://schemas.microsoft.com/office/drawing/2014/main" id="{05BC7284-DAB2-2846-E30A-5FC2345D4FDC}"/>
              </a:ext>
            </a:extLst>
          </p:cNvPr>
          <p:cNvSpPr/>
          <p:nvPr/>
        </p:nvSpPr>
        <p:spPr>
          <a:xfrm>
            <a:off x="4102024" y="462430"/>
            <a:ext cx="4013200" cy="241114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Regional Targets Extracted from PUMS Microdata</a:t>
            </a:r>
          </a:p>
        </p:txBody>
      </p:sp>
      <p:sp>
        <p:nvSpPr>
          <p:cNvPr id="16" name="矩形: 圆角 268">
            <a:extLst>
              <a:ext uri="{FF2B5EF4-FFF2-40B4-BE49-F238E27FC236}">
                <a16:creationId xmlns:a16="http://schemas.microsoft.com/office/drawing/2014/main" id="{12ECE8CA-C382-1D02-3298-B3F129C0BB73}"/>
              </a:ext>
            </a:extLst>
          </p:cNvPr>
          <p:cNvSpPr/>
          <p:nvPr/>
        </p:nvSpPr>
        <p:spPr>
          <a:xfrm>
            <a:off x="89403" y="381947"/>
            <a:ext cx="3621078" cy="1418216"/>
          </a:xfrm>
          <a:prstGeom prst="roundRect">
            <a:avLst>
              <a:gd name="adj" fmla="val 6694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形 16">
            <a:extLst>
              <a:ext uri="{FF2B5EF4-FFF2-40B4-BE49-F238E27FC236}">
                <a16:creationId xmlns:a16="http://schemas.microsoft.com/office/drawing/2014/main" id="{B9963B03-85D8-E678-7037-FB539C3B8CE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5897" y="938591"/>
            <a:ext cx="331018" cy="404398"/>
          </a:xfrm>
          <a:prstGeom prst="rect">
            <a:avLst/>
          </a:prstGeom>
        </p:spPr>
      </p:pic>
      <p:pic>
        <p:nvPicPr>
          <p:cNvPr id="18" name="图形 17">
            <a:extLst>
              <a:ext uri="{FF2B5EF4-FFF2-40B4-BE49-F238E27FC236}">
                <a16:creationId xmlns:a16="http://schemas.microsoft.com/office/drawing/2014/main" id="{D50EA511-E690-63A8-FAC7-E23B73C6F42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4442" y="909639"/>
            <a:ext cx="322509" cy="441111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F2C9918F-B37E-C207-3D2B-EF47B2B19A3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275188" y="934912"/>
            <a:ext cx="336785" cy="414272"/>
          </a:xfrm>
          <a:prstGeom prst="rect">
            <a:avLst/>
          </a:prstGeom>
        </p:spPr>
      </p:pic>
      <p:pic>
        <p:nvPicPr>
          <p:cNvPr id="20" name="图形 19">
            <a:extLst>
              <a:ext uri="{FF2B5EF4-FFF2-40B4-BE49-F238E27FC236}">
                <a16:creationId xmlns:a16="http://schemas.microsoft.com/office/drawing/2014/main" id="{69D0D34C-BB99-C121-6475-249FBA1E604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03944" y="926119"/>
            <a:ext cx="233085" cy="423796"/>
          </a:xfrm>
          <a:prstGeom prst="rect">
            <a:avLst/>
          </a:prstGeom>
        </p:spPr>
      </p:pic>
      <p:sp>
        <p:nvSpPr>
          <p:cNvPr id="21" name="矩形: 圆角 144">
            <a:extLst>
              <a:ext uri="{FF2B5EF4-FFF2-40B4-BE49-F238E27FC236}">
                <a16:creationId xmlns:a16="http://schemas.microsoft.com/office/drawing/2014/main" id="{6E09A442-2537-20E4-B637-132E3066F2DD}"/>
              </a:ext>
            </a:extLst>
          </p:cNvPr>
          <p:cNvSpPr/>
          <p:nvPr/>
        </p:nvSpPr>
        <p:spPr>
          <a:xfrm>
            <a:off x="158685" y="446438"/>
            <a:ext cx="3370340" cy="240080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External Conditions Extracted from Census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A67750D-37F1-FA7D-5F5D-88AAE80AE046}"/>
              </a:ext>
            </a:extLst>
          </p:cNvPr>
          <p:cNvSpPr txBox="1"/>
          <p:nvPr/>
        </p:nvSpPr>
        <p:spPr>
          <a:xfrm>
            <a:off x="190279" y="1385640"/>
            <a:ext cx="5449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Age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248D38E-33E7-DA58-3166-C65C64DF3CD7}"/>
              </a:ext>
            </a:extLst>
          </p:cNvPr>
          <p:cNvSpPr txBox="1"/>
          <p:nvPr/>
        </p:nvSpPr>
        <p:spPr>
          <a:xfrm>
            <a:off x="749099" y="1394833"/>
            <a:ext cx="4565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Sex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F191B614-8D8A-265A-1D49-BF5EDD4D41AC}"/>
              </a:ext>
            </a:extLst>
          </p:cNvPr>
          <p:cNvSpPr txBox="1"/>
          <p:nvPr/>
        </p:nvSpPr>
        <p:spPr>
          <a:xfrm>
            <a:off x="1150508" y="1394358"/>
            <a:ext cx="9614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Education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269C605-DEA8-D26E-BD21-95EBA4FF20F5}"/>
              </a:ext>
            </a:extLst>
          </p:cNvPr>
          <p:cNvSpPr txBox="1"/>
          <p:nvPr/>
        </p:nvSpPr>
        <p:spPr>
          <a:xfrm>
            <a:off x="2932342" y="1328005"/>
            <a:ext cx="7490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>
                <a:latin typeface="Helvetica" pitchFamily="2" charset="0"/>
              </a:rPr>
              <a:t>Income </a:t>
            </a:r>
          </a:p>
          <a:p>
            <a:r>
              <a:rPr lang="en" altLang="zh-CN" sz="1200">
                <a:latin typeface="Helvetica" pitchFamily="2" charset="0"/>
              </a:rPr>
              <a:t>Level</a:t>
            </a:r>
            <a:endParaRPr lang="en" altLang="zh-CN" sz="1200" dirty="0">
              <a:latin typeface="Helvetica" pitchFamily="2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209E7C12-4EB5-D310-6B8B-1D284FCCBC37}"/>
              </a:ext>
            </a:extLst>
          </p:cNvPr>
          <p:cNvSpPr txBox="1"/>
          <p:nvPr/>
        </p:nvSpPr>
        <p:spPr>
          <a:xfrm>
            <a:off x="1949232" y="1392528"/>
            <a:ext cx="11241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Employment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06A4308-52F7-B141-4486-A88BD99CF954}"/>
              </a:ext>
            </a:extLst>
          </p:cNvPr>
          <p:cNvSpPr txBox="1"/>
          <p:nvPr/>
        </p:nvSpPr>
        <p:spPr>
          <a:xfrm>
            <a:off x="3862601" y="1406699"/>
            <a:ext cx="497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Age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9F16859-06D9-183C-FF15-3816494DD566}"/>
              </a:ext>
            </a:extLst>
          </p:cNvPr>
          <p:cNvSpPr txBox="1"/>
          <p:nvPr/>
        </p:nvSpPr>
        <p:spPr>
          <a:xfrm>
            <a:off x="5546688" y="1424230"/>
            <a:ext cx="4468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>
                <a:latin typeface="Helvetica" pitchFamily="2" charset="0"/>
              </a:rPr>
              <a:t>Sex</a:t>
            </a:r>
            <a:endParaRPr lang="en" altLang="zh-CN" sz="1200" dirty="0">
              <a:latin typeface="Helvetica" pitchFamily="2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DFAA980-CDAA-3467-B0CB-9CBCAE327EC3}"/>
              </a:ext>
            </a:extLst>
          </p:cNvPr>
          <p:cNvSpPr txBox="1"/>
          <p:nvPr/>
        </p:nvSpPr>
        <p:spPr>
          <a:xfrm>
            <a:off x="4539501" y="1415469"/>
            <a:ext cx="8878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Education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3744B50-4327-9E6B-CAAF-706D7D920C7A}"/>
              </a:ext>
            </a:extLst>
          </p:cNvPr>
          <p:cNvSpPr txBox="1"/>
          <p:nvPr/>
        </p:nvSpPr>
        <p:spPr>
          <a:xfrm>
            <a:off x="7402477" y="1349202"/>
            <a:ext cx="7110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Income </a:t>
            </a:r>
          </a:p>
          <a:p>
            <a:r>
              <a:rPr lang="en" altLang="zh-CN" sz="1200" dirty="0">
                <a:latin typeface="Helvetica" pitchFamily="2" charset="0"/>
              </a:rPr>
              <a:t>Level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6210436-0C04-EC89-8B85-7578C8ED52AF}"/>
              </a:ext>
            </a:extLst>
          </p:cNvPr>
          <p:cNvSpPr txBox="1"/>
          <p:nvPr/>
        </p:nvSpPr>
        <p:spPr>
          <a:xfrm>
            <a:off x="6311594" y="1424230"/>
            <a:ext cx="11103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Employment</a:t>
            </a:r>
          </a:p>
        </p:txBody>
      </p:sp>
      <p:sp>
        <p:nvSpPr>
          <p:cNvPr id="32" name="矩形: 圆角 12">
            <a:extLst>
              <a:ext uri="{FF2B5EF4-FFF2-40B4-BE49-F238E27FC236}">
                <a16:creationId xmlns:a16="http://schemas.microsoft.com/office/drawing/2014/main" id="{F9F791EC-2DBD-3294-346E-4ED475A80341}"/>
              </a:ext>
            </a:extLst>
          </p:cNvPr>
          <p:cNvSpPr/>
          <p:nvPr/>
        </p:nvSpPr>
        <p:spPr>
          <a:xfrm>
            <a:off x="6518176" y="2030080"/>
            <a:ext cx="5494085" cy="4795164"/>
          </a:xfrm>
          <a:prstGeom prst="roundRect">
            <a:avLst>
              <a:gd name="adj" fmla="val 752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矩形: 圆角 144">
            <a:extLst>
              <a:ext uri="{FF2B5EF4-FFF2-40B4-BE49-F238E27FC236}">
                <a16:creationId xmlns:a16="http://schemas.microsoft.com/office/drawing/2014/main" id="{F28367B5-2862-F8F9-E3F5-78E10589C838}"/>
              </a:ext>
            </a:extLst>
          </p:cNvPr>
          <p:cNvSpPr/>
          <p:nvPr/>
        </p:nvSpPr>
        <p:spPr>
          <a:xfrm>
            <a:off x="7725083" y="2115845"/>
            <a:ext cx="3396881" cy="500102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Step3: Synthetic Population Generation and Location Assignment</a:t>
            </a:r>
            <a:endParaRPr lang="zh-CN" altLang="en-US" sz="1400" b="1" dirty="0">
              <a:solidFill>
                <a:schemeClr val="tx1"/>
              </a:solidFill>
              <a:latin typeface="Helvetica" pitchFamily="2" charset="0"/>
              <a:cs typeface="Helvetica" panose="020B0604020202020204" pitchFamily="34" charset="0"/>
            </a:endParaRPr>
          </a:p>
        </p:txBody>
      </p:sp>
      <p:pic>
        <p:nvPicPr>
          <p:cNvPr id="34" name="图片 33" descr="图表, 表面图&#10;&#10;AI 生成的内容可能不正确。">
            <a:extLst>
              <a:ext uri="{FF2B5EF4-FFF2-40B4-BE49-F238E27FC236}">
                <a16:creationId xmlns:a16="http://schemas.microsoft.com/office/drawing/2014/main" id="{7D42A0C4-CD8A-AF24-51AD-3CBD23B0AAF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9887" y="3198105"/>
            <a:ext cx="1605310" cy="1003011"/>
          </a:xfrm>
          <a:prstGeom prst="rect">
            <a:avLst/>
          </a:prstGeom>
        </p:spPr>
      </p:pic>
      <p:grpSp>
        <p:nvGrpSpPr>
          <p:cNvPr id="35" name="组合 34">
            <a:extLst>
              <a:ext uri="{FF2B5EF4-FFF2-40B4-BE49-F238E27FC236}">
                <a16:creationId xmlns:a16="http://schemas.microsoft.com/office/drawing/2014/main" id="{AD02B271-8496-B1D4-4770-B5F8FF4D0E55}"/>
              </a:ext>
            </a:extLst>
          </p:cNvPr>
          <p:cNvGrpSpPr/>
          <p:nvPr/>
        </p:nvGrpSpPr>
        <p:grpSpPr>
          <a:xfrm>
            <a:off x="891785" y="2798990"/>
            <a:ext cx="1416459" cy="1617530"/>
            <a:chOff x="2203943" y="-1"/>
            <a:chExt cx="1475628" cy="2255547"/>
          </a:xfrm>
        </p:grpSpPr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4A95D8BA-70C3-1D5A-8555-E633F93D8CEE}"/>
                </a:ext>
              </a:extLst>
            </p:cNvPr>
            <p:cNvGrpSpPr/>
            <p:nvPr/>
          </p:nvGrpSpPr>
          <p:grpSpPr>
            <a:xfrm>
              <a:off x="2206081" y="-1"/>
              <a:ext cx="1473490" cy="1113084"/>
              <a:chOff x="4622510" y="5930900"/>
              <a:chExt cx="2849730" cy="1992606"/>
            </a:xfrm>
          </p:grpSpPr>
          <p:pic>
            <p:nvPicPr>
              <p:cNvPr id="40" name="图片 39">
                <a:extLst>
                  <a:ext uri="{FF2B5EF4-FFF2-40B4-BE49-F238E27FC236}">
                    <a16:creationId xmlns:a16="http://schemas.microsoft.com/office/drawing/2014/main" id="{82629700-D430-01E9-680F-B076A252D6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backgroundRemoval t="9141" b="89978" l="1758" r="89844">
                            <a14:foregroundMark x1="6934" y1="24780" x2="6934" y2="24780"/>
                            <a14:foregroundMark x1="3906" y1="18172" x2="3906" y2="18172"/>
                            <a14:foregroundMark x1="9766" y1="10573" x2="9766" y2="10573"/>
                            <a14:foregroundMark x1="5859" y1="9251" x2="11914" y2="25881"/>
                            <a14:foregroundMark x1="30176" y1="30176" x2="56055" y2="48899"/>
                            <a14:foregroundMark x1="56055" y1="48899" x2="56738" y2="49119"/>
                            <a14:foregroundMark x1="1758" y1="14648" x2="5859" y2="55947"/>
                            <a14:foregroundMark x1="24238" y1="14478" x2="24902" y2="14427"/>
                            <a14:foregroundMark x1="17676" y1="14978" x2="18356" y2="14926"/>
                            <a14:foregroundMark x1="18207" y1="14671" x2="15723" y2="14868"/>
                            <a14:foregroundMark x1="38477" y1="23678" x2="45410" y2="24339"/>
                            <a14:foregroundMark x1="45410" y1="24339" x2="60742" y2="32379"/>
                            <a14:foregroundMark x1="60742" y1="32379" x2="60547" y2="55727"/>
                            <a14:foregroundMark x1="60352" y1="33150" x2="48730" y2="26101"/>
                            <a14:foregroundMark x1="16602" y1="14648" x2="16602" y2="14648"/>
                            <a14:foregroundMark x1="16602" y1="14648" x2="18086" y2="14465"/>
                            <a14:foregroundMark x1="23730" y1="13767" x2="38672" y2="23018"/>
                            <a14:foregroundMark x1="18148" y1="14570" x2="16992" y2="14648"/>
                            <a14:foregroundMark x1="25195" y1="14097" x2="24066" y2="14173"/>
                            <a14:foregroundMark x1="21484" y1="14207" x2="21484" y2="14207"/>
                            <a14:foregroundMark x1="24512" y1="13987" x2="24512" y2="13987"/>
                            <a14:foregroundMark x1="25000" y1="14097" x2="23242" y2="14097"/>
                            <a14:foregroundMark x1="18359" y1="14537" x2="16504" y2="14868"/>
                            <a14:foregroundMark x1="60352" y1="56498" x2="60352" y2="56498"/>
                            <a14:foregroundMark x1="60352" y1="58370" x2="60352" y2="58370"/>
                            <a14:foregroundMark x1="60352" y1="58700" x2="60352" y2="56718"/>
                            <a14:foregroundMark x1="60449" y1="67952" x2="60156" y2="59031"/>
                            <a14:foregroundMark x1="60156" y1="58700" x2="60449" y2="63877"/>
                            <a14:foregroundMark x1="60352" y1="61013" x2="60352" y2="58921"/>
                            <a14:backgroundMark x1="23068" y1="13789" x2="17871" y2="14097"/>
                          </a14:backgroundRemoval>
                        </a14:imgEffect>
                      </a14:imgLayer>
                    </a14:imgProps>
                  </a:ext>
                </a:extLst>
              </a:blip>
              <a:srcRect r="38757"/>
              <a:stretch/>
            </p:blipFill>
            <p:spPr>
              <a:xfrm>
                <a:off x="4622510" y="5930902"/>
                <a:ext cx="1376241" cy="1992604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41" name="图片 40">
                <a:extLst>
                  <a:ext uri="{FF2B5EF4-FFF2-40B4-BE49-F238E27FC236}">
                    <a16:creationId xmlns:a16="http://schemas.microsoft.com/office/drawing/2014/main" id="{C1BDB74C-0E6F-0719-85AF-B9B2A05105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backgroundRemoval t="9141" b="89978" l="1758" r="89844">
                            <a14:foregroundMark x1="6934" y1="24780" x2="6934" y2="24780"/>
                            <a14:foregroundMark x1="3906" y1="18172" x2="3906" y2="18172"/>
                            <a14:foregroundMark x1="9766" y1="10573" x2="9766" y2="10573"/>
                            <a14:foregroundMark x1="5859" y1="9251" x2="11914" y2="25881"/>
                            <a14:foregroundMark x1="30176" y1="30176" x2="56055" y2="48899"/>
                            <a14:foregroundMark x1="56055" y1="48899" x2="56738" y2="49119"/>
                            <a14:foregroundMark x1="1758" y1="14648" x2="5859" y2="55947"/>
                            <a14:foregroundMark x1="24238" y1="14478" x2="24902" y2="14427"/>
                            <a14:foregroundMark x1="17676" y1="14978" x2="18356" y2="14926"/>
                            <a14:foregroundMark x1="18207" y1="14671" x2="15723" y2="14868"/>
                            <a14:foregroundMark x1="38477" y1="23678" x2="45410" y2="24339"/>
                            <a14:foregroundMark x1="45410" y1="24339" x2="60742" y2="32379"/>
                            <a14:foregroundMark x1="60742" y1="32379" x2="60547" y2="55727"/>
                            <a14:foregroundMark x1="60352" y1="33150" x2="48730" y2="26101"/>
                            <a14:foregroundMark x1="16602" y1="14648" x2="16602" y2="14648"/>
                            <a14:foregroundMark x1="16602" y1="14648" x2="18086" y2="14465"/>
                            <a14:foregroundMark x1="23730" y1="13767" x2="38672" y2="23018"/>
                            <a14:foregroundMark x1="18148" y1="14570" x2="16992" y2="14648"/>
                            <a14:foregroundMark x1="25195" y1="14097" x2="24066" y2="14173"/>
                            <a14:foregroundMark x1="21484" y1="14207" x2="21484" y2="14207"/>
                            <a14:foregroundMark x1="24512" y1="13987" x2="24512" y2="13987"/>
                            <a14:foregroundMark x1="25000" y1="14097" x2="23242" y2="14097"/>
                            <a14:foregroundMark x1="18359" y1="14537" x2="16504" y2="14868"/>
                            <a14:foregroundMark x1="60352" y1="56498" x2="60352" y2="56498"/>
                            <a14:foregroundMark x1="60352" y1="58370" x2="60352" y2="58370"/>
                            <a14:foregroundMark x1="60352" y1="58700" x2="60352" y2="56718"/>
                            <a14:foregroundMark x1="60449" y1="67952" x2="60156" y2="59031"/>
                            <a14:foregroundMark x1="60156" y1="58700" x2="60449" y2="63877"/>
                            <a14:foregroundMark x1="60352" y1="61013" x2="60352" y2="58921"/>
                            <a14:backgroundMark x1="23068" y1="13789" x2="17871" y2="14097"/>
                          </a14:backgroundRemoval>
                        </a14:imgEffect>
                      </a14:imgLayer>
                    </a14:imgProps>
                  </a:ext>
                </a:extLst>
              </a:blip>
              <a:srcRect r="38757"/>
              <a:stretch/>
            </p:blipFill>
            <p:spPr>
              <a:xfrm rot="10800000">
                <a:off x="6096000" y="5930900"/>
                <a:ext cx="1376240" cy="1992604"/>
              </a:xfrm>
              <a:prstGeom prst="rect">
                <a:avLst/>
              </a:prstGeom>
              <a:ln>
                <a:noFill/>
              </a:ln>
            </p:spPr>
          </p:pic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D8F033E0-2A4A-529C-326F-84F355BB7677}"/>
                </a:ext>
              </a:extLst>
            </p:cNvPr>
            <p:cNvGrpSpPr/>
            <p:nvPr/>
          </p:nvGrpSpPr>
          <p:grpSpPr>
            <a:xfrm>
              <a:off x="2203943" y="1142463"/>
              <a:ext cx="1473489" cy="1113083"/>
              <a:chOff x="4622511" y="5930900"/>
              <a:chExt cx="2849729" cy="1992604"/>
            </a:xfrm>
          </p:grpSpPr>
          <p:pic>
            <p:nvPicPr>
              <p:cNvPr id="38" name="图片 37">
                <a:extLst>
                  <a:ext uri="{FF2B5EF4-FFF2-40B4-BE49-F238E27FC236}">
                    <a16:creationId xmlns:a16="http://schemas.microsoft.com/office/drawing/2014/main" id="{A42A23F2-3555-4952-A285-C1FAFCEA84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backgroundRemoval t="9141" b="89978" l="1758" r="89844">
                            <a14:foregroundMark x1="6934" y1="24780" x2="6934" y2="24780"/>
                            <a14:foregroundMark x1="3906" y1="18172" x2="3906" y2="18172"/>
                            <a14:foregroundMark x1="9766" y1="10573" x2="9766" y2="10573"/>
                            <a14:foregroundMark x1="5859" y1="9251" x2="11914" y2="25881"/>
                            <a14:foregroundMark x1="30176" y1="30176" x2="56055" y2="48899"/>
                            <a14:foregroundMark x1="56055" y1="48899" x2="56738" y2="49119"/>
                            <a14:foregroundMark x1="1758" y1="14648" x2="5859" y2="55947"/>
                            <a14:foregroundMark x1="24238" y1="14478" x2="24902" y2="14427"/>
                            <a14:foregroundMark x1="17676" y1="14978" x2="18356" y2="14926"/>
                            <a14:foregroundMark x1="18207" y1="14671" x2="15723" y2="14868"/>
                            <a14:foregroundMark x1="38477" y1="23678" x2="45410" y2="24339"/>
                            <a14:foregroundMark x1="45410" y1="24339" x2="60742" y2="32379"/>
                            <a14:foregroundMark x1="60742" y1="32379" x2="60547" y2="55727"/>
                            <a14:foregroundMark x1="60352" y1="33150" x2="48730" y2="26101"/>
                            <a14:foregroundMark x1="16602" y1="14648" x2="16602" y2="14648"/>
                            <a14:foregroundMark x1="16602" y1="14648" x2="18086" y2="14465"/>
                            <a14:foregroundMark x1="23730" y1="13767" x2="38672" y2="23018"/>
                            <a14:foregroundMark x1="18148" y1="14570" x2="16992" y2="14648"/>
                            <a14:foregroundMark x1="25195" y1="14097" x2="24066" y2="14173"/>
                            <a14:foregroundMark x1="21484" y1="14207" x2="21484" y2="14207"/>
                            <a14:foregroundMark x1="24512" y1="13987" x2="24512" y2="13987"/>
                            <a14:foregroundMark x1="25000" y1="14097" x2="23242" y2="14097"/>
                            <a14:foregroundMark x1="18359" y1="14537" x2="16504" y2="14868"/>
                            <a14:foregroundMark x1="60352" y1="56498" x2="60352" y2="56498"/>
                            <a14:foregroundMark x1="60352" y1="58370" x2="60352" y2="58370"/>
                            <a14:foregroundMark x1="60352" y1="58700" x2="60352" y2="56718"/>
                            <a14:foregroundMark x1="60449" y1="67952" x2="60156" y2="59031"/>
                            <a14:foregroundMark x1="60156" y1="58700" x2="60449" y2="63877"/>
                            <a14:foregroundMark x1="60352" y1="61013" x2="60352" y2="58921"/>
                            <a14:backgroundMark x1="23068" y1="13789" x2="17871" y2="14097"/>
                          </a14:backgroundRemoval>
                        </a14:imgEffect>
                      </a14:imgLayer>
                    </a14:imgProps>
                  </a:ext>
                </a:extLst>
              </a:blip>
              <a:srcRect r="38757"/>
              <a:stretch/>
            </p:blipFill>
            <p:spPr>
              <a:xfrm>
                <a:off x="4622511" y="5930900"/>
                <a:ext cx="1376241" cy="1992604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39" name="图片 38">
                <a:extLst>
                  <a:ext uri="{FF2B5EF4-FFF2-40B4-BE49-F238E27FC236}">
                    <a16:creationId xmlns:a16="http://schemas.microsoft.com/office/drawing/2014/main" id="{F40C1FA4-7926-0349-0E78-308EDC8075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backgroundRemoval t="9141" b="89978" l="1758" r="89844">
                            <a14:foregroundMark x1="6934" y1="24780" x2="6934" y2="24780"/>
                            <a14:foregroundMark x1="3906" y1="18172" x2="3906" y2="18172"/>
                            <a14:foregroundMark x1="9766" y1="10573" x2="9766" y2="10573"/>
                            <a14:foregroundMark x1="5859" y1="9251" x2="11914" y2="25881"/>
                            <a14:foregroundMark x1="30176" y1="30176" x2="56055" y2="48899"/>
                            <a14:foregroundMark x1="56055" y1="48899" x2="56738" y2="49119"/>
                            <a14:foregroundMark x1="1758" y1="14648" x2="5859" y2="55947"/>
                            <a14:foregroundMark x1="24238" y1="14478" x2="24902" y2="14427"/>
                            <a14:foregroundMark x1="17676" y1="14978" x2="18356" y2="14926"/>
                            <a14:foregroundMark x1="18207" y1="14671" x2="15723" y2="14868"/>
                            <a14:foregroundMark x1="38477" y1="23678" x2="45410" y2="24339"/>
                            <a14:foregroundMark x1="45410" y1="24339" x2="60742" y2="32379"/>
                            <a14:foregroundMark x1="60742" y1="32379" x2="60547" y2="55727"/>
                            <a14:foregroundMark x1="60352" y1="33150" x2="48730" y2="26101"/>
                            <a14:foregroundMark x1="16602" y1="14648" x2="16602" y2="14648"/>
                            <a14:foregroundMark x1="16602" y1="14648" x2="18086" y2="14465"/>
                            <a14:foregroundMark x1="23730" y1="13767" x2="38672" y2="23018"/>
                            <a14:foregroundMark x1="18148" y1="14570" x2="16992" y2="14648"/>
                            <a14:foregroundMark x1="25195" y1="14097" x2="24066" y2="14173"/>
                            <a14:foregroundMark x1="21484" y1="14207" x2="21484" y2="14207"/>
                            <a14:foregroundMark x1="24512" y1="13987" x2="24512" y2="13987"/>
                            <a14:foregroundMark x1="25000" y1="14097" x2="23242" y2="14097"/>
                            <a14:foregroundMark x1="18359" y1="14537" x2="16504" y2="14868"/>
                            <a14:foregroundMark x1="60352" y1="56498" x2="60352" y2="56498"/>
                            <a14:foregroundMark x1="60352" y1="58370" x2="60352" y2="58370"/>
                            <a14:foregroundMark x1="60352" y1="58700" x2="60352" y2="56718"/>
                            <a14:foregroundMark x1="60449" y1="67952" x2="60156" y2="59031"/>
                            <a14:foregroundMark x1="60156" y1="58700" x2="60449" y2="63877"/>
                            <a14:foregroundMark x1="60352" y1="61013" x2="60352" y2="58921"/>
                            <a14:backgroundMark x1="23068" y1="13789" x2="17871" y2="14097"/>
                          </a14:backgroundRemoval>
                        </a14:imgEffect>
                      </a14:imgLayer>
                    </a14:imgProps>
                  </a:ext>
                </a:extLst>
              </a:blip>
              <a:srcRect r="38757"/>
              <a:stretch/>
            </p:blipFill>
            <p:spPr>
              <a:xfrm rot="10800000">
                <a:off x="6096000" y="5930900"/>
                <a:ext cx="1376240" cy="1992604"/>
              </a:xfrm>
              <a:prstGeom prst="rect">
                <a:avLst/>
              </a:prstGeom>
              <a:ln>
                <a:noFill/>
              </a:ln>
            </p:spPr>
          </p:pic>
        </p:grpSp>
      </p:grpSp>
      <p:pic>
        <p:nvPicPr>
          <p:cNvPr id="42" name="图片 41">
            <a:extLst>
              <a:ext uri="{FF2B5EF4-FFF2-40B4-BE49-F238E27FC236}">
                <a16:creationId xmlns:a16="http://schemas.microsoft.com/office/drawing/2014/main" id="{F5C95867-474B-8AAE-F136-212AC11179D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91" y="4923950"/>
            <a:ext cx="1274727" cy="1552104"/>
          </a:xfrm>
          <a:prstGeom prst="rect">
            <a:avLst/>
          </a:prstGeom>
        </p:spPr>
      </p:pic>
      <p:pic>
        <p:nvPicPr>
          <p:cNvPr id="43" name="图形 42">
            <a:extLst>
              <a:ext uri="{FF2B5EF4-FFF2-40B4-BE49-F238E27FC236}">
                <a16:creationId xmlns:a16="http://schemas.microsoft.com/office/drawing/2014/main" id="{BDB4B834-EAE1-87F1-7921-995CB29605B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581174" y="2978639"/>
            <a:ext cx="2736439" cy="2987377"/>
          </a:xfrm>
          <a:prstGeom prst="rect">
            <a:avLst/>
          </a:prstGeom>
        </p:spPr>
      </p:pic>
      <p:grpSp>
        <p:nvGrpSpPr>
          <p:cNvPr id="44" name="组合 43">
            <a:extLst>
              <a:ext uri="{FF2B5EF4-FFF2-40B4-BE49-F238E27FC236}">
                <a16:creationId xmlns:a16="http://schemas.microsoft.com/office/drawing/2014/main" id="{E3E9FFA9-CAF6-0481-0956-62C91E5DCAAE}"/>
              </a:ext>
            </a:extLst>
          </p:cNvPr>
          <p:cNvGrpSpPr/>
          <p:nvPr/>
        </p:nvGrpSpPr>
        <p:grpSpPr>
          <a:xfrm>
            <a:off x="9153998" y="2831389"/>
            <a:ext cx="2811023" cy="1287052"/>
            <a:chOff x="8716304" y="3534526"/>
            <a:chExt cx="2811023" cy="1287052"/>
          </a:xfrm>
        </p:grpSpPr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F2E5BB07-B1F5-2AD7-3CFF-B98DEFC323E3}"/>
                </a:ext>
              </a:extLst>
            </p:cNvPr>
            <p:cNvGrpSpPr/>
            <p:nvPr/>
          </p:nvGrpSpPr>
          <p:grpSpPr>
            <a:xfrm>
              <a:off x="8716304" y="3534526"/>
              <a:ext cx="2811023" cy="1287052"/>
              <a:chOff x="9673248" y="5419378"/>
              <a:chExt cx="2771034" cy="1287052"/>
            </a:xfrm>
          </p:grpSpPr>
          <p:sp>
            <p:nvSpPr>
              <p:cNvPr id="47" name="圆角矩形 46">
                <a:extLst>
                  <a:ext uri="{FF2B5EF4-FFF2-40B4-BE49-F238E27FC236}">
                    <a16:creationId xmlns:a16="http://schemas.microsoft.com/office/drawing/2014/main" id="{99874451-EEAA-9359-8DB7-115F25E63D90}"/>
                  </a:ext>
                </a:extLst>
              </p:cNvPr>
              <p:cNvSpPr/>
              <p:nvPr/>
            </p:nvSpPr>
            <p:spPr>
              <a:xfrm>
                <a:off x="9673248" y="5419378"/>
                <a:ext cx="2771034" cy="12870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B72C92CB-BE1D-39AC-B3C2-74D88BAADFD5}"/>
                  </a:ext>
                </a:extLst>
              </p:cNvPr>
              <p:cNvSpPr txBox="1"/>
              <p:nvPr/>
            </p:nvSpPr>
            <p:spPr>
              <a:xfrm>
                <a:off x="9728041" y="5450716"/>
                <a:ext cx="269148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1200" dirty="0">
                    <a:latin typeface="Helvetica" pitchFamily="2" charset="0"/>
                  </a:rPr>
                  <a:t>Synthetic</a:t>
                </a:r>
                <a:r>
                  <a:rPr lang="en-US" altLang="zh-CN" sz="1200" dirty="0">
                    <a:latin typeface="Helvetica" pitchFamily="2" charset="0"/>
                  </a:rPr>
                  <a:t> Population with </a:t>
                </a:r>
                <a:r>
                  <a:rPr lang="en" altLang="zh-CN" sz="1200" dirty="0">
                    <a:latin typeface="Helvetica" pitchFamily="2" charset="0"/>
                  </a:rPr>
                  <a:t>5 attributes </a:t>
                </a:r>
                <a:endParaRPr lang="en-US" altLang="zh-CN" sz="1200" dirty="0">
                  <a:latin typeface="Helvetica" pitchFamily="2" charset="0"/>
                </a:endParaRPr>
              </a:p>
              <a:p>
                <a:r>
                  <a:rPr lang="en-US" altLang="zh-CN" sz="1200" dirty="0">
                    <a:latin typeface="Helvetica" pitchFamily="2" charset="0"/>
                  </a:rPr>
                  <a:t>1. Age</a:t>
                </a:r>
              </a:p>
              <a:p>
                <a:r>
                  <a:rPr lang="en-US" altLang="zh-CN" sz="1200" dirty="0">
                    <a:latin typeface="Helvetica" pitchFamily="2" charset="0"/>
                  </a:rPr>
                  <a:t>2. Sex</a:t>
                </a:r>
              </a:p>
              <a:p>
                <a:r>
                  <a:rPr lang="en-US" altLang="zh-CN" sz="1200" dirty="0">
                    <a:latin typeface="Helvetica" pitchFamily="2" charset="0"/>
                  </a:rPr>
                  <a:t>3. Education</a:t>
                </a:r>
              </a:p>
              <a:p>
                <a:r>
                  <a:rPr lang="en-US" altLang="zh-CN" sz="1200" dirty="0">
                    <a:latin typeface="Helvetica" pitchFamily="2" charset="0"/>
                  </a:rPr>
                  <a:t>4. Employment</a:t>
                </a:r>
              </a:p>
              <a:p>
                <a:r>
                  <a:rPr lang="en-US" altLang="zh-CN" sz="1200" dirty="0">
                    <a:latin typeface="Helvetica" pitchFamily="2" charset="0"/>
                  </a:rPr>
                  <a:t>5. Earnings</a:t>
                </a:r>
                <a:endParaRPr lang="en" altLang="zh-CN" sz="1200" dirty="0">
                  <a:latin typeface="Helvetica" pitchFamily="2" charset="0"/>
                </a:endParaRPr>
              </a:p>
            </p:txBody>
          </p:sp>
        </p:grp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D929EFE6-1693-33B9-A92E-880E0E7E8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65793" y="3952523"/>
              <a:ext cx="760466" cy="760466"/>
            </a:xfrm>
            <a:prstGeom prst="rect">
              <a:avLst/>
            </a:prstGeom>
          </p:spPr>
        </p:pic>
      </p:grpSp>
      <p:sp>
        <p:nvSpPr>
          <p:cNvPr id="49" name="文本框 48">
            <a:extLst>
              <a:ext uri="{FF2B5EF4-FFF2-40B4-BE49-F238E27FC236}">
                <a16:creationId xmlns:a16="http://schemas.microsoft.com/office/drawing/2014/main" id="{0B025C0C-EE32-CB36-8EFF-7D540067598D}"/>
              </a:ext>
            </a:extLst>
          </p:cNvPr>
          <p:cNvSpPr txBox="1"/>
          <p:nvPr/>
        </p:nvSpPr>
        <p:spPr>
          <a:xfrm>
            <a:off x="510423" y="3452544"/>
            <a:ext cx="22152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400" dirty="0">
                <a:latin typeface="Helvetica" pitchFamily="2" charset="0"/>
              </a:rPr>
              <a:t>Stage1: Coarse Structure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9D40030-906E-3DD3-BC45-881DF87D47B8}"/>
              </a:ext>
            </a:extLst>
          </p:cNvPr>
          <p:cNvSpPr txBox="1"/>
          <p:nvPr/>
        </p:nvSpPr>
        <p:spPr>
          <a:xfrm>
            <a:off x="422054" y="6464905"/>
            <a:ext cx="25648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400" dirty="0">
                <a:latin typeface="Helvetica" pitchFamily="2" charset="0"/>
              </a:rPr>
              <a:t>Coarse Regional Distribution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7311E56-E124-1651-DE0F-BA3B30D02131}"/>
              </a:ext>
            </a:extLst>
          </p:cNvPr>
          <p:cNvSpPr txBox="1"/>
          <p:nvPr/>
        </p:nvSpPr>
        <p:spPr>
          <a:xfrm>
            <a:off x="4119607" y="2963757"/>
            <a:ext cx="15809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400" dirty="0">
                <a:latin typeface="Helvetica" pitchFamily="2" charset="0"/>
              </a:rPr>
              <a:t>Stage2: Full-joint Diffusion Model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F5D08DB-571F-38F6-1AD3-52596F729F57}"/>
              </a:ext>
            </a:extLst>
          </p:cNvPr>
          <p:cNvSpPr txBox="1"/>
          <p:nvPr/>
        </p:nvSpPr>
        <p:spPr>
          <a:xfrm>
            <a:off x="6757400" y="2820332"/>
            <a:ext cx="18717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PUMA-level 5-attribute Full Joint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9EDC563-D7BC-60B0-12FE-AE3E52E35498}"/>
              </a:ext>
            </a:extLst>
          </p:cNvPr>
          <p:cNvSpPr txBox="1"/>
          <p:nvPr/>
        </p:nvSpPr>
        <p:spPr>
          <a:xfrm>
            <a:off x="6536332" y="6404290"/>
            <a:ext cx="292553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Point-level Synthetic Population Data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73DAB502-B1F2-FE04-18E5-E1C34E1810E5}"/>
              </a:ext>
            </a:extLst>
          </p:cNvPr>
          <p:cNvGrpSpPr/>
          <p:nvPr/>
        </p:nvGrpSpPr>
        <p:grpSpPr>
          <a:xfrm>
            <a:off x="10179827" y="5330061"/>
            <a:ext cx="2054214" cy="1363935"/>
            <a:chOff x="9856460" y="3176139"/>
            <a:chExt cx="2176979" cy="1328732"/>
          </a:xfrm>
        </p:grpSpPr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31890EB6-AFE7-E9F9-3442-B58B152B432F}"/>
                </a:ext>
              </a:extLst>
            </p:cNvPr>
            <p:cNvSpPr txBox="1"/>
            <p:nvPr/>
          </p:nvSpPr>
          <p:spPr>
            <a:xfrm>
              <a:off x="9856460" y="4235021"/>
              <a:ext cx="2176979" cy="2698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1200" dirty="0">
                  <a:latin typeface="Helvetica" pitchFamily="2" charset="0"/>
                </a:rPr>
                <a:t>Spatial Location</a:t>
              </a:r>
              <a:r>
                <a:rPr lang="zh-CN" altLang="en-US" sz="1200" dirty="0">
                  <a:latin typeface="Helvetica" pitchFamily="2" charset="0"/>
                </a:rPr>
                <a:t> </a:t>
              </a:r>
              <a:r>
                <a:rPr lang="en-US" altLang="zh-CN" sz="1200" dirty="0">
                  <a:latin typeface="Helvetica" pitchFamily="2" charset="0"/>
                </a:rPr>
                <a:t>Model</a:t>
              </a:r>
              <a:endParaRPr lang="en" altLang="zh-CN" sz="1200" dirty="0">
                <a:latin typeface="Helvetica" pitchFamily="2" charset="0"/>
              </a:endParaRPr>
            </a:p>
          </p:txBody>
        </p:sp>
        <p:pic>
          <p:nvPicPr>
            <p:cNvPr id="56" name="图片 55">
              <a:extLst>
                <a:ext uri="{FF2B5EF4-FFF2-40B4-BE49-F238E27FC236}">
                  <a16:creationId xmlns:a16="http://schemas.microsoft.com/office/drawing/2014/main" id="{D34B748A-5637-5D7E-27AF-67741D3491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21293" y="3176139"/>
              <a:ext cx="1681995" cy="1164646"/>
            </a:xfrm>
            <a:prstGeom prst="rect">
              <a:avLst/>
            </a:prstGeom>
          </p:spPr>
        </p:pic>
      </p:grpSp>
      <p:sp>
        <p:nvSpPr>
          <p:cNvPr id="57" name="矩形: 圆角 1">
            <a:extLst>
              <a:ext uri="{FF2B5EF4-FFF2-40B4-BE49-F238E27FC236}">
                <a16:creationId xmlns:a16="http://schemas.microsoft.com/office/drawing/2014/main" id="{3D53DC2C-A6FB-352F-D238-8BCDAFA83639}"/>
              </a:ext>
            </a:extLst>
          </p:cNvPr>
          <p:cNvSpPr/>
          <p:nvPr/>
        </p:nvSpPr>
        <p:spPr>
          <a:xfrm>
            <a:off x="8255961" y="401917"/>
            <a:ext cx="3456546" cy="1398247"/>
          </a:xfrm>
          <a:prstGeom prst="roundRect">
            <a:avLst>
              <a:gd name="adj" fmla="val 7292"/>
            </a:avLst>
          </a:prstGeom>
          <a:solidFill>
            <a:srgbClr val="B4E5A2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AF6A67D-207B-DDCD-48D9-5C15A0561F18}"/>
              </a:ext>
            </a:extLst>
          </p:cNvPr>
          <p:cNvSpPr txBox="1"/>
          <p:nvPr/>
        </p:nvSpPr>
        <p:spPr>
          <a:xfrm>
            <a:off x="8441579" y="1392528"/>
            <a:ext cx="9008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Helvetica" pitchFamily="2" charset="0"/>
              </a:rPr>
              <a:t>Tract-level Census</a:t>
            </a:r>
            <a:endParaRPr lang="en" altLang="zh-CN" sz="1200" dirty="0">
              <a:latin typeface="Helvetica" pitchFamily="2" charset="0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D816183-C2A1-110C-CF6D-5FF296FF5A0D}"/>
              </a:ext>
            </a:extLst>
          </p:cNvPr>
          <p:cNvSpPr txBox="1"/>
          <p:nvPr/>
        </p:nvSpPr>
        <p:spPr>
          <a:xfrm>
            <a:off x="9738179" y="1385640"/>
            <a:ext cx="8113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Helvetica" pitchFamily="2" charset="0"/>
              </a:rPr>
              <a:t>Road Network</a:t>
            </a:r>
            <a:endParaRPr lang="en" altLang="zh-CN" sz="1200" dirty="0">
              <a:latin typeface="Helvetica" pitchFamily="2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593FDB7-CB61-0559-C1F2-39BA4F43CEE8}"/>
              </a:ext>
            </a:extLst>
          </p:cNvPr>
          <p:cNvSpPr txBox="1"/>
          <p:nvPr/>
        </p:nvSpPr>
        <p:spPr>
          <a:xfrm>
            <a:off x="10737652" y="1324926"/>
            <a:ext cx="1252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200" dirty="0">
                <a:latin typeface="Helvetica" pitchFamily="2" charset="0"/>
              </a:rPr>
              <a:t>LODES OD</a:t>
            </a:r>
            <a:r>
              <a:rPr lang="zh-CN" altLang="en-US" sz="1200" dirty="0">
                <a:latin typeface="Helvetica" pitchFamily="2" charset="0"/>
              </a:rPr>
              <a:t> </a:t>
            </a:r>
            <a:r>
              <a:rPr lang="en" altLang="zh-CN" sz="1200" dirty="0">
                <a:latin typeface="Helvetica" pitchFamily="2" charset="0"/>
              </a:rPr>
              <a:t>Flows</a:t>
            </a:r>
          </a:p>
        </p:txBody>
      </p:sp>
      <p:cxnSp>
        <p:nvCxnSpPr>
          <p:cNvPr id="61" name="直接箭头连接符 17">
            <a:extLst>
              <a:ext uri="{FF2B5EF4-FFF2-40B4-BE49-F238E27FC236}">
                <a16:creationId xmlns:a16="http://schemas.microsoft.com/office/drawing/2014/main" id="{12E8541E-8526-3F83-3961-D3C3653913FF}"/>
              </a:ext>
            </a:extLst>
          </p:cNvPr>
          <p:cNvCxnSpPr>
            <a:cxnSpLocks/>
          </p:cNvCxnSpPr>
          <p:nvPr/>
        </p:nvCxnSpPr>
        <p:spPr>
          <a:xfrm>
            <a:off x="1632490" y="1800161"/>
            <a:ext cx="0" cy="121449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箭头连接符 21">
            <a:extLst>
              <a:ext uri="{FF2B5EF4-FFF2-40B4-BE49-F238E27FC236}">
                <a16:creationId xmlns:a16="http://schemas.microsoft.com/office/drawing/2014/main" id="{7F6BA3F8-7078-3A85-22AF-BD620B6ECC4B}"/>
              </a:ext>
            </a:extLst>
          </p:cNvPr>
          <p:cNvCxnSpPr>
            <a:cxnSpLocks/>
          </p:cNvCxnSpPr>
          <p:nvPr/>
        </p:nvCxnSpPr>
        <p:spPr>
          <a:xfrm flipH="1">
            <a:off x="1625175" y="4201116"/>
            <a:ext cx="5263" cy="96044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26">
            <a:extLst>
              <a:ext uri="{FF2B5EF4-FFF2-40B4-BE49-F238E27FC236}">
                <a16:creationId xmlns:a16="http://schemas.microsoft.com/office/drawing/2014/main" id="{BE55936D-BBCB-F9EF-A8E0-4EEFE9B6690A}"/>
              </a:ext>
            </a:extLst>
          </p:cNvPr>
          <p:cNvCxnSpPr>
            <a:cxnSpLocks/>
            <a:endCxn id="43" idx="1"/>
          </p:cNvCxnSpPr>
          <p:nvPr/>
        </p:nvCxnSpPr>
        <p:spPr>
          <a:xfrm flipV="1">
            <a:off x="2212218" y="4472328"/>
            <a:ext cx="1368956" cy="101446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连接符: 肘形 33">
            <a:extLst>
              <a:ext uri="{FF2B5EF4-FFF2-40B4-BE49-F238E27FC236}">
                <a16:creationId xmlns:a16="http://schemas.microsoft.com/office/drawing/2014/main" id="{811A436B-D76E-5456-542A-83936BD8D75C}"/>
              </a:ext>
            </a:extLst>
          </p:cNvPr>
          <p:cNvCxnSpPr>
            <a:cxnSpLocks/>
            <a:stCxn id="16" idx="2"/>
            <a:endCxn id="51" idx="0"/>
          </p:cNvCxnSpPr>
          <p:nvPr/>
        </p:nvCxnSpPr>
        <p:spPr>
          <a:xfrm rot="16200000" flipH="1">
            <a:off x="2823204" y="876901"/>
            <a:ext cx="1163594" cy="3010118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37">
            <a:extLst>
              <a:ext uri="{FF2B5EF4-FFF2-40B4-BE49-F238E27FC236}">
                <a16:creationId xmlns:a16="http://schemas.microsoft.com/office/drawing/2014/main" id="{2B82051C-2546-0430-B7F3-D0905A6DAE76}"/>
              </a:ext>
            </a:extLst>
          </p:cNvPr>
          <p:cNvCxnSpPr>
            <a:cxnSpLocks/>
          </p:cNvCxnSpPr>
          <p:nvPr/>
        </p:nvCxnSpPr>
        <p:spPr>
          <a:xfrm flipV="1">
            <a:off x="5920509" y="3693575"/>
            <a:ext cx="836891" cy="6035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箭头连接符 38">
            <a:extLst>
              <a:ext uri="{FF2B5EF4-FFF2-40B4-BE49-F238E27FC236}">
                <a16:creationId xmlns:a16="http://schemas.microsoft.com/office/drawing/2014/main" id="{795F88BC-63AB-DF1F-26D1-492472DA705E}"/>
              </a:ext>
            </a:extLst>
          </p:cNvPr>
          <p:cNvCxnSpPr>
            <a:cxnSpLocks/>
          </p:cNvCxnSpPr>
          <p:nvPr/>
        </p:nvCxnSpPr>
        <p:spPr>
          <a:xfrm flipV="1">
            <a:off x="8312671" y="3707920"/>
            <a:ext cx="804902" cy="6036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矩形: 圆角 144">
            <a:extLst>
              <a:ext uri="{FF2B5EF4-FFF2-40B4-BE49-F238E27FC236}">
                <a16:creationId xmlns:a16="http://schemas.microsoft.com/office/drawing/2014/main" id="{17412750-C7CD-53D9-6F40-114A8792EAEA}"/>
              </a:ext>
            </a:extLst>
          </p:cNvPr>
          <p:cNvSpPr/>
          <p:nvPr/>
        </p:nvSpPr>
        <p:spPr>
          <a:xfrm>
            <a:off x="9153998" y="446688"/>
            <a:ext cx="1709728" cy="244000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Spatial Support Data</a:t>
            </a:r>
          </a:p>
        </p:txBody>
      </p:sp>
      <p:pic>
        <p:nvPicPr>
          <p:cNvPr id="68" name="图片 67">
            <a:extLst>
              <a:ext uri="{FF2B5EF4-FFF2-40B4-BE49-F238E27FC236}">
                <a16:creationId xmlns:a16="http://schemas.microsoft.com/office/drawing/2014/main" id="{8FB25F67-E091-A709-0E29-F47C62EA5762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754" y="710073"/>
            <a:ext cx="557932" cy="714157"/>
          </a:xfrm>
          <a:prstGeom prst="rect">
            <a:avLst/>
          </a:prstGeom>
        </p:spPr>
      </p:pic>
      <p:sp>
        <p:nvSpPr>
          <p:cNvPr id="69" name="矩形 68">
            <a:extLst>
              <a:ext uri="{FF2B5EF4-FFF2-40B4-BE49-F238E27FC236}">
                <a16:creationId xmlns:a16="http://schemas.microsoft.com/office/drawing/2014/main" id="{EA35FBBF-0F1C-2562-A067-D977C6AAA978}"/>
              </a:ext>
            </a:extLst>
          </p:cNvPr>
          <p:cNvSpPr/>
          <p:nvPr/>
        </p:nvSpPr>
        <p:spPr>
          <a:xfrm>
            <a:off x="8339479" y="3404815"/>
            <a:ext cx="678645" cy="28876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zh-CN" sz="1050" dirty="0">
                <a:latin typeface="Helvetica" pitchFamily="2" charset="0"/>
              </a:rPr>
              <a:t>Sample</a:t>
            </a:r>
          </a:p>
        </p:txBody>
      </p:sp>
      <p:sp>
        <p:nvSpPr>
          <p:cNvPr id="70" name="矩形: 圆角 144">
            <a:extLst>
              <a:ext uri="{FF2B5EF4-FFF2-40B4-BE49-F238E27FC236}">
                <a16:creationId xmlns:a16="http://schemas.microsoft.com/office/drawing/2014/main" id="{8AA1A267-00FA-5925-7C28-69481519ABB4}"/>
              </a:ext>
            </a:extLst>
          </p:cNvPr>
          <p:cNvSpPr/>
          <p:nvPr/>
        </p:nvSpPr>
        <p:spPr>
          <a:xfrm>
            <a:off x="2196914" y="2113216"/>
            <a:ext cx="2321321" cy="445496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Helvetica" pitchFamily="2" charset="0"/>
                <a:cs typeface="Helvetica" panose="020B0604020202020204" pitchFamily="34" charset="0"/>
              </a:rPr>
              <a:t>Step2: Hierarchical Joint Distribution Learning</a:t>
            </a:r>
            <a:endParaRPr lang="zh-CN" altLang="en-US" sz="1400" b="1" dirty="0">
              <a:solidFill>
                <a:schemeClr val="tx1"/>
              </a:solidFill>
              <a:latin typeface="Helvetica" pitchFamily="2" charset="0"/>
              <a:cs typeface="Helvetica" panose="020B0604020202020204" pitchFamily="34" charset="0"/>
            </a:endParaRPr>
          </a:p>
        </p:txBody>
      </p:sp>
      <p:pic>
        <p:nvPicPr>
          <p:cNvPr id="71" name="图片 70">
            <a:extLst>
              <a:ext uri="{FF2B5EF4-FFF2-40B4-BE49-F238E27FC236}">
                <a16:creationId xmlns:a16="http://schemas.microsoft.com/office/drawing/2014/main" id="{1EABEE47-B8A1-A13E-50FC-413903E5B7E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1744" y="718239"/>
            <a:ext cx="559736" cy="761855"/>
          </a:xfrm>
          <a:prstGeom prst="rect">
            <a:avLst/>
          </a:prstGeom>
        </p:spPr>
      </p:pic>
      <p:cxnSp>
        <p:nvCxnSpPr>
          <p:cNvPr id="72" name="直接箭头连接符 1034">
            <a:extLst>
              <a:ext uri="{FF2B5EF4-FFF2-40B4-BE49-F238E27FC236}">
                <a16:creationId xmlns:a16="http://schemas.microsoft.com/office/drawing/2014/main" id="{01BC90BC-9980-4E64-695D-C49E2E324440}"/>
              </a:ext>
            </a:extLst>
          </p:cNvPr>
          <p:cNvCxnSpPr>
            <a:cxnSpLocks/>
          </p:cNvCxnSpPr>
          <p:nvPr/>
        </p:nvCxnSpPr>
        <p:spPr>
          <a:xfrm>
            <a:off x="11171104" y="4155657"/>
            <a:ext cx="108" cy="117440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图片 72">
            <a:extLst>
              <a:ext uri="{FF2B5EF4-FFF2-40B4-BE49-F238E27FC236}">
                <a16:creationId xmlns:a16="http://schemas.microsoft.com/office/drawing/2014/main" id="{C3764623-63B1-E479-52DB-324453F21153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721832" y="659650"/>
            <a:ext cx="488597" cy="714156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9060A3CA-13F7-7F4E-73C5-8DE2E53CD319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90"/>
          <a:stretch>
            <a:fillRect/>
          </a:stretch>
        </p:blipFill>
        <p:spPr>
          <a:xfrm>
            <a:off x="6609409" y="4612693"/>
            <a:ext cx="2453356" cy="1749193"/>
          </a:xfrm>
          <a:prstGeom prst="rect">
            <a:avLst/>
          </a:prstGeom>
        </p:spPr>
      </p:pic>
      <p:cxnSp>
        <p:nvCxnSpPr>
          <p:cNvPr id="75" name="直线箭头连接符 74">
            <a:extLst>
              <a:ext uri="{FF2B5EF4-FFF2-40B4-BE49-F238E27FC236}">
                <a16:creationId xmlns:a16="http://schemas.microsoft.com/office/drawing/2014/main" id="{FBCBF214-A18E-5240-0A5C-0765BCF2D4FA}"/>
              </a:ext>
            </a:extLst>
          </p:cNvPr>
          <p:cNvCxnSpPr>
            <a:cxnSpLocks/>
            <a:stCxn id="9" idx="2"/>
            <a:endCxn id="51" idx="0"/>
          </p:cNvCxnSpPr>
          <p:nvPr/>
        </p:nvCxnSpPr>
        <p:spPr>
          <a:xfrm flipH="1">
            <a:off x="4910060" y="1800164"/>
            <a:ext cx="1084224" cy="1163593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F937DBE9-685C-72DF-419B-334B34E53B81}"/>
              </a:ext>
            </a:extLst>
          </p:cNvPr>
          <p:cNvSpPr/>
          <p:nvPr/>
        </p:nvSpPr>
        <p:spPr>
          <a:xfrm>
            <a:off x="9117573" y="5618680"/>
            <a:ext cx="1272956" cy="30913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zh-CN" sz="1050" dirty="0">
                <a:latin typeface="Helvetica" pitchFamily="2" charset="0"/>
              </a:rPr>
              <a:t>Assign Locations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533BC0A5-6F84-7A0F-6674-9589A3D49A72}"/>
              </a:ext>
            </a:extLst>
          </p:cNvPr>
          <p:cNvSpPr/>
          <p:nvPr/>
        </p:nvSpPr>
        <p:spPr>
          <a:xfrm rot="18785123">
            <a:off x="5270544" y="2301458"/>
            <a:ext cx="888143" cy="3708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zh-CN" sz="1050" dirty="0">
                <a:latin typeface="Helvetica" pitchFamily="2" charset="0"/>
              </a:rPr>
              <a:t>Training Supervision</a:t>
            </a:r>
          </a:p>
        </p:txBody>
      </p:sp>
      <p:pic>
        <p:nvPicPr>
          <p:cNvPr id="78" name="图形 77">
            <a:extLst>
              <a:ext uri="{FF2B5EF4-FFF2-40B4-BE49-F238E27FC236}">
                <a16:creationId xmlns:a16="http://schemas.microsoft.com/office/drawing/2014/main" id="{400B14FB-424D-8911-6AFE-33FE758E354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44708" y="904208"/>
            <a:ext cx="233085" cy="423796"/>
          </a:xfrm>
          <a:prstGeom prst="rect">
            <a:avLst/>
          </a:prstGeom>
        </p:spPr>
      </p:pic>
      <p:cxnSp>
        <p:nvCxnSpPr>
          <p:cNvPr id="79" name="直线箭头连接符 78">
            <a:extLst>
              <a:ext uri="{FF2B5EF4-FFF2-40B4-BE49-F238E27FC236}">
                <a16:creationId xmlns:a16="http://schemas.microsoft.com/office/drawing/2014/main" id="{58CA7393-784D-7CA5-71E6-6BAE4AB2419E}"/>
              </a:ext>
            </a:extLst>
          </p:cNvPr>
          <p:cNvCxnSpPr>
            <a:cxnSpLocks/>
            <a:stCxn id="9" idx="2"/>
            <a:endCxn id="49" idx="3"/>
          </p:cNvCxnSpPr>
          <p:nvPr/>
        </p:nvCxnSpPr>
        <p:spPr>
          <a:xfrm flipH="1">
            <a:off x="2725702" y="1800164"/>
            <a:ext cx="3268582" cy="1806269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肘形连接符 79">
            <a:extLst>
              <a:ext uri="{FF2B5EF4-FFF2-40B4-BE49-F238E27FC236}">
                <a16:creationId xmlns:a16="http://schemas.microsoft.com/office/drawing/2014/main" id="{55A69484-91AA-1EFC-CD0E-7671DBB18A3A}"/>
              </a:ext>
            </a:extLst>
          </p:cNvPr>
          <p:cNvCxnSpPr>
            <a:cxnSpLocks/>
            <a:stCxn id="60" idx="2"/>
            <a:endCxn id="56" idx="3"/>
          </p:cNvCxnSpPr>
          <p:nvPr/>
        </p:nvCxnSpPr>
        <p:spPr>
          <a:xfrm rot="16200000" flipH="1">
            <a:off x="9572620" y="3577923"/>
            <a:ext cx="4141221" cy="558555"/>
          </a:xfrm>
          <a:prstGeom prst="bentConnector4">
            <a:avLst>
              <a:gd name="adj1" fmla="val 4497"/>
              <a:gd name="adj2" fmla="val 13803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38">
            <a:extLst>
              <a:ext uri="{FF2B5EF4-FFF2-40B4-BE49-F238E27FC236}">
                <a16:creationId xmlns:a16="http://schemas.microsoft.com/office/drawing/2014/main" id="{24FBB9C0-7872-5A84-E277-8D6990860189}"/>
              </a:ext>
            </a:extLst>
          </p:cNvPr>
          <p:cNvCxnSpPr>
            <a:cxnSpLocks/>
          </p:cNvCxnSpPr>
          <p:nvPr/>
        </p:nvCxnSpPr>
        <p:spPr>
          <a:xfrm flipH="1" flipV="1">
            <a:off x="9066383" y="5950362"/>
            <a:ext cx="1385396" cy="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49255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</Words>
  <Application>Microsoft Macintosh PowerPoint</Application>
  <PresentationFormat>宽屏</PresentationFormat>
  <Paragraphs>36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Helvetica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Jinlin WU</dc:creator>
  <cp:lastModifiedBy>Jinlin WU</cp:lastModifiedBy>
  <cp:revision>3</cp:revision>
  <dcterms:created xsi:type="dcterms:W3CDTF">2026-03-25T13:20:37Z</dcterms:created>
  <dcterms:modified xsi:type="dcterms:W3CDTF">2026-04-02T02:12:53Z</dcterms:modified>
</cp:coreProperties>
</file>