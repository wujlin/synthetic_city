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4B7"/>
    <a:srgbClr val="D9D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3" autoAdjust="0"/>
    <p:restoredTop sz="94710"/>
  </p:normalViewPr>
  <p:slideViewPr>
    <p:cSldViewPr snapToGrid="0">
      <p:cViewPr>
        <p:scale>
          <a:sx n="122" d="100"/>
          <a:sy n="122" d="100"/>
        </p:scale>
        <p:origin x="14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E7868-C0F7-4461-8E6E-CF562DE301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48908-7400-4AF8-9393-3C73B4A6F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9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48908-7400-4AF8-9393-3C73B4A6F6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19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BDDE-06E0-0CF3-20D6-B46196DD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60F200-FD0D-BCCA-0B42-918EC8746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B25224-5354-D0D0-2341-2CADB9D39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924F11-FC3E-DF80-149D-7A6DF6A42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48908-7400-4AF8-9393-3C73B4A6F6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13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BB7F2-FC23-2DA7-1422-676B0B53B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369CAA-845D-176D-F230-551244C1A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0C318-A235-D530-FB23-98122B7B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4B98B8-1202-7300-CA06-40BA9A78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1C4E70-4F06-CC59-1862-ECE29B14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10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22F0B-E44C-DFF7-DAD2-157F5E14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70FA3-750D-EA2F-4A26-AF23F25C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04CE7-8DED-86E5-5127-A3324721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5517D3-15E4-2B71-101D-34D0C383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FED76-DE20-89C6-FF0C-93AF9EBE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0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F59AF-3A2A-9FB1-94B1-51A4333D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F922A0-AF25-49A1-208B-8CD5CBD3D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8B1F8-AE53-C9D5-8D8B-7BD22DAE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E616D-7A18-0B73-51D9-8B88F9B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20399E-1199-86C6-504E-6099728A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248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BA48-3EB3-458F-2108-9D85689C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789D74-F052-2EE2-C185-DEDE284A0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6930F2-81C3-CAA7-71F0-9985C695C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5580CE-12B6-5A8A-388E-A7B14A57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C1D0A4-C6E7-6DDA-CDED-475EA384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77085-0662-61A9-EA92-32A6C80E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66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FFC2-487C-982B-0867-D57A32AD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E44B18-2190-3463-E4EE-6216BC9D2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929681-22B9-5087-49C8-A5D6A586A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55EEF6-9F43-D862-C44B-1A26E8850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E35892-1D73-E7CC-85AE-4BA022E43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034B86-25F8-F152-2312-71E12604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53707A-5CEA-FCE6-4888-0BE14B40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EB343E-939E-0962-DA1F-52E7FE28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19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2CE0B-61A8-11E8-AFAF-3A5CC952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274DF4-E158-21EA-4538-F27FA445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F560AF-4290-C222-525F-2AC48AA5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263C84-8CD0-7AA9-BB31-9C01EDD5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5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4538EB-DAD1-0EA8-1F0F-0B12D7CF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D68ADE-C80A-A075-1447-094F71B7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96C823-828C-C038-B269-99D0E343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25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DEC65-BE99-8680-9545-1D943FF5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4321D3-3C34-1901-F592-E737678EF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54FAC4-2E6A-7365-929E-571E77134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DF7AB0-B934-8BC4-989B-1C812E4A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37A586-F42E-34A8-2A90-7B22DDC6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B0CD02-1D5B-8AFB-5370-D9379B18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984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1BEFB-89DF-C063-3BEA-3925ED3CA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1380B5-13DA-596B-D35B-0231575E63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0DF8D2-D544-FBE3-B369-54027D3B3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F9A360-E2DD-32A0-50F6-109E6397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AA03CF-3A08-A2A9-8998-4792E865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8B528A-5A62-9C0C-C858-1D1365F4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26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F3988-6C15-816E-B799-C42EC378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24BC9B-9BA0-CF97-1555-FA1D135D1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C9360C-2FEA-ECB8-D014-953BCBD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15418-CEE7-B9BE-00C4-13C48DE0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6DD8A-6CF7-F6A6-1BCB-AB43760A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74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74120F-FE99-99B1-1256-A9DA166CB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0D653B-720A-B7FC-E7CE-2BCC2434E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AD103E-EB3E-C7F6-B948-728E2A59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B8CE1D-2929-28D7-F71D-E851218A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AB65F-6BCA-DF05-614A-48D27B71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01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D69971-E56A-03BE-191E-214919C4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0190FC-B5E6-8194-E58F-327AE2BF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469571-A486-F9C7-D71B-E33A58B7C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03FC5-1B79-4811-BD4C-43F1FB98339C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89905-DA71-395F-62C8-D5F5EAC50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B3295-FFE2-2971-4B4A-62A9D22E5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0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26" Type="http://schemas.openxmlformats.org/officeDocument/2006/relationships/image" Target="../media/image32.png"/><Relationship Id="rId3" Type="http://schemas.openxmlformats.org/officeDocument/2006/relationships/image" Target="../media/image9.svg"/><Relationship Id="rId21" Type="http://schemas.openxmlformats.org/officeDocument/2006/relationships/image" Target="../media/image27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svg"/><Relationship Id="rId2" Type="http://schemas.openxmlformats.org/officeDocument/2006/relationships/image" Target="../media/image8.png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29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sv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svg"/><Relationship Id="rId22" Type="http://schemas.openxmlformats.org/officeDocument/2006/relationships/image" Target="../media/image28.svg"/><Relationship Id="rId27" Type="http://schemas.openxmlformats.org/officeDocument/2006/relationships/image" Target="../media/image3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4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12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.svg"/><Relationship Id="rId5" Type="http://schemas.openxmlformats.org/officeDocument/2006/relationships/image" Target="../media/image15.svg"/><Relationship Id="rId10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4FD604AF-7D95-FF82-BFC0-D435CBF09302}"/>
              </a:ext>
            </a:extLst>
          </p:cNvPr>
          <p:cNvSpPr/>
          <p:nvPr/>
        </p:nvSpPr>
        <p:spPr>
          <a:xfrm flipH="1">
            <a:off x="7075055" y="667786"/>
            <a:ext cx="1126836" cy="600574"/>
          </a:xfrm>
          <a:prstGeom prst="snip1Rect">
            <a:avLst>
              <a:gd name="adj" fmla="val 28699"/>
            </a:avLst>
          </a:prstGeom>
          <a:solidFill>
            <a:schemeClr val="accent6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剪去单角 5">
            <a:extLst>
              <a:ext uri="{FF2B5EF4-FFF2-40B4-BE49-F238E27FC236}">
                <a16:creationId xmlns:a16="http://schemas.microsoft.com/office/drawing/2014/main" id="{A2FDBA43-EADA-B3FF-D65E-67C20C011673}"/>
              </a:ext>
            </a:extLst>
          </p:cNvPr>
          <p:cNvSpPr/>
          <p:nvPr/>
        </p:nvSpPr>
        <p:spPr>
          <a:xfrm flipH="1">
            <a:off x="2327564" y="4637606"/>
            <a:ext cx="4461162" cy="1486663"/>
          </a:xfrm>
          <a:prstGeom prst="snip1Rect">
            <a:avLst>
              <a:gd name="adj" fmla="val 28699"/>
            </a:avLst>
          </a:prstGeom>
          <a:solidFill>
            <a:schemeClr val="accent6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4500C027-4830-296D-1134-EACDE2793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9309" y="465439"/>
            <a:ext cx="12192000" cy="6029011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B2AA61B-F183-A778-70AF-ECCD73523864}"/>
              </a:ext>
            </a:extLst>
          </p:cNvPr>
          <p:cNvSpPr/>
          <p:nvPr/>
        </p:nvSpPr>
        <p:spPr>
          <a:xfrm rot="5400000">
            <a:off x="4985328" y="3176294"/>
            <a:ext cx="720436" cy="83127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83C4211-ED22-1B5C-D315-991BDB661EC5}"/>
              </a:ext>
            </a:extLst>
          </p:cNvPr>
          <p:cNvSpPr/>
          <p:nvPr/>
        </p:nvSpPr>
        <p:spPr>
          <a:xfrm rot="5400000">
            <a:off x="7393202" y="1414111"/>
            <a:ext cx="441469" cy="679450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7CC0E2-4524-690C-07A4-68552D01B6FB}"/>
              </a:ext>
            </a:extLst>
          </p:cNvPr>
          <p:cNvSpPr txBox="1"/>
          <p:nvPr/>
        </p:nvSpPr>
        <p:spPr>
          <a:xfrm>
            <a:off x="3112655" y="348449"/>
            <a:ext cx="104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Training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223CCB-CC48-6CBC-2E31-2FB132B35EC7}"/>
              </a:ext>
            </a:extLst>
          </p:cNvPr>
          <p:cNvSpPr txBox="1"/>
          <p:nvPr/>
        </p:nvSpPr>
        <p:spPr>
          <a:xfrm>
            <a:off x="8945418" y="348449"/>
            <a:ext cx="126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Inference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5DAD63-F152-3E90-AB22-D9EAD8343751}"/>
              </a:ext>
            </a:extLst>
          </p:cNvPr>
          <p:cNvSpPr txBox="1"/>
          <p:nvPr/>
        </p:nvSpPr>
        <p:spPr>
          <a:xfrm>
            <a:off x="7274212" y="1626877"/>
            <a:ext cx="7943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>
                <a:latin typeface="Helvetica" panose="020B0604020202020204" pitchFamily="34" charset="0"/>
                <a:cs typeface="Helvetica" panose="020B0604020202020204" pitchFamily="34" charset="0"/>
              </a:rPr>
              <a:t>Denoiser</a:t>
            </a:r>
            <a:endParaRPr lang="zh-CN" altLang="en-US" sz="1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F2B046-0AC5-A26E-950B-ACBDD8C94A6C}"/>
              </a:ext>
            </a:extLst>
          </p:cNvPr>
          <p:cNvSpPr txBox="1"/>
          <p:nvPr/>
        </p:nvSpPr>
        <p:spPr>
          <a:xfrm>
            <a:off x="4929910" y="3429000"/>
            <a:ext cx="1036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Denoiser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4D6EE5-2628-1B93-D265-8F2F59198BBA}"/>
              </a:ext>
            </a:extLst>
          </p:cNvPr>
          <p:cNvSpPr txBox="1"/>
          <p:nvPr/>
        </p:nvSpPr>
        <p:spPr>
          <a:xfrm>
            <a:off x="2401457" y="5735733"/>
            <a:ext cx="55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18CE20-A03B-B359-3896-0AA3FA0C52DA}"/>
              </a:ext>
            </a:extLst>
          </p:cNvPr>
          <p:cNvSpPr txBox="1"/>
          <p:nvPr/>
        </p:nvSpPr>
        <p:spPr>
          <a:xfrm>
            <a:off x="2960257" y="5739678"/>
            <a:ext cx="785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Income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89EFC2-BCEC-73D7-C7EC-1CDF91FA69F2}"/>
              </a:ext>
            </a:extLst>
          </p:cNvPr>
          <p:cNvSpPr txBox="1"/>
          <p:nvPr/>
        </p:nvSpPr>
        <p:spPr>
          <a:xfrm>
            <a:off x="3699164" y="5735734"/>
            <a:ext cx="102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Education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2046245-8018-989B-4372-2721866E4846}"/>
                  </a:ext>
                </a:extLst>
              </p:cNvPr>
              <p:cNvSpPr txBox="1"/>
              <p:nvPr/>
            </p:nvSpPr>
            <p:spPr>
              <a:xfrm>
                <a:off x="4729020" y="5740274"/>
                <a:ext cx="18438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Income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Education</a:t>
                </a:r>
                <a:endParaRPr lang="zh-CN" altLang="en-US" sz="14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2046245-8018-989B-4372-2721866E4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020" y="5740274"/>
                <a:ext cx="1843809" cy="307777"/>
              </a:xfrm>
              <a:prstGeom prst="rect">
                <a:avLst/>
              </a:prstGeom>
              <a:blipFill>
                <a:blip r:embed="rId5"/>
                <a:stretch>
                  <a:fillRect l="-993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D8F97E9-3FE5-9E85-0334-9D8B84768D80}"/>
                  </a:ext>
                </a:extLst>
              </p:cNvPr>
              <p:cNvSpPr txBox="1"/>
              <p:nvPr/>
            </p:nvSpPr>
            <p:spPr>
              <a:xfrm>
                <a:off x="4513119" y="4637606"/>
                <a:ext cx="13104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Age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Income</a:t>
                </a:r>
                <a:endParaRPr lang="zh-CN" altLang="en-US" sz="14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D8F97E9-3FE5-9E85-0334-9D8B84768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119" y="4637606"/>
                <a:ext cx="1310409" cy="307777"/>
              </a:xfrm>
              <a:prstGeom prst="rect">
                <a:avLst/>
              </a:prstGeom>
              <a:blipFill>
                <a:blip r:embed="rId6"/>
                <a:stretch>
                  <a:fillRect l="-1395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D098590-B46C-8C0E-F3CA-3C8CCA71DDB5}"/>
                  </a:ext>
                </a:extLst>
              </p:cNvPr>
              <p:cNvSpPr txBox="1"/>
              <p:nvPr/>
            </p:nvSpPr>
            <p:spPr>
              <a:xfrm>
                <a:off x="8068540" y="2839884"/>
                <a:ext cx="2403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4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D098590-B46C-8C0E-F3CA-3C8CCA71D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540" y="2839884"/>
                <a:ext cx="240322" cy="215444"/>
              </a:xfrm>
              <a:prstGeom prst="rect">
                <a:avLst/>
              </a:prstGeom>
              <a:blipFill>
                <a:blip r:embed="rId7"/>
                <a:stretch>
                  <a:fillRect l="-15385" r="-5128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07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C1CA6-89F6-C650-B2AE-FD8F7D87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B4620BD0-7CC0-45D3-0AF0-4A110CE71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19" y="772817"/>
            <a:ext cx="9966036" cy="4865967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E09F45F-410F-D315-D79D-2384519AC1DE}"/>
              </a:ext>
            </a:extLst>
          </p:cNvPr>
          <p:cNvSpPr/>
          <p:nvPr/>
        </p:nvSpPr>
        <p:spPr>
          <a:xfrm rot="5400000">
            <a:off x="4761346" y="2945257"/>
            <a:ext cx="720436" cy="83127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16A4850B-82F2-A375-4032-CE2E5987575B}"/>
              </a:ext>
            </a:extLst>
          </p:cNvPr>
          <p:cNvSpPr/>
          <p:nvPr/>
        </p:nvSpPr>
        <p:spPr>
          <a:xfrm rot="5400000">
            <a:off x="6994237" y="2945257"/>
            <a:ext cx="720436" cy="83127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ED8D6D-42DF-66BD-2F8A-CAC9ACC38C5F}"/>
              </a:ext>
            </a:extLst>
          </p:cNvPr>
          <p:cNvSpPr txBox="1"/>
          <p:nvPr/>
        </p:nvSpPr>
        <p:spPr>
          <a:xfrm>
            <a:off x="3020291" y="603647"/>
            <a:ext cx="78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Helvetica" panose="020B0604020202020204" pitchFamily="34" charset="0"/>
                <a:cs typeface="Helvetica" panose="020B0604020202020204" pitchFamily="34" charset="0"/>
              </a:rPr>
              <a:t>训练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41B883-9BAE-4CBF-3185-DF78D079EC27}"/>
              </a:ext>
            </a:extLst>
          </p:cNvPr>
          <p:cNvSpPr txBox="1"/>
          <p:nvPr/>
        </p:nvSpPr>
        <p:spPr>
          <a:xfrm>
            <a:off x="8451273" y="671327"/>
            <a:ext cx="72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Helvetica" panose="020B0604020202020204" pitchFamily="34" charset="0"/>
                <a:cs typeface="Helvetica" panose="020B0604020202020204" pitchFamily="34" charset="0"/>
              </a:rPr>
              <a:t>推理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260CE9-1066-FB57-2CEA-DE455CCC91E2}"/>
              </a:ext>
            </a:extLst>
          </p:cNvPr>
          <p:cNvSpPr txBox="1"/>
          <p:nvPr/>
        </p:nvSpPr>
        <p:spPr>
          <a:xfrm>
            <a:off x="7003474" y="3198126"/>
            <a:ext cx="1036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去噪器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A6383A-1E69-38FC-218A-ACBBA751C36E}"/>
              </a:ext>
            </a:extLst>
          </p:cNvPr>
          <p:cNvSpPr txBox="1"/>
          <p:nvPr/>
        </p:nvSpPr>
        <p:spPr>
          <a:xfrm>
            <a:off x="4734791" y="3198127"/>
            <a:ext cx="1036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去噪器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745F81-1B20-B873-F574-333909D5F4D9}"/>
              </a:ext>
            </a:extLst>
          </p:cNvPr>
          <p:cNvSpPr txBox="1"/>
          <p:nvPr/>
        </p:nvSpPr>
        <p:spPr>
          <a:xfrm>
            <a:off x="2411848" y="5415694"/>
            <a:ext cx="55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年龄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5CEEA7-FF47-81EE-A4DA-847850BD5B6D}"/>
              </a:ext>
            </a:extLst>
          </p:cNvPr>
          <p:cNvSpPr txBox="1"/>
          <p:nvPr/>
        </p:nvSpPr>
        <p:spPr>
          <a:xfrm>
            <a:off x="3020291" y="5432497"/>
            <a:ext cx="785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收入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0846C4-0A5E-AEDB-AC1C-3871240E15C2}"/>
              </a:ext>
            </a:extLst>
          </p:cNvPr>
          <p:cNvSpPr txBox="1"/>
          <p:nvPr/>
        </p:nvSpPr>
        <p:spPr>
          <a:xfrm>
            <a:off x="3678378" y="5427956"/>
            <a:ext cx="55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教育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AF17085-748B-3F9A-F128-4D784AF4CF9F}"/>
                  </a:ext>
                </a:extLst>
              </p:cNvPr>
              <p:cNvSpPr txBox="1"/>
              <p:nvPr/>
            </p:nvSpPr>
            <p:spPr>
              <a:xfrm>
                <a:off x="4636656" y="5432497"/>
                <a:ext cx="18438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收入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教育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AF17085-748B-3F9A-F128-4D784AF4C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656" y="5432497"/>
                <a:ext cx="1843809" cy="307777"/>
              </a:xfrm>
              <a:prstGeom prst="rect">
                <a:avLst/>
              </a:prstGeom>
              <a:blipFill>
                <a:blip r:embed="rId5"/>
                <a:stretch>
                  <a:fillRect l="-993"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7D73148-C104-0D00-7182-188CC1C0B17C}"/>
                  </a:ext>
                </a:extLst>
              </p:cNvPr>
              <p:cNvSpPr txBox="1"/>
              <p:nvPr/>
            </p:nvSpPr>
            <p:spPr>
              <a:xfrm>
                <a:off x="4409210" y="4377966"/>
                <a:ext cx="13104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年龄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收入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7D73148-C104-0D00-7182-188CC1C0B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210" y="4377966"/>
                <a:ext cx="1310409" cy="307777"/>
              </a:xfrm>
              <a:prstGeom prst="rect">
                <a:avLst/>
              </a:prstGeom>
              <a:blipFill>
                <a:blip r:embed="rId6"/>
                <a:stretch>
                  <a:fillRect l="-1395"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26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66C2AC7-F3D1-7326-60BA-CDAD9189ED88}"/>
              </a:ext>
            </a:extLst>
          </p:cNvPr>
          <p:cNvSpPr/>
          <p:nvPr/>
        </p:nvSpPr>
        <p:spPr>
          <a:xfrm>
            <a:off x="133576" y="0"/>
            <a:ext cx="2380916" cy="6644081"/>
          </a:xfrm>
          <a:prstGeom prst="roundRect">
            <a:avLst>
              <a:gd name="adj" fmla="val 591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2DC7070D-44FC-D2A5-0383-075E1E1E3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615" y="3876720"/>
            <a:ext cx="1089617" cy="875562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4D746FF3-DF7F-FB0C-15AD-3FBB07767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147" y="918149"/>
            <a:ext cx="1313152" cy="84980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8341FC31-6274-AE67-91CB-D28FD94D8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979" y="2098118"/>
            <a:ext cx="875562" cy="875562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11B051E3-C435-A775-5173-589C13443A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615" y="5620002"/>
            <a:ext cx="1089617" cy="914308"/>
          </a:xfrm>
          <a:prstGeom prst="rect">
            <a:avLst/>
          </a:prstGeom>
        </p:spPr>
      </p:pic>
      <p:sp>
        <p:nvSpPr>
          <p:cNvPr id="15" name="箭头: 下 14">
            <a:extLst>
              <a:ext uri="{FF2B5EF4-FFF2-40B4-BE49-F238E27FC236}">
                <a16:creationId xmlns:a16="http://schemas.microsoft.com/office/drawing/2014/main" id="{709CDBBE-5688-4075-FC7A-7FD545B57A43}"/>
              </a:ext>
            </a:extLst>
          </p:cNvPr>
          <p:cNvSpPr/>
          <p:nvPr/>
        </p:nvSpPr>
        <p:spPr>
          <a:xfrm>
            <a:off x="1072063" y="3085096"/>
            <a:ext cx="324303" cy="685118"/>
          </a:xfrm>
          <a:prstGeom prst="downArrow">
            <a:avLst/>
          </a:prstGeom>
          <a:solidFill>
            <a:srgbClr val="9AC4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35730874-A42D-7E86-D59D-AE2638472FDF}"/>
              </a:ext>
            </a:extLst>
          </p:cNvPr>
          <p:cNvSpPr/>
          <p:nvPr/>
        </p:nvSpPr>
        <p:spPr>
          <a:xfrm>
            <a:off x="1079128" y="4858788"/>
            <a:ext cx="318071" cy="709767"/>
          </a:xfrm>
          <a:prstGeom prst="downArrow">
            <a:avLst/>
          </a:prstGeom>
          <a:solidFill>
            <a:srgbClr val="9AC4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881A0EF-4258-9E91-2932-904C65455F84}"/>
              </a:ext>
            </a:extLst>
          </p:cNvPr>
          <p:cNvSpPr/>
          <p:nvPr/>
        </p:nvSpPr>
        <p:spPr>
          <a:xfrm>
            <a:off x="2892481" y="51096"/>
            <a:ext cx="5106576" cy="6509264"/>
          </a:xfrm>
          <a:prstGeom prst="roundRect">
            <a:avLst>
              <a:gd name="adj" fmla="val 401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9D6D868-683D-30AB-55A1-8F6EDA928D58}"/>
              </a:ext>
            </a:extLst>
          </p:cNvPr>
          <p:cNvSpPr/>
          <p:nvPr/>
        </p:nvSpPr>
        <p:spPr>
          <a:xfrm>
            <a:off x="8346430" y="252553"/>
            <a:ext cx="3723859" cy="65980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36165E2E-346C-8B0D-8FB3-9851A9C0E833}"/>
              </a:ext>
            </a:extLst>
          </p:cNvPr>
          <p:cNvCxnSpPr>
            <a:cxnSpLocks/>
            <a:stCxn id="11" idx="3"/>
            <a:endCxn id="42" idx="1"/>
          </p:cNvCxnSpPr>
          <p:nvPr/>
        </p:nvCxnSpPr>
        <p:spPr>
          <a:xfrm flipV="1">
            <a:off x="1774232" y="1541760"/>
            <a:ext cx="1790590" cy="45353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199055E4-1281-64FD-FCA3-19A8703CFA54}"/>
              </a:ext>
            </a:extLst>
          </p:cNvPr>
          <p:cNvSpPr/>
          <p:nvPr/>
        </p:nvSpPr>
        <p:spPr>
          <a:xfrm>
            <a:off x="684614" y="3247726"/>
            <a:ext cx="1173142" cy="255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B0D0210-E2CA-0BCF-2230-E91F68FEB4CB}"/>
                  </a:ext>
                </a:extLst>
              </p:cNvPr>
              <p:cNvSpPr txBox="1"/>
              <p:nvPr/>
            </p:nvSpPr>
            <p:spPr>
              <a:xfrm>
                <a:off x="684615" y="3226558"/>
                <a:ext cx="11731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B0D0210-E2CA-0BCF-2230-E91F68FEB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15" y="3226558"/>
                <a:ext cx="1173142" cy="276999"/>
              </a:xfrm>
              <a:prstGeom prst="rect">
                <a:avLst/>
              </a:prstGeom>
              <a:blipFill>
                <a:blip r:embed="rId10"/>
                <a:stretch>
                  <a:fillRect l="-6218" t="-2174" r="-6218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矩形 51">
            <a:extLst>
              <a:ext uri="{FF2B5EF4-FFF2-40B4-BE49-F238E27FC236}">
                <a16:creationId xmlns:a16="http://schemas.microsoft.com/office/drawing/2014/main" id="{5CD782DD-FCF1-36BD-EB11-E88770EC5F71}"/>
              </a:ext>
            </a:extLst>
          </p:cNvPr>
          <p:cNvSpPr/>
          <p:nvPr/>
        </p:nvSpPr>
        <p:spPr>
          <a:xfrm>
            <a:off x="642852" y="5051686"/>
            <a:ext cx="1173142" cy="255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Z-score</a:t>
            </a:r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1FBAF014-C0CA-B76F-46EA-814997F43F8E}"/>
                  </a:ext>
                </a:extLst>
              </p:cNvPr>
              <p:cNvSpPr/>
              <p:nvPr/>
            </p:nvSpPr>
            <p:spPr>
              <a:xfrm>
                <a:off x="302069" y="5949240"/>
                <a:ext cx="282292" cy="2967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1FBAF014-C0CA-B76F-46EA-814997F43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69" y="5949240"/>
                <a:ext cx="282292" cy="296718"/>
              </a:xfrm>
              <a:prstGeom prst="rect">
                <a:avLst/>
              </a:prstGeom>
              <a:blipFill>
                <a:blip r:embed="rId11"/>
                <a:stretch>
                  <a:fillRect l="-32609" b="-122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19D044B-F9EB-F554-F400-4DBB70B8BF42}"/>
                  </a:ext>
                </a:extLst>
              </p:cNvPr>
              <p:cNvSpPr/>
              <p:nvPr/>
            </p:nvSpPr>
            <p:spPr>
              <a:xfrm>
                <a:off x="402322" y="2387540"/>
                <a:ext cx="282292" cy="2967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19D044B-F9EB-F554-F400-4DBB70B8B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22" y="2387540"/>
                <a:ext cx="282292" cy="296718"/>
              </a:xfrm>
              <a:prstGeom prst="rect">
                <a:avLst/>
              </a:prstGeom>
              <a:blipFill>
                <a:blip r:embed="rId12"/>
                <a:stretch>
                  <a:fillRect l="-26087" b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D4F5BCD2-C4CE-E3F0-7F27-AB0B6CD5B09D}"/>
              </a:ext>
            </a:extLst>
          </p:cNvPr>
          <p:cNvGrpSpPr/>
          <p:nvPr/>
        </p:nvGrpSpPr>
        <p:grpSpPr>
          <a:xfrm>
            <a:off x="8663730" y="717818"/>
            <a:ext cx="1196103" cy="585641"/>
            <a:chOff x="9911767" y="661477"/>
            <a:chExt cx="1191577" cy="579346"/>
          </a:xfrm>
        </p:grpSpPr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7A4297DA-BF4C-155F-3A92-9597BFFCBFAB}"/>
                </a:ext>
              </a:extLst>
            </p:cNvPr>
            <p:cNvSpPr/>
            <p:nvPr/>
          </p:nvSpPr>
          <p:spPr>
            <a:xfrm rot="5400000">
              <a:off x="10185845" y="387399"/>
              <a:ext cx="579346" cy="1127502"/>
            </a:xfrm>
            <a:custGeom>
              <a:avLst/>
              <a:gdLst>
                <a:gd name="csX0" fmla="*/ 0 w 720436"/>
                <a:gd name="csY0" fmla="*/ 831272 h 831272"/>
                <a:gd name="csX1" fmla="*/ 144087 w 720436"/>
                <a:gd name="csY1" fmla="*/ 415636 h 831272"/>
                <a:gd name="csX2" fmla="*/ 0 w 720436"/>
                <a:gd name="csY2" fmla="*/ 0 h 831272"/>
                <a:gd name="csX3" fmla="*/ 720436 w 720436"/>
                <a:gd name="csY3" fmla="*/ 0 h 831272"/>
                <a:gd name="csX4" fmla="*/ 576349 w 720436"/>
                <a:gd name="csY4" fmla="*/ 415636 h 831272"/>
                <a:gd name="csX5" fmla="*/ 720436 w 720436"/>
                <a:gd name="csY5" fmla="*/ 831272 h 831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0436" h="831272">
                  <a:moveTo>
                    <a:pt x="0" y="831272"/>
                  </a:moveTo>
                  <a:lnTo>
                    <a:pt x="144087" y="415636"/>
                  </a:lnTo>
                  <a:lnTo>
                    <a:pt x="0" y="0"/>
                  </a:lnTo>
                  <a:lnTo>
                    <a:pt x="720436" y="0"/>
                  </a:lnTo>
                  <a:lnTo>
                    <a:pt x="576349" y="415636"/>
                  </a:lnTo>
                  <a:lnTo>
                    <a:pt x="720436" y="831272"/>
                  </a:lnTo>
                  <a:close/>
                </a:path>
              </a:pathLst>
            </a:custGeom>
            <a:solidFill>
              <a:srgbClr val="D9D8C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12D54CC2-B94E-C3CA-E600-7F9514F88A6E}"/>
                </a:ext>
              </a:extLst>
            </p:cNvPr>
            <p:cNvSpPr txBox="1"/>
            <p:nvPr/>
          </p:nvSpPr>
          <p:spPr>
            <a:xfrm>
              <a:off x="9992914" y="795939"/>
              <a:ext cx="1110430" cy="298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Helvetica" panose="020B0604020202020204" pitchFamily="34" charset="0"/>
                  <a:cs typeface="Helvetica" panose="020B0604020202020204" pitchFamily="34" charset="0"/>
                </a:rPr>
                <a:t>Denoiser</a:t>
              </a:r>
              <a:endParaRPr lang="zh-CN" altLang="en-US"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C878E1DD-2955-5C44-311C-2A75C21B8AFB}"/>
              </a:ext>
            </a:extLst>
          </p:cNvPr>
          <p:cNvSpPr txBox="1"/>
          <p:nvPr/>
        </p:nvSpPr>
        <p:spPr>
          <a:xfrm>
            <a:off x="6686705" y="6177072"/>
            <a:ext cx="116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Condition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07CC82DD-C718-FD83-DE65-D26561381B33}"/>
              </a:ext>
            </a:extLst>
          </p:cNvPr>
          <p:cNvCxnSpPr>
            <a:cxnSpLocks/>
            <a:stCxn id="63" idx="3"/>
            <a:endCxn id="82" idx="1"/>
          </p:cNvCxnSpPr>
          <p:nvPr/>
        </p:nvCxnSpPr>
        <p:spPr>
          <a:xfrm flipV="1">
            <a:off x="6436337" y="1004708"/>
            <a:ext cx="2308848" cy="2321303"/>
          </a:xfrm>
          <a:prstGeom prst="bentConnector3">
            <a:avLst>
              <a:gd name="adj1" fmla="val 7640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E35326B-2AB2-8299-84C0-5205D09B7A0A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7306181" y="1013913"/>
            <a:ext cx="1365217" cy="4339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" name="图形 102">
            <a:extLst>
              <a:ext uri="{FF2B5EF4-FFF2-40B4-BE49-F238E27FC236}">
                <a16:creationId xmlns:a16="http://schemas.microsoft.com/office/drawing/2014/main" id="{3A0F952D-2709-0B54-6131-64408BA447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74677" y="685031"/>
            <a:ext cx="1018229" cy="808317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C9EB6E1B-2CBF-5E53-C4E0-C693DDF13A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08624" y="5593728"/>
            <a:ext cx="951209" cy="940582"/>
          </a:xfrm>
          <a:prstGeom prst="rect">
            <a:avLst/>
          </a:prstGeom>
        </p:spPr>
      </p:pic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AD28ED29-0E2B-8ED6-2386-E3C80CDE8876}"/>
              </a:ext>
            </a:extLst>
          </p:cNvPr>
          <p:cNvSpPr/>
          <p:nvPr/>
        </p:nvSpPr>
        <p:spPr>
          <a:xfrm>
            <a:off x="8506561" y="1596301"/>
            <a:ext cx="3429759" cy="13328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6" name="图形 105">
            <a:extLst>
              <a:ext uri="{FF2B5EF4-FFF2-40B4-BE49-F238E27FC236}">
                <a16:creationId xmlns:a16="http://schemas.microsoft.com/office/drawing/2014/main" id="{3E9D91AD-1BFA-42AA-CFCD-611BED35376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63730" y="1820764"/>
            <a:ext cx="941397" cy="934993"/>
          </a:xfrm>
          <a:prstGeom prst="rect">
            <a:avLst/>
          </a:prstGeom>
        </p:spPr>
      </p:pic>
      <p:pic>
        <p:nvPicPr>
          <p:cNvPr id="108" name="图形 107">
            <a:extLst>
              <a:ext uri="{FF2B5EF4-FFF2-40B4-BE49-F238E27FC236}">
                <a16:creationId xmlns:a16="http://schemas.microsoft.com/office/drawing/2014/main" id="{36AF904E-436A-9ECA-8FCC-297F8DEDAEE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57241" y="1774608"/>
            <a:ext cx="1008063" cy="1005346"/>
          </a:xfrm>
          <a:prstGeom prst="rect">
            <a:avLst/>
          </a:prstGeom>
        </p:spPr>
      </p:pic>
      <p:sp>
        <p:nvSpPr>
          <p:cNvPr id="71" name="箭头: 下 70">
            <a:extLst>
              <a:ext uri="{FF2B5EF4-FFF2-40B4-BE49-F238E27FC236}">
                <a16:creationId xmlns:a16="http://schemas.microsoft.com/office/drawing/2014/main" id="{F97A1FFB-3890-D0AD-5CFE-4A23C605B794}"/>
              </a:ext>
            </a:extLst>
          </p:cNvPr>
          <p:cNvSpPr/>
          <p:nvPr/>
        </p:nvSpPr>
        <p:spPr>
          <a:xfrm rot="16200000">
            <a:off x="10013505" y="1862943"/>
            <a:ext cx="401752" cy="1012380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Denoising</a:t>
            </a:r>
            <a:endParaRPr lang="zh-CN" altLang="en-US" sz="140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9F92C20E-65A3-52C5-95B8-8B747F7A078F}"/>
              </a:ext>
            </a:extLst>
          </p:cNvPr>
          <p:cNvGrpSpPr/>
          <p:nvPr/>
        </p:nvGrpSpPr>
        <p:grpSpPr>
          <a:xfrm>
            <a:off x="3564822" y="827544"/>
            <a:ext cx="3757770" cy="5489032"/>
            <a:chOff x="3398433" y="167469"/>
            <a:chExt cx="4114151" cy="6009603"/>
          </a:xfrm>
        </p:grpSpPr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789C5E62-C8C0-B77F-8CE2-9A0CF49BC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398433" y="371513"/>
              <a:ext cx="1163729" cy="1155814"/>
            </a:xfrm>
            <a:prstGeom prst="rect">
              <a:avLst/>
            </a:prstGeom>
          </p:spPr>
        </p:pic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464A0E84-A6AD-0247-9D89-668229D9C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281490" y="167469"/>
              <a:ext cx="1231094" cy="1241498"/>
            </a:xfrm>
            <a:prstGeom prst="rect">
              <a:avLst/>
            </a:prstGeom>
          </p:spPr>
        </p:pic>
        <p:sp>
          <p:nvSpPr>
            <p:cNvPr id="49" name="箭头: 下 48">
              <a:extLst>
                <a:ext uri="{FF2B5EF4-FFF2-40B4-BE49-F238E27FC236}">
                  <a16:creationId xmlns:a16="http://schemas.microsoft.com/office/drawing/2014/main" id="{5C1DB59A-4672-E52A-12B3-6180624B7414}"/>
                </a:ext>
              </a:extLst>
            </p:cNvPr>
            <p:cNvSpPr/>
            <p:nvPr/>
          </p:nvSpPr>
          <p:spPr>
            <a:xfrm rot="16200000">
              <a:off x="5106086" y="384796"/>
              <a:ext cx="656207" cy="1163731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E808C81-8D6E-B048-D5D7-52323A145D99}"/>
                    </a:ext>
                  </a:extLst>
                </p:cNvPr>
                <p:cNvSpPr/>
                <p:nvPr/>
              </p:nvSpPr>
              <p:spPr>
                <a:xfrm>
                  <a:off x="6813289" y="1558542"/>
                  <a:ext cx="282292" cy="29671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>
                    <a:latin typeface="Helvetica" panose="020B0604020202020204" pitchFamily="34" charset="0"/>
                    <a:cs typeface="Helvetica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E808C81-8D6E-B048-D5D7-52323A145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3289" y="1558542"/>
                  <a:ext cx="282292" cy="296718"/>
                </a:xfrm>
                <a:prstGeom prst="rect">
                  <a:avLst/>
                </a:prstGeom>
                <a:blipFill>
                  <a:blip r:embed="rId23"/>
                  <a:stretch>
                    <a:fillRect l="-34884" b="-1555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E59353F7-2FD6-FBE0-45AF-2CF0AF31B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511789" y="4068375"/>
              <a:ext cx="3982827" cy="2108697"/>
            </a:xfrm>
            <a:prstGeom prst="rect">
              <a:avLst/>
            </a:prstGeom>
          </p:spPr>
        </p:pic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B2147AFE-067E-18EA-E85B-AB5A7C0977B1}"/>
                </a:ext>
              </a:extLst>
            </p:cNvPr>
            <p:cNvSpPr/>
            <p:nvPr/>
          </p:nvSpPr>
          <p:spPr>
            <a:xfrm rot="5400000">
              <a:off x="5626845" y="2324611"/>
              <a:ext cx="720436" cy="1163728"/>
            </a:xfrm>
            <a:custGeom>
              <a:avLst/>
              <a:gdLst>
                <a:gd name="csX0" fmla="*/ 0 w 720436"/>
                <a:gd name="csY0" fmla="*/ 831272 h 831272"/>
                <a:gd name="csX1" fmla="*/ 144087 w 720436"/>
                <a:gd name="csY1" fmla="*/ 415636 h 831272"/>
                <a:gd name="csX2" fmla="*/ 0 w 720436"/>
                <a:gd name="csY2" fmla="*/ 0 h 831272"/>
                <a:gd name="csX3" fmla="*/ 720436 w 720436"/>
                <a:gd name="csY3" fmla="*/ 0 h 831272"/>
                <a:gd name="csX4" fmla="*/ 576349 w 720436"/>
                <a:gd name="csY4" fmla="*/ 415636 h 831272"/>
                <a:gd name="csX5" fmla="*/ 720436 w 720436"/>
                <a:gd name="csY5" fmla="*/ 831272 h 831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0436" h="831272">
                  <a:moveTo>
                    <a:pt x="0" y="831272"/>
                  </a:moveTo>
                  <a:lnTo>
                    <a:pt x="144087" y="415636"/>
                  </a:lnTo>
                  <a:lnTo>
                    <a:pt x="0" y="0"/>
                  </a:lnTo>
                  <a:lnTo>
                    <a:pt x="720436" y="0"/>
                  </a:lnTo>
                  <a:lnTo>
                    <a:pt x="576349" y="415636"/>
                  </a:lnTo>
                  <a:lnTo>
                    <a:pt x="720436" y="831272"/>
                  </a:lnTo>
                  <a:close/>
                </a:path>
              </a:pathLst>
            </a:custGeom>
            <a:solidFill>
              <a:srgbClr val="D9D8C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A1DA8E0A-74C1-605E-BA4D-B4DC3FBC39F1}"/>
                </a:ext>
              </a:extLst>
            </p:cNvPr>
            <p:cNvSpPr txBox="1"/>
            <p:nvPr/>
          </p:nvSpPr>
          <p:spPr>
            <a:xfrm>
              <a:off x="5431848" y="2733609"/>
              <a:ext cx="11104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Denoiser</a:t>
              </a:r>
              <a:endParaRPr lang="zh-CN" altLang="en-US"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8" name="箭头: 下 67">
              <a:extLst>
                <a:ext uri="{FF2B5EF4-FFF2-40B4-BE49-F238E27FC236}">
                  <a16:creationId xmlns:a16="http://schemas.microsoft.com/office/drawing/2014/main" id="{596F8DBE-FE56-9FCE-12EC-D6F8EFFA25F4}"/>
                </a:ext>
              </a:extLst>
            </p:cNvPr>
            <p:cNvSpPr/>
            <p:nvPr/>
          </p:nvSpPr>
          <p:spPr>
            <a:xfrm rot="1699731">
              <a:off x="6485901" y="1935961"/>
              <a:ext cx="327015" cy="469325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箭头: 下 68">
              <a:extLst>
                <a:ext uri="{FF2B5EF4-FFF2-40B4-BE49-F238E27FC236}">
                  <a16:creationId xmlns:a16="http://schemas.microsoft.com/office/drawing/2014/main" id="{1D00F119-687F-3ABC-0CDF-260A86EC4532}"/>
                </a:ext>
              </a:extLst>
            </p:cNvPr>
            <p:cNvSpPr/>
            <p:nvPr/>
          </p:nvSpPr>
          <p:spPr>
            <a:xfrm rot="19545704" flipV="1">
              <a:off x="6742005" y="3318692"/>
              <a:ext cx="322640" cy="610206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EC71C288-FAFC-0393-6859-2F35E4EDCEDE}"/>
                </a:ext>
              </a:extLst>
            </p:cNvPr>
            <p:cNvSpPr/>
            <p:nvPr/>
          </p:nvSpPr>
          <p:spPr>
            <a:xfrm>
              <a:off x="3553205" y="2556385"/>
              <a:ext cx="717987" cy="717987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ysClr val="windowText" lastClr="00000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</a:t>
              </a:r>
              <a:endParaRPr lang="zh-CN" altLang="en-US" dirty="0">
                <a:solidFill>
                  <a:sysClr val="windowText" lastClr="00000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D5911E8B-8023-5B4A-2F80-03391BD5A467}"/>
                </a:ext>
              </a:extLst>
            </p:cNvPr>
            <p:cNvSpPr txBox="1"/>
            <p:nvPr/>
          </p:nvSpPr>
          <p:spPr>
            <a:xfrm>
              <a:off x="4897759" y="803972"/>
              <a:ext cx="1089304" cy="370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Helvetica" panose="020B0604020202020204" pitchFamily="34" charset="0"/>
                  <a:cs typeface="Helvetica" panose="020B0604020202020204" pitchFamily="34" charset="0"/>
                </a:rPr>
                <a:t>Noising</a:t>
              </a:r>
              <a:endParaRPr lang="zh-CN" altLang="en-US"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18" name="箭头: 下 117">
              <a:extLst>
                <a:ext uri="{FF2B5EF4-FFF2-40B4-BE49-F238E27FC236}">
                  <a16:creationId xmlns:a16="http://schemas.microsoft.com/office/drawing/2014/main" id="{87D51097-5844-24FC-1BCC-E70BE9B92DBF}"/>
                </a:ext>
              </a:extLst>
            </p:cNvPr>
            <p:cNvSpPr/>
            <p:nvPr/>
          </p:nvSpPr>
          <p:spPr>
            <a:xfrm rot="16200000">
              <a:off x="4644423" y="2654039"/>
              <a:ext cx="416247" cy="575389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FF861D6E-A43E-AFC5-42EE-8B69A26A738C}"/>
              </a:ext>
            </a:extLst>
          </p:cNvPr>
          <p:cNvSpPr/>
          <p:nvPr/>
        </p:nvSpPr>
        <p:spPr>
          <a:xfrm>
            <a:off x="9260766" y="3084208"/>
            <a:ext cx="279702" cy="364970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66433F89-85BC-6A4E-E729-AAF33EAC9FC4}"/>
              </a:ext>
            </a:extLst>
          </p:cNvPr>
          <p:cNvSpPr/>
          <p:nvPr/>
        </p:nvSpPr>
        <p:spPr>
          <a:xfrm>
            <a:off x="9244531" y="4986404"/>
            <a:ext cx="326392" cy="590702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1E3F29D-E0C4-7377-1B95-D88A87521A0B}"/>
              </a:ext>
            </a:extLst>
          </p:cNvPr>
          <p:cNvSpPr/>
          <p:nvPr/>
        </p:nvSpPr>
        <p:spPr>
          <a:xfrm>
            <a:off x="9765868" y="3004030"/>
            <a:ext cx="2170452" cy="500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Inverse z-score &amp; </a:t>
            </a:r>
          </a:p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Softmax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68DBDB0-0290-6041-BE1A-88FE9769E52A}"/>
              </a:ext>
            </a:extLst>
          </p:cNvPr>
          <p:cNvSpPr/>
          <p:nvPr/>
        </p:nvSpPr>
        <p:spPr>
          <a:xfrm>
            <a:off x="8845112" y="5097198"/>
            <a:ext cx="1173142" cy="255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2" name="箭头: 下 131">
            <a:extLst>
              <a:ext uri="{FF2B5EF4-FFF2-40B4-BE49-F238E27FC236}">
                <a16:creationId xmlns:a16="http://schemas.microsoft.com/office/drawing/2014/main" id="{B93EDA4D-DB9F-943E-FD86-C8F0C68399B3}"/>
              </a:ext>
            </a:extLst>
          </p:cNvPr>
          <p:cNvSpPr/>
          <p:nvPr/>
        </p:nvSpPr>
        <p:spPr>
          <a:xfrm rot="5400000" flipH="1">
            <a:off x="10132889" y="680125"/>
            <a:ext cx="317106" cy="715644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箭头: 下 132">
            <a:extLst>
              <a:ext uri="{FF2B5EF4-FFF2-40B4-BE49-F238E27FC236}">
                <a16:creationId xmlns:a16="http://schemas.microsoft.com/office/drawing/2014/main" id="{CEFCA537-F61E-B50C-C95A-6D5B971756A5}"/>
              </a:ext>
            </a:extLst>
          </p:cNvPr>
          <p:cNvSpPr/>
          <p:nvPr/>
        </p:nvSpPr>
        <p:spPr>
          <a:xfrm flipH="1">
            <a:off x="8989911" y="1278570"/>
            <a:ext cx="341135" cy="464657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4AF9566-846A-5817-E32F-5439584CB364}"/>
              </a:ext>
            </a:extLst>
          </p:cNvPr>
          <p:cNvSpPr/>
          <p:nvPr/>
        </p:nvSpPr>
        <p:spPr>
          <a:xfrm>
            <a:off x="8682869" y="3572060"/>
            <a:ext cx="3253451" cy="13328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0" name="图形 109">
            <a:extLst>
              <a:ext uri="{FF2B5EF4-FFF2-40B4-BE49-F238E27FC236}">
                <a16:creationId xmlns:a16="http://schemas.microsoft.com/office/drawing/2014/main" id="{4EFFBDD2-3D3E-BCBF-C459-BA08011A63D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72108" y="3764364"/>
            <a:ext cx="1008064" cy="861968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69A1E280-56DD-2298-0B22-133AF7F61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94678" y="3702372"/>
            <a:ext cx="1008063" cy="1008063"/>
          </a:xfrm>
          <a:prstGeom prst="rect">
            <a:avLst/>
          </a:prstGeom>
        </p:spPr>
      </p:pic>
      <p:sp>
        <p:nvSpPr>
          <p:cNvPr id="134" name="箭头: 下 133">
            <a:extLst>
              <a:ext uri="{FF2B5EF4-FFF2-40B4-BE49-F238E27FC236}">
                <a16:creationId xmlns:a16="http://schemas.microsoft.com/office/drawing/2014/main" id="{6DC3A741-847B-7946-AC57-D862325877A2}"/>
              </a:ext>
            </a:extLst>
          </p:cNvPr>
          <p:cNvSpPr/>
          <p:nvPr/>
        </p:nvSpPr>
        <p:spPr>
          <a:xfrm rot="16200000">
            <a:off x="10212096" y="4007764"/>
            <a:ext cx="366833" cy="531174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/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40D3350E-EF5B-C223-8FBB-3D8A38BAC988}"/>
              </a:ext>
            </a:extLst>
          </p:cNvPr>
          <p:cNvSpPr/>
          <p:nvPr/>
        </p:nvSpPr>
        <p:spPr>
          <a:xfrm>
            <a:off x="3843394" y="115623"/>
            <a:ext cx="2457626" cy="51263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Step2: Conditional Diffusion</a:t>
            </a:r>
            <a:endParaRPr lang="zh-CN" alt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CA75200A-DDDE-A5D8-CF3C-E1303503E2AF}"/>
              </a:ext>
            </a:extLst>
          </p:cNvPr>
          <p:cNvSpPr/>
          <p:nvPr/>
        </p:nvSpPr>
        <p:spPr>
          <a:xfrm>
            <a:off x="173531" y="93991"/>
            <a:ext cx="2311646" cy="719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Step1: Demographic Characteristic Extraction</a:t>
            </a:r>
            <a:endParaRPr lang="zh-CN" altLang="en-US" sz="1400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4D65FE7A-AF92-5639-84E1-1EED51B45712}"/>
              </a:ext>
            </a:extLst>
          </p:cNvPr>
          <p:cNvSpPr/>
          <p:nvPr/>
        </p:nvSpPr>
        <p:spPr>
          <a:xfrm>
            <a:off x="9540468" y="108998"/>
            <a:ext cx="1408248" cy="5192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Generative Inference</a:t>
            </a:r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22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2">
            <a:extLst>
              <a:ext uri="{FF2B5EF4-FFF2-40B4-BE49-F238E27FC236}">
                <a16:creationId xmlns:a16="http://schemas.microsoft.com/office/drawing/2014/main" id="{7C4F6B04-3EDC-033B-4897-83F038A40265}"/>
              </a:ext>
            </a:extLst>
          </p:cNvPr>
          <p:cNvSpPr/>
          <p:nvPr/>
        </p:nvSpPr>
        <p:spPr>
          <a:xfrm>
            <a:off x="1797269" y="63974"/>
            <a:ext cx="8355478" cy="2006564"/>
          </a:xfrm>
          <a:prstGeom prst="roundRect">
            <a:avLst>
              <a:gd name="adj" fmla="val 5916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22D91374-3D44-C842-A3BA-E975C08BE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1899" y="1082530"/>
            <a:ext cx="1180012" cy="875561"/>
          </a:xfrm>
          <a:prstGeom prst="rect">
            <a:avLst/>
          </a:prstGeom>
        </p:spPr>
      </p:pic>
      <p:pic>
        <p:nvPicPr>
          <p:cNvPr id="3" name="图形 2">
            <a:extLst>
              <a:ext uri="{FF2B5EF4-FFF2-40B4-BE49-F238E27FC236}">
                <a16:creationId xmlns:a16="http://schemas.microsoft.com/office/drawing/2014/main" id="{4DF365E7-0652-71C5-E1C1-3C90D0A9A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6365" y="950616"/>
            <a:ext cx="1089617" cy="875563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6212BAC4-AD2B-DC6D-9D5E-1DE13FF66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6877" y="950618"/>
            <a:ext cx="875562" cy="8755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73B56AA-7E9B-02A3-D96B-856714BA6BEC}"/>
                  </a:ext>
                </a:extLst>
              </p:cNvPr>
              <p:cNvSpPr/>
              <p:nvPr/>
            </p:nvSpPr>
            <p:spPr>
              <a:xfrm>
                <a:off x="3907443" y="1226362"/>
                <a:ext cx="282292" cy="2967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4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73B56AA-7E9B-02A3-D96B-856714BA6B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43" y="1226362"/>
                <a:ext cx="282292" cy="296718"/>
              </a:xfrm>
              <a:prstGeom prst="rect">
                <a:avLst/>
              </a:prstGeom>
              <a:blipFill>
                <a:blip r:embed="rId8"/>
                <a:stretch>
                  <a:fillRect l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144">
            <a:extLst>
              <a:ext uri="{FF2B5EF4-FFF2-40B4-BE49-F238E27FC236}">
                <a16:creationId xmlns:a16="http://schemas.microsoft.com/office/drawing/2014/main" id="{9BB67ED5-A12C-FBE9-F168-38889B4FA27F}"/>
              </a:ext>
            </a:extLst>
          </p:cNvPr>
          <p:cNvSpPr/>
          <p:nvPr/>
        </p:nvSpPr>
        <p:spPr>
          <a:xfrm>
            <a:off x="4009930" y="133980"/>
            <a:ext cx="4172140" cy="4102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Step1: Demographic Characteristic Extraction</a:t>
            </a:r>
            <a:endParaRPr lang="zh-CN" altLang="en-US" sz="1400" b="1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D35212-D7BB-689E-88ED-328CB33D6010}"/>
              </a:ext>
            </a:extLst>
          </p:cNvPr>
          <p:cNvSpPr txBox="1"/>
          <p:nvPr/>
        </p:nvSpPr>
        <p:spPr>
          <a:xfrm>
            <a:off x="2039253" y="659989"/>
            <a:ext cx="1138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Helvetica" pitchFamily="2" charset="0"/>
              </a:rPr>
              <a:t>PUMS Data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3DCD28C-0F42-A839-B77D-EA8E732D4610}"/>
                  </a:ext>
                </a:extLst>
              </p:cNvPr>
              <p:cNvSpPr/>
              <p:nvPr/>
            </p:nvSpPr>
            <p:spPr>
              <a:xfrm>
                <a:off x="5196138" y="1120136"/>
                <a:ext cx="936510" cy="2280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3DCD28C-0F42-A839-B77D-EA8E732D4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138" y="1120136"/>
                <a:ext cx="936510" cy="228020"/>
              </a:xfrm>
              <a:prstGeom prst="rect">
                <a:avLst/>
              </a:prstGeom>
              <a:blipFill>
                <a:blip r:embed="rId9"/>
                <a:stretch>
                  <a:fillRect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9F346EE-5D34-210C-48D5-86A808E550D9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5082439" y="1388398"/>
            <a:ext cx="11939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5037746B-5155-F22F-8C1C-9C471AA4092D}"/>
              </a:ext>
            </a:extLst>
          </p:cNvPr>
          <p:cNvCxnSpPr>
            <a:cxnSpLocks/>
          </p:cNvCxnSpPr>
          <p:nvPr/>
        </p:nvCxnSpPr>
        <p:spPr>
          <a:xfrm flipV="1">
            <a:off x="7378640" y="1348156"/>
            <a:ext cx="1338437" cy="15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BE07D39-FAE8-1202-73B8-E95224D05B98}"/>
              </a:ext>
            </a:extLst>
          </p:cNvPr>
          <p:cNvSpPr/>
          <p:nvPr/>
        </p:nvSpPr>
        <p:spPr>
          <a:xfrm>
            <a:off x="7554603" y="870611"/>
            <a:ext cx="1138406" cy="4612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z-score</a:t>
            </a:r>
          </a:p>
          <a:p>
            <a:pPr algn="ctr"/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Normalization</a:t>
            </a:r>
            <a:endParaRPr lang="zh-CN" altLang="en-US" sz="1200" dirty="0">
              <a:latin typeface="Helvetica" pitchFamily="2" charset="0"/>
              <a:cs typeface="Helvetica" panose="020B0604020202020204" pitchFamily="34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861A05F-ADD5-1B4F-54A9-A13D7F820635}"/>
              </a:ext>
            </a:extLst>
          </p:cNvPr>
          <p:cNvCxnSpPr>
            <a:cxnSpLocks/>
          </p:cNvCxnSpPr>
          <p:nvPr/>
        </p:nvCxnSpPr>
        <p:spPr>
          <a:xfrm flipV="1">
            <a:off x="3052431" y="1519150"/>
            <a:ext cx="11939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图形 14">
            <a:extLst>
              <a:ext uri="{FF2B5EF4-FFF2-40B4-BE49-F238E27FC236}">
                <a16:creationId xmlns:a16="http://schemas.microsoft.com/office/drawing/2014/main" id="{89DEB42A-D4D1-56B5-EA41-C60DEB3B11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57393" y="910375"/>
            <a:ext cx="1089617" cy="875562"/>
          </a:xfrm>
          <a:prstGeom prst="rect">
            <a:avLst/>
          </a:prstGeom>
        </p:spPr>
      </p:pic>
      <p:sp>
        <p:nvSpPr>
          <p:cNvPr id="16" name="任意多边形: 形状 61">
            <a:extLst>
              <a:ext uri="{FF2B5EF4-FFF2-40B4-BE49-F238E27FC236}">
                <a16:creationId xmlns:a16="http://schemas.microsoft.com/office/drawing/2014/main" id="{75F370BC-2CF1-B18A-3DC2-FCFE78B0D528}"/>
              </a:ext>
            </a:extLst>
          </p:cNvPr>
          <p:cNvSpPr/>
          <p:nvPr/>
        </p:nvSpPr>
        <p:spPr>
          <a:xfrm rot="5400000">
            <a:off x="5548435" y="3485560"/>
            <a:ext cx="658030" cy="106292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矩形: 圆角 24">
            <a:extLst>
              <a:ext uri="{FF2B5EF4-FFF2-40B4-BE49-F238E27FC236}">
                <a16:creationId xmlns:a16="http://schemas.microsoft.com/office/drawing/2014/main" id="{D3F2D574-C772-54C8-5FEC-DA4EF14D15E3}"/>
              </a:ext>
            </a:extLst>
          </p:cNvPr>
          <p:cNvSpPr/>
          <p:nvPr/>
        </p:nvSpPr>
        <p:spPr>
          <a:xfrm>
            <a:off x="1860331" y="2263960"/>
            <a:ext cx="3222108" cy="41515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43A1B9-AAE9-5D7E-0341-967E175EACC6}"/>
              </a:ext>
            </a:extLst>
          </p:cNvPr>
          <p:cNvSpPr/>
          <p:nvPr/>
        </p:nvSpPr>
        <p:spPr>
          <a:xfrm>
            <a:off x="6748913" y="2270252"/>
            <a:ext cx="3582756" cy="4151569"/>
          </a:xfrm>
          <a:prstGeom prst="roundRect">
            <a:avLst>
              <a:gd name="adj" fmla="val 401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D9239643-08F2-8F41-15F4-FA4C5853B6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48838" y="2389092"/>
            <a:ext cx="1062923" cy="105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0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81</Words>
  <Application>Microsoft Macintosh PowerPoint</Application>
  <PresentationFormat>宽屏</PresentationFormat>
  <Paragraphs>44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Helvetica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13</cp:revision>
  <dcterms:created xsi:type="dcterms:W3CDTF">2026-03-06T15:28:38Z</dcterms:created>
  <dcterms:modified xsi:type="dcterms:W3CDTF">2026-03-13T15:29:51Z</dcterms:modified>
</cp:coreProperties>
</file>